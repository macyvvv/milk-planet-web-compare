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2d994a1b3d442e" /><Relationship Type="http://schemas.openxmlformats.org/officeDocument/2006/relationships/extended-properties" Target="/docProps/app.xml" Id="Rc125954d0cef4d92" /><Relationship Type="http://schemas.openxmlformats.org/officeDocument/2006/relationships/officeDocument" Target="/ppt/presentation.xml" Id="Rdc6cb7b3af1f45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c83e3579654ac9"/>
  </p:sldMasterIdLst>
  <p:notesMasterIdLst>
    <p:notesMasterId xmlns:r="http://schemas.openxmlformats.org/officeDocument/2006/relationships" r:id="R010b66a91899467a"/>
  </p:notesMasterIdLst>
  <p:sldIdLst>
    <p:sldId xmlns:r="http://schemas.openxmlformats.org/officeDocument/2006/relationships" id="256" r:id="R4f3cbb018648430a"/>
    <p:sldId xmlns:r="http://schemas.openxmlformats.org/officeDocument/2006/relationships" id="257" r:id="R3dc7a35abf3f4294"/>
    <p:sldId xmlns:r="http://schemas.openxmlformats.org/officeDocument/2006/relationships" id="258" r:id="R3b34c132766c4fd2"/>
    <p:sldId xmlns:r="http://schemas.openxmlformats.org/officeDocument/2006/relationships" id="259" r:id="R565ae4c851e64426"/>
    <p:sldId xmlns:r="http://schemas.openxmlformats.org/officeDocument/2006/relationships" id="260" r:id="R978509b6a7c2469d"/>
    <p:sldId xmlns:r="http://schemas.openxmlformats.org/officeDocument/2006/relationships" id="261" r:id="R9cd9e4091f9f43ca"/>
    <p:sldId xmlns:r="http://schemas.openxmlformats.org/officeDocument/2006/relationships" id="262" r:id="R5ed542e46a6a451c"/>
    <p:sldId xmlns:r="http://schemas.openxmlformats.org/officeDocument/2006/relationships" id="263" r:id="R802961d6f0224e64"/>
    <p:sldId xmlns:r="http://schemas.openxmlformats.org/officeDocument/2006/relationships" id="264" r:id="R09a60a3c19c54e9c"/>
    <p:sldId xmlns:r="http://schemas.openxmlformats.org/officeDocument/2006/relationships" id="265" r:id="R549f302cca8b45ee"/>
    <p:sldId xmlns:r="http://schemas.openxmlformats.org/officeDocument/2006/relationships" id="266" r:id="R18294908dd3d49dc"/>
    <p:sldId xmlns:r="http://schemas.openxmlformats.org/officeDocument/2006/relationships" id="267" r:id="R471088d197914644"/>
    <p:sldId xmlns:r="http://schemas.openxmlformats.org/officeDocument/2006/relationships" id="268" r:id="R77a19f24b0f34713"/>
    <p:sldId xmlns:r="http://schemas.openxmlformats.org/officeDocument/2006/relationships" id="269" r:id="R6632f230238043cb"/>
    <p:sldId xmlns:r="http://schemas.openxmlformats.org/officeDocument/2006/relationships" id="270" r:id="R6340b9bca21c4f8d"/>
    <p:sldId xmlns:r="http://schemas.openxmlformats.org/officeDocument/2006/relationships" id="271" r:id="R82b5857ba87d4f1e"/>
    <p:sldId xmlns:r="http://schemas.openxmlformats.org/officeDocument/2006/relationships" id="272" r:id="Rb7afd7cf403748c3"/>
    <p:sldId xmlns:r="http://schemas.openxmlformats.org/officeDocument/2006/relationships" id="273" r:id="R62a954ef71184505"/>
    <p:sldId xmlns:r="http://schemas.openxmlformats.org/officeDocument/2006/relationships" id="274" r:id="R47f2debcef374dde"/>
    <p:sldId xmlns:r="http://schemas.openxmlformats.org/officeDocument/2006/relationships" id="275" r:id="R791d8686c02f4833"/>
    <p:sldId xmlns:r="http://schemas.openxmlformats.org/officeDocument/2006/relationships" id="276" r:id="R15d95f67d92a4e4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04fc13262944f3" /><Relationship Type="http://schemas.openxmlformats.org/officeDocument/2006/relationships/slideMaster" Target="/ppt/slideMasters/slideMaster1.xml" Id="R51c83e3579654ac9" /><Relationship Type="http://schemas.openxmlformats.org/officeDocument/2006/relationships/notesMaster" Target="/ppt/notesMasters/notesMaster1.xml" Id="R010b66a91899467a" /><Relationship Type="http://schemas.openxmlformats.org/officeDocument/2006/relationships/presProps" Target="/ppt/presProps.xml" Id="Rc81684f0d3334e02" /><Relationship Type="http://schemas.openxmlformats.org/officeDocument/2006/relationships/viewProps" Target="/ppt/viewProps.xml" Id="Rddfe407f9737446f" /><Relationship Type="http://schemas.openxmlformats.org/officeDocument/2006/relationships/tableStyles" Target="/ppt/tableStyles.xml" Id="R03937f84cc0d4025" /><Relationship Type="http://schemas.openxmlformats.org/officeDocument/2006/relationships/slide" Target="/ppt/slides/slide1.xml" Id="R4f3cbb018648430a" /><Relationship Type="http://schemas.openxmlformats.org/officeDocument/2006/relationships/slide" Target="/ppt/slides/slide2.xml" Id="R3dc7a35abf3f4294" /><Relationship Type="http://schemas.openxmlformats.org/officeDocument/2006/relationships/slide" Target="/ppt/slides/slide3.xml" Id="R3b34c132766c4fd2" /><Relationship Type="http://schemas.openxmlformats.org/officeDocument/2006/relationships/slide" Target="/ppt/slides/slide4.xml" Id="R565ae4c851e64426" /><Relationship Type="http://schemas.openxmlformats.org/officeDocument/2006/relationships/slide" Target="/ppt/slides/slide5.xml" Id="R978509b6a7c2469d" /><Relationship Type="http://schemas.openxmlformats.org/officeDocument/2006/relationships/slide" Target="/ppt/slides/slide6.xml" Id="R9cd9e4091f9f43ca" /><Relationship Type="http://schemas.openxmlformats.org/officeDocument/2006/relationships/slide" Target="/ppt/slides/slide7.xml" Id="R5ed542e46a6a451c" /><Relationship Type="http://schemas.openxmlformats.org/officeDocument/2006/relationships/slide" Target="/ppt/slides/slide8.xml" Id="R802961d6f0224e64" /><Relationship Type="http://schemas.openxmlformats.org/officeDocument/2006/relationships/slide" Target="/ppt/slides/slide9.xml" Id="R09a60a3c19c54e9c" /><Relationship Type="http://schemas.openxmlformats.org/officeDocument/2006/relationships/slide" Target="/ppt/slides/slide10.xml" Id="R549f302cca8b45ee" /><Relationship Type="http://schemas.openxmlformats.org/officeDocument/2006/relationships/slide" Target="/ppt/slides/slide11.xml" Id="R18294908dd3d49dc" /><Relationship Type="http://schemas.openxmlformats.org/officeDocument/2006/relationships/slide" Target="/ppt/slides/slide12.xml" Id="R471088d197914644" /><Relationship Type="http://schemas.openxmlformats.org/officeDocument/2006/relationships/slide" Target="/ppt/slides/slide13.xml" Id="R77a19f24b0f34713" /><Relationship Type="http://schemas.openxmlformats.org/officeDocument/2006/relationships/slide" Target="/ppt/slides/slide14.xml" Id="R6632f230238043cb" /><Relationship Type="http://schemas.openxmlformats.org/officeDocument/2006/relationships/slide" Target="/ppt/slides/slide15.xml" Id="R6340b9bca21c4f8d" /><Relationship Type="http://schemas.openxmlformats.org/officeDocument/2006/relationships/slide" Target="/ppt/slides/slide16.xml" Id="R82b5857ba87d4f1e" /><Relationship Type="http://schemas.openxmlformats.org/officeDocument/2006/relationships/slide" Target="/ppt/slides/slide17.xml" Id="Rb7afd7cf403748c3" /><Relationship Type="http://schemas.openxmlformats.org/officeDocument/2006/relationships/slide" Target="/ppt/slides/slide18.xml" Id="R62a954ef71184505" /><Relationship Type="http://schemas.openxmlformats.org/officeDocument/2006/relationships/slide" Target="/ppt/slides/slide19.xml" Id="R47f2debcef374dde" /><Relationship Type="http://schemas.openxmlformats.org/officeDocument/2006/relationships/slide" Target="/ppt/slides/slide20.xml" Id="R791d8686c02f4833" /><Relationship Type="http://schemas.openxmlformats.org/officeDocument/2006/relationships/slide" Target="/ppt/slides/slide21.xml" Id="R15d95f67d92a4e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6a9d8cb36f46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31900ad9594fdf" /><Relationship Type="http://schemas.openxmlformats.org/officeDocument/2006/relationships/notesMaster" Target="/ppt/notesMasters/notesMaster1.xml" Id="Ra688f0d245ba4b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f9cbfa5e7f4c4c" /><Relationship Type="http://schemas.openxmlformats.org/officeDocument/2006/relationships/notesMaster" Target="/ppt/notesMasters/notesMaster1.xml" Id="Rfb319bede45245c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d1e684940142c3" /><Relationship Type="http://schemas.openxmlformats.org/officeDocument/2006/relationships/notesMaster" Target="/ppt/notesMasters/notesMaster1.xml" Id="R52d1c72428f944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ebcad9d7e32409f" /><Relationship Type="http://schemas.openxmlformats.org/officeDocument/2006/relationships/notesMaster" Target="/ppt/notesMasters/notesMaster1.xml" Id="R86f557e233a045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30b3cd1469436f" /><Relationship Type="http://schemas.openxmlformats.org/officeDocument/2006/relationships/notesMaster" Target="/ppt/notesMasters/notesMaster1.xml" Id="R8227aa39722e4b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e08bf901bae41f0" /><Relationship Type="http://schemas.openxmlformats.org/officeDocument/2006/relationships/notesMaster" Target="/ppt/notesMasters/notesMaster1.xml" Id="Rfc9e67c7df814fd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8ac440539724e1e" /><Relationship Type="http://schemas.openxmlformats.org/officeDocument/2006/relationships/notesMaster" Target="/ppt/notesMasters/notesMaster1.xml" Id="Rfd681d9da6564d0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f6e4d3e8c244129" /><Relationship Type="http://schemas.openxmlformats.org/officeDocument/2006/relationships/notesMaster" Target="/ppt/notesMasters/notesMaster1.xml" Id="R3dc0516dbd9441a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f100d36f876473c" /><Relationship Type="http://schemas.openxmlformats.org/officeDocument/2006/relationships/notesMaster" Target="/ppt/notesMasters/notesMaster1.xml" Id="Rab8f870c087d495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b718da580c94a53" /><Relationship Type="http://schemas.openxmlformats.org/officeDocument/2006/relationships/notesMaster" Target="/ppt/notesMasters/notesMaster1.xml" Id="Rce6ebc4d27e7433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a07c1ccf0a34d2c" /><Relationship Type="http://schemas.openxmlformats.org/officeDocument/2006/relationships/notesMaster" Target="/ppt/notesMasters/notesMaster1.xml" Id="R09715e6dcbb9427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0a765eb3f364a01" /><Relationship Type="http://schemas.openxmlformats.org/officeDocument/2006/relationships/notesMaster" Target="/ppt/notesMasters/notesMaster1.xml" Id="R13ad2abca10c4c8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c0df0eaa5334a67" /><Relationship Type="http://schemas.openxmlformats.org/officeDocument/2006/relationships/notesMaster" Target="/ppt/notesMasters/notesMaster1.xml" Id="R6b7853ef52f648c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0c618e0c7bf4f95" /><Relationship Type="http://schemas.openxmlformats.org/officeDocument/2006/relationships/notesMaster" Target="/ppt/notesMasters/notesMaster1.xml" Id="Rbc812d7f765a4ae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5ff0eb8ba63469f" /><Relationship Type="http://schemas.openxmlformats.org/officeDocument/2006/relationships/notesMaster" Target="/ppt/notesMasters/notesMaster1.xml" Id="Rb809afdbec364b5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474a6f5701246a3" /><Relationship Type="http://schemas.openxmlformats.org/officeDocument/2006/relationships/notesMaster" Target="/ppt/notesMasters/notesMaster1.xml" Id="R1f54303b4d7440d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06b23e3a0a64472" /><Relationship Type="http://schemas.openxmlformats.org/officeDocument/2006/relationships/notesMaster" Target="/ppt/notesMasters/notesMaster1.xml" Id="R02dba8d411e7499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bbc59b413b54083" /><Relationship Type="http://schemas.openxmlformats.org/officeDocument/2006/relationships/notesMaster" Target="/ppt/notesMasters/notesMaster1.xml" Id="Rcb78e1345e044d1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01a97f77e4545f1" /><Relationship Type="http://schemas.openxmlformats.org/officeDocument/2006/relationships/notesMaster" Target="/ppt/notesMasters/notesMaster1.xml" Id="R7b05ff129cf9426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a07181a8d55412e" /><Relationship Type="http://schemas.openxmlformats.org/officeDocument/2006/relationships/notesMaster" Target="/ppt/notesMasters/notesMaster1.xml" Id="R4112525a7b99479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2bda51ac07b47cf" /><Relationship Type="http://schemas.openxmlformats.org/officeDocument/2006/relationships/notesMaster" Target="/ppt/notesMasters/notesMaster1.xml" Id="Rf0daf88058634e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https://milk-planet.com/#sys（2026-08-07取得）</a:t>
            </a:r>
          </a:p>
          <a:p xmlns:a="http://schemas.openxmlformats.org/drawingml/2006/main">
            <a:r>
              <a:t>- https://macyvvv.github.io/milk-planet-web-compare/proposal/branch5/index.html#sys-title-wrapper（2026-08-07取得）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https://macyvvv.github.io/milk-planet-web-compare/proposal/branch5/okyuji/index.html（2026-08-07取得）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https://macyvvv.github.io/milk-planet-web-compare/proposal/branch5/index.html（2026-08-07取得）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https://macyvvv.github.io/milk-planet-web-compare/proposal/branch5/index.html（2026-08-07取得）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https://milk-planet.com/（2026-08-07取得）</a:t>
            </a:r>
          </a:p>
          <a:p xmlns:a="http://schemas.openxmlformats.org/drawingml/2006/main">
            <a:r>
              <a:t>- https://macyvvv.github.io/milk-planet-web-compare/proposal/branch5/index.html（2026-08-07取得）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https://milk-planet.com/（2026-08-07取得）</a:t>
            </a:r>
          </a:p>
          <a:p xmlns:a="http://schemas.openxmlformats.org/drawingml/2006/main">
            <a:r>
              <a:t>- https://macyvvv.github.io/milk-planet-web-compare/proposal/branch5/index.html（2026-08-07取得）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https://macyvvv.github.io/milk-planet-web-compare/proposal/branch5/okyuji/index.html（2026-08-07取得）</a:t>
            </a:r>
          </a:p>
          <a:p xmlns:a="http://schemas.openxmlformats.org/drawingml/2006/main">
            <a:r>
              <a:t>- https://macyvvv.github.io/milk-planet-web-compare/proposal/branch5/index.html（2026-08-07取得）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https://milk-planet.com/（2026-08-07取得）</a:t>
            </a:r>
          </a:p>
          <a:p xmlns:a="http://schemas.openxmlformats.org/drawingml/2006/main">
            <a:r>
              <a:t>- https://macyvvv.github.io/milk-planet-web-compare/proposal/branch5/index.html（2026-08-07取得）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https://milk-planet.com/（2026-08-07取得）</a:t>
            </a:r>
          </a:p>
          <a:p xmlns:a="http://schemas.openxmlformats.org/drawingml/2006/main">
            <a:r>
              <a:t>- https://macyvvv.github.io/milk-planet-web-compare/proposal/branch5/index.html（2026-08-07取得）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1b5caceceb4042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205e0de71045f4" /><Relationship Type="http://schemas.openxmlformats.org/officeDocument/2006/relationships/slideLayout" Target="/ppt/slideLayouts/slideLayout1.xml" Id="R83debce587c64a1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debce587c64a10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f82ea453274690" /><Relationship Type="http://schemas.openxmlformats.org/officeDocument/2006/relationships/image" Target="/ppt/media/image.png" Id="Rb508d83e8c7843d4" /><Relationship Type="http://schemas.openxmlformats.org/officeDocument/2006/relationships/notesSlide" Target="/ppt/notesSlides/notesSlide1.xml" Id="Re9c89a2e390d47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c590f57e574b02" /><Relationship Type="http://schemas.openxmlformats.org/officeDocument/2006/relationships/image" Target="/ppt/media/image2.png" Id="R3cab0f8a9e434dbe" /><Relationship Type="http://schemas.openxmlformats.org/officeDocument/2006/relationships/notesSlide" Target="/ppt/notesSlides/notesSlide2.xml" Id="R795cafe6206f4f6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52c453e2954793" /><Relationship Type="http://schemas.openxmlformats.org/officeDocument/2006/relationships/image" Target="/ppt/media/image3.png" Id="Ra96b57f6d69b49e5" /><Relationship Type="http://schemas.openxmlformats.org/officeDocument/2006/relationships/notesSlide" Target="/ppt/notesSlides/notesSlide3.xml" Id="R96c84bf5e76c46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163f704c114003" /><Relationship Type="http://schemas.openxmlformats.org/officeDocument/2006/relationships/image" Target="/ppt/media/image4.png" Id="R874fd71570e54a7e" /><Relationship Type="http://schemas.openxmlformats.org/officeDocument/2006/relationships/notesSlide" Target="/ppt/notesSlides/notesSlide4.xml" Id="R46f8cd158c7d47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89ead1bba4443b" /><Relationship Type="http://schemas.openxmlformats.org/officeDocument/2006/relationships/image" Target="/ppt/media/image5.png" Id="R89e70771ec4d4cd1" /><Relationship Type="http://schemas.openxmlformats.org/officeDocument/2006/relationships/notesSlide" Target="/ppt/notesSlides/notesSlide5.xml" Id="R379dc21e696d4ee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7e61a59ae8431a" /><Relationship Type="http://schemas.openxmlformats.org/officeDocument/2006/relationships/image" Target="/ppt/media/image6.png" Id="R8b2d2fe0dff14b4b" /><Relationship Type="http://schemas.openxmlformats.org/officeDocument/2006/relationships/image" Target="/ppt/media/image7.png" Id="R241b1f18dae64788" /><Relationship Type="http://schemas.openxmlformats.org/officeDocument/2006/relationships/notesSlide" Target="/ppt/notesSlides/notesSlide6.xml" Id="R3e7d92ab034d456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32c4c3b27141ad" /><Relationship Type="http://schemas.openxmlformats.org/officeDocument/2006/relationships/image" Target="/ppt/media/image8.png" Id="Rb5c7e4b0c59b4f21" /><Relationship Type="http://schemas.openxmlformats.org/officeDocument/2006/relationships/notesSlide" Target="/ppt/notesSlides/notesSlide7.xml" Id="Raf7244e08e78423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e1c3c9d36c4d2b" /><Relationship Type="http://schemas.openxmlformats.org/officeDocument/2006/relationships/image" Target="/ppt/media/image9.png" Id="R5fce2789e40a4337" /><Relationship Type="http://schemas.openxmlformats.org/officeDocument/2006/relationships/notesSlide" Target="/ppt/notesSlides/notesSlide8.xml" Id="R25f5d6ac5d2d489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9110b0c2064e7a" /><Relationship Type="http://schemas.openxmlformats.org/officeDocument/2006/relationships/image" Target="/ppt/media/image10.png" Id="R2e989b2e379b49f4" /><Relationship Type="http://schemas.openxmlformats.org/officeDocument/2006/relationships/notesSlide" Target="/ppt/notesSlides/notesSlide9.xml" Id="Ree5e65b1dd58477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de59929b92479e" /><Relationship Type="http://schemas.openxmlformats.org/officeDocument/2006/relationships/image" Target="/ppt/media/image11.png" Id="Rf8ca05ca84fb4b21" /><Relationship Type="http://schemas.openxmlformats.org/officeDocument/2006/relationships/notesSlide" Target="/ppt/notesSlides/notesSlide10.xml" Id="Rc7c08bb86e44436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2856bf4b46495e" /><Relationship Type="http://schemas.openxmlformats.org/officeDocument/2006/relationships/image" Target="/ppt/media/image12.png" Id="Rae7aaf2aee9542a6" /><Relationship Type="http://schemas.openxmlformats.org/officeDocument/2006/relationships/notesSlide" Target="/ppt/notesSlides/notesSlide11.xml" Id="R77c9c6bf6428449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ea6e68f8f7446f" /><Relationship Type="http://schemas.openxmlformats.org/officeDocument/2006/relationships/image" Target="/ppt/media/image13.png" Id="R102821c1fc554585" /><Relationship Type="http://schemas.openxmlformats.org/officeDocument/2006/relationships/image" Target="/ppt/media/image14.png" Id="R94723e48143746a8" /><Relationship Type="http://schemas.openxmlformats.org/officeDocument/2006/relationships/notesSlide" Target="/ppt/notesSlides/notesSlide12.xml" Id="Ra0656d6e16914d1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a4ab7469824a69" /><Relationship Type="http://schemas.openxmlformats.org/officeDocument/2006/relationships/image" Target="/ppt/media/image15.png" Id="Rd06449c016fc4312" /><Relationship Type="http://schemas.openxmlformats.org/officeDocument/2006/relationships/image" Target="/ppt/media/image16.png" Id="R17c43772238b43b3" /><Relationship Type="http://schemas.openxmlformats.org/officeDocument/2006/relationships/notesSlide" Target="/ppt/notesSlides/notesSlide13.xml" Id="Rf76359079985427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afa41ae1994982" /><Relationship Type="http://schemas.openxmlformats.org/officeDocument/2006/relationships/image" Target="/ppt/media/image17.png" Id="R78721a2996cb4421" /><Relationship Type="http://schemas.openxmlformats.org/officeDocument/2006/relationships/image" Target="/ppt/media/image18.png" Id="Rc2fd4e3eb4ce4d08" /><Relationship Type="http://schemas.openxmlformats.org/officeDocument/2006/relationships/notesSlide" Target="/ppt/notesSlides/notesSlide14.xml" Id="R8673b33b4b9d4b4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01a76d742e4085" /><Relationship Type="http://schemas.openxmlformats.org/officeDocument/2006/relationships/image" Target="/ppt/media/image19.png" Id="Rc09610262b8b4429" /><Relationship Type="http://schemas.openxmlformats.org/officeDocument/2006/relationships/image" Target="/ppt/media/image20.png" Id="Rc7dd53a52ae7457e" /><Relationship Type="http://schemas.openxmlformats.org/officeDocument/2006/relationships/notesSlide" Target="/ppt/notesSlides/notesSlide15.xml" Id="R5959958027c24a7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4738f698de4226" /><Relationship Type="http://schemas.openxmlformats.org/officeDocument/2006/relationships/image" Target="/ppt/media/image21.png" Id="R65b0d29d1dc2426d" /><Relationship Type="http://schemas.openxmlformats.org/officeDocument/2006/relationships/notesSlide" Target="/ppt/notesSlides/notesSlide16.xml" Id="Rfab486132374403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5b5195d5744e9b" /><Relationship Type="http://schemas.openxmlformats.org/officeDocument/2006/relationships/image" Target="/ppt/media/image22.png" Id="Ra58ce3c207184c2d" /><Relationship Type="http://schemas.openxmlformats.org/officeDocument/2006/relationships/notesSlide" Target="/ppt/notesSlides/notesSlide17.xml" Id="Rbe199ef8ccc6455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ce70cc332e4dee" /><Relationship Type="http://schemas.openxmlformats.org/officeDocument/2006/relationships/image" Target="/ppt/media/image23.png" Id="R1837328934404cbe" /><Relationship Type="http://schemas.openxmlformats.org/officeDocument/2006/relationships/notesSlide" Target="/ppt/notesSlides/notesSlide18.xml" Id="R3bcf002eec1f45f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df519a17f64dc4" /><Relationship Type="http://schemas.openxmlformats.org/officeDocument/2006/relationships/image" Target="/ppt/media/image24.png" Id="R6c0705dba55f4584" /><Relationship Type="http://schemas.openxmlformats.org/officeDocument/2006/relationships/notesSlide" Target="/ppt/notesSlides/notesSlide19.xml" Id="R5d16be133ed04b9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c84b695fdd4a60" /><Relationship Type="http://schemas.openxmlformats.org/officeDocument/2006/relationships/notesSlide" Target="/ppt/notesSlides/notesSlide20.xml" Id="Re16f5d7cfa5140d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6147f579b249df" /><Relationship Type="http://schemas.openxmlformats.org/officeDocument/2006/relationships/notesSlide" Target="/ppt/notesSlides/notesSlide21.xml" Id="Rfd2e1277583f4705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508d83e8c7843d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862296823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cab0f8a9e434db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515977136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96b57f6d69b49e5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984662559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74fd71570e54a7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429067762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9e70771ec4d4cd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90805674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647C68A9-3916-4D8A-9E53-21774334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" name="deck-label">
            <a:extLst xmlns:a="http://schemas.openxmlformats.org/drawingml/2006/main">
              <a:ext uri="{FF2B5EF4-FFF2-40B4-BE49-F238E27FC236}">
                <a16:creationId xmlns:a16="http://schemas.microsoft.com/office/drawing/2014/main" id="{2FDA53A3-421F-4900-BB64-40046A56E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19075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58585"/>
                </a:solidFill>
              </a:defRPr>
            </a:pPr>
            <a:r>
              <a:rPr sz="1200">
                <a:solidFill>
                  <a:srgbClr val="858585"/>
                </a:solidFill>
              </a:rPr>
              <a:t>milk planet公式サイト アップデート提案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CFE431C-E8EC-4668-9ACD-3EB56725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53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4272D"/>
                </a:solidFill>
              </a:defRPr>
            </a:pPr>
            <a:r>
              <a:rPr sz="2700" b="1">
                <a:solidFill>
                  <a:srgbClr val="24272D"/>
                </a:solidFill>
              </a:rPr>
              <a:t>実画面比較：システム＆メニューを「探す」から「選ぶ」へ</a:t>
            </a:r>
          </a:p>
        </p:txBody>
      </p:sp>
      <p:sp>
        <p:nvSpPr>
          <p:cNvPr id="4" name="confidential">
            <a:extLst xmlns:a="http://schemas.openxmlformats.org/drawingml/2006/main">
              <a:ext uri="{FF2B5EF4-FFF2-40B4-BE49-F238E27FC236}">
                <a16:creationId xmlns:a16="http://schemas.microsoft.com/office/drawing/2014/main" id="{82542B62-8B22-4424-BF5D-EA4DBC51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484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858585"/>
                </a:solidFill>
              </a:defRPr>
            </a:pPr>
            <a:r>
              <a:rPr sz="1050">
                <a:solidFill>
                  <a:srgbClr val="858585"/>
                </a:solidFill>
              </a:rPr>
              <a:t>Confidential</a:t>
            </a:r>
          </a:p>
        </p:txBody>
      </p:sp>
      <p:sp>
        <p:nvSpPr>
          <p:cNvPr id="5" name="page-marker">
            <a:extLst xmlns:a="http://schemas.openxmlformats.org/drawingml/2006/main">
              <a:ext uri="{FF2B5EF4-FFF2-40B4-BE49-F238E27FC236}">
                <a16:creationId xmlns:a16="http://schemas.microsoft.com/office/drawing/2014/main" id="{A061541B-E788-496D-AB54-0C3B6596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858585"/>
                </a:solidFill>
              </a:defRPr>
            </a:pPr>
            <a:r>
              <a:rPr sz="1050">
                <a:solidFill>
                  <a:srgbClr val="858585"/>
                </a:solidFill>
              </a:rPr>
              <a:t>補足 1/4</a:t>
            </a:r>
          </a:p>
        </p:txBody>
      </p:sp>
      <p:sp>
        <p:nvSpPr>
          <p:cNvPr id="6" name="current-label-bg">
            <a:extLst xmlns:a="http://schemas.openxmlformats.org/drawingml/2006/main">
              <a:ext uri="{FF2B5EF4-FFF2-40B4-BE49-F238E27FC236}">
                <a16:creationId xmlns:a16="http://schemas.microsoft.com/office/drawing/2014/main" id="{52722404-5562-4081-BD07-FE98CA86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62075"/>
            <a:ext cx="4857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4F5F7"/>
            </a:solidFill>
            <a:prstDash val="solid"/>
          </a:ln>
        </p:spPr>
      </p:sp>
      <p:sp>
        <p:nvSpPr>
          <p:cNvPr id="7" name="current-label">
            <a:extLst xmlns:a="http://schemas.openxmlformats.org/drawingml/2006/main">
              <a:ext uri="{FF2B5EF4-FFF2-40B4-BE49-F238E27FC236}">
                <a16:creationId xmlns:a16="http://schemas.microsoft.com/office/drawing/2014/main" id="{1131132D-4008-445C-BBA8-A7AB2BD7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6207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現行サイト｜#sys</a:t>
            </a:r>
          </a:p>
        </p:txBody>
      </p:sp>
      <p:sp>
        <p:nvSpPr>
          <p:cNvPr id="8" name="branch-label-bg">
            <a:extLst xmlns:a="http://schemas.openxmlformats.org/drawingml/2006/main">
              <a:ext uri="{FF2B5EF4-FFF2-40B4-BE49-F238E27FC236}">
                <a16:creationId xmlns:a16="http://schemas.microsoft.com/office/drawing/2014/main" id="{6DC5E4B3-AF09-4D25-89BA-60026F05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62075"/>
            <a:ext cx="4857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6FF"/>
          </a:solidFill>
          <a:ln xmlns:a="http://schemas.openxmlformats.org/drawingml/2006/main" w="9525">
            <a:solidFill>
              <a:srgbClr val="EAF6FF"/>
            </a:solidFill>
            <a:prstDash val="solid"/>
          </a:ln>
        </p:spPr>
      </p:sp>
      <p:sp>
        <p:nvSpPr>
          <p:cNvPr id="9" name="branch-label">
            <a:extLst xmlns:a="http://schemas.openxmlformats.org/drawingml/2006/main">
              <a:ext uri="{FF2B5EF4-FFF2-40B4-BE49-F238E27FC236}">
                <a16:creationId xmlns:a16="http://schemas.microsoft.com/office/drawing/2014/main" id="{1A232280-732E-4984-9E56-7B0EFCE2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6207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496D"/>
                </a:solidFill>
              </a:defRPr>
            </a:pPr>
            <a:r>
              <a:rPr sz="1200" b="1">
                <a:solidFill>
                  <a:srgbClr val="24496D"/>
                </a:solidFill>
              </a:rPr>
              <a:t>branch5 改修案｜#sys-title-wrapper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2d2fe0dff14b4b"/>
          <a:srcRect xmlns:a="http://schemas.openxmlformats.org/drawingml/2006/main" l="0" t="2157" r="0" b="21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1819275"/>
            <a:ext cx="4857750" cy="2905125"/>
          </a:xfrm>
          <a:prstGeom xmlns:a="http://schemas.openxmlformats.org/drawingml/2006/main" prst="roundRect">
            <a:avLst>
              <a:gd name="adj" fmla="val 3934"/>
            </a:avLst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1b1f18dae64788"/>
          <a:srcRect xmlns:a="http://schemas.openxmlformats.org/drawingml/2006/main" l="0" t="2157" r="0" b="21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91300" y="1819275"/>
            <a:ext cx="4857750" cy="2905125"/>
          </a:xfrm>
          <a:prstGeom xmlns:a="http://schemas.openxmlformats.org/drawingml/2006/main" prst="roundRect">
            <a:avLst>
              <a:gd name="adj" fmla="val 3934"/>
            </a:avLst>
          </a:prstGeom>
        </p:spPr>
      </p:pic>
      <p:sp>
        <p:nvSpPr>
          <p:cNvPr id="12" name="summary">
            <a:extLst xmlns:a="http://schemas.openxmlformats.org/drawingml/2006/main">
              <a:ext uri="{FF2B5EF4-FFF2-40B4-BE49-F238E27FC236}">
                <a16:creationId xmlns:a16="http://schemas.microsoft.com/office/drawing/2014/main" id="{FAA3CC38-6A42-4EE9-9818-3C1A2D31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10706100" cy="1076325"/>
          </a:xfrm>
          <a:prstGeom xmlns:a="http://schemas.openxmlformats.org/drawingml/2006/main" prst="roundRect">
            <a:avLst>
              <a:gd name="adj" fmla="val 10619"/>
            </a:avLst>
          </a:prstGeom>
          <a:solidFill xmlns:a="http://schemas.openxmlformats.org/drawingml/2006/main">
            <a:srgbClr val="EAF6FF"/>
          </a:solidFill>
          <a:ln xmlns:a="http://schemas.openxmlformats.org/drawingml/2006/main" w="9525">
            <a:solidFill>
              <a:srgbClr val="EAF6FF"/>
            </a:solidFill>
            <a:prstDash val="solid"/>
          </a:ln>
        </p:spPr>
      </p:sp>
      <p:sp>
        <p:nvSpPr>
          <p:cNvPr id="13" name="summary-copy">
            <a:extLst xmlns:a="http://schemas.openxmlformats.org/drawingml/2006/main">
              <a:ext uri="{FF2B5EF4-FFF2-40B4-BE49-F238E27FC236}">
                <a16:creationId xmlns:a16="http://schemas.microsoft.com/office/drawing/2014/main" id="{C1CC93C5-C8CC-4C88-979B-5FB5A552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05400"/>
            <a:ext cx="10058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4496D"/>
                </a:solidFill>
              </a:defRPr>
            </a:pPr>
            <a:r>
              <a:rPr sz="1425" b="1">
                <a:solidFill>
                  <a:srgbClr val="24496D"/>
                </a:solidFill>
              </a:rPr>
              <a:t>現行：写真内の単一入口から各情報を探す</a:t>
            </a:r>
          </a:p>
          <a:p xmlns:a="http://schemas.openxmlformats.org/drawingml/2006/main">
            <a:pPr>
              <a:defRPr sz="1425" b="1">
                <a:solidFill>
                  <a:srgbClr val="24496D"/>
                </a:solidFill>
              </a:defRPr>
            </a:pPr>
            <a:r>
              <a:rPr sz="1425" b="1">
                <a:solidFill>
                  <a:srgbClr val="24496D"/>
                </a:solidFill>
              </a:rPr>
              <a:t>branch5：ブランドロゴを一覧化し、目的のシステム／メニューをその場で選択</a:t>
            </a:r>
          </a:p>
          <a:p xmlns:a="http://schemas.openxmlformats.org/drawingml/2006/main">
            <a:pPr>
              <a:defRPr sz="1425" b="1">
                <a:solidFill>
                  <a:srgbClr val="24496D"/>
                </a:solidFill>
              </a:defRPr>
            </a:pPr>
            <a:r>
              <a:rPr sz="1425" b="1">
                <a:solidFill>
                  <a:srgbClr val="24496D"/>
                </a:solidFill>
              </a:rPr>
              <a:t>→ 対象を視覚的に比較でき、次の操作を予測しやすくする。</a:t>
            </a:r>
          </a:p>
        </p:txBody>
      </p:sp>
    </p:spTree>
    <p:extLst>
      <p:ext uri="{BB962C8B-B14F-4D97-AF65-F5344CB8AC3E}">
        <p14:creationId xmlns:p14="http://schemas.microsoft.com/office/powerpoint/2010/main" val="176193331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5c7e4b0c59b4f2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10691741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DD1C8B0F-D3D3-4C0A-8599-C1C32FC6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" name="deck-label">
            <a:extLst xmlns:a="http://schemas.openxmlformats.org/drawingml/2006/main">
              <a:ext uri="{FF2B5EF4-FFF2-40B4-BE49-F238E27FC236}">
                <a16:creationId xmlns:a16="http://schemas.microsoft.com/office/drawing/2014/main" id="{ED175278-41B2-49FA-BEEA-B6F875F9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1907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858585"/>
                </a:solidFill>
              </a:defRPr>
            </a:pPr>
            <a:r>
              <a:rPr sz="1200">
                <a:solidFill>
                  <a:srgbClr val="858585"/>
                </a:solidFill>
              </a:rPr>
              <a:t>milk planet公式サイト アップデート提案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97F8B4C-6160-40C0-9F07-652869873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53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24272D"/>
                </a:solidFill>
              </a:defRPr>
            </a:pPr>
            <a:r>
              <a:rPr sz="2700" b="1">
                <a:solidFill>
                  <a:srgbClr val="24272D"/>
                </a:solidFill>
              </a:rPr>
              <a:t>実画面：「おきゅうじ よてい」を公式サイトへ集約</a:t>
            </a:r>
          </a:p>
        </p:txBody>
      </p:sp>
      <p:sp>
        <p:nvSpPr>
          <p:cNvPr id="4" name="confidential">
            <a:extLst xmlns:a="http://schemas.openxmlformats.org/drawingml/2006/main">
              <a:ext uri="{FF2B5EF4-FFF2-40B4-BE49-F238E27FC236}">
                <a16:creationId xmlns:a16="http://schemas.microsoft.com/office/drawing/2014/main" id="{0CD2DA70-0AD2-46F0-B405-F0FD6B8B4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484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858585"/>
                </a:solidFill>
              </a:defRPr>
            </a:pPr>
            <a:r>
              <a:rPr sz="1050">
                <a:solidFill>
                  <a:srgbClr val="858585"/>
                </a:solidFill>
              </a:rPr>
              <a:t>Confidential</a:t>
            </a:r>
          </a:p>
        </p:txBody>
      </p:sp>
      <p:sp>
        <p:nvSpPr>
          <p:cNvPr id="5" name="supplement-number">
            <a:extLst xmlns:a="http://schemas.openxmlformats.org/drawingml/2006/main">
              <a:ext uri="{FF2B5EF4-FFF2-40B4-BE49-F238E27FC236}">
                <a16:creationId xmlns:a16="http://schemas.microsoft.com/office/drawing/2014/main" id="{E7F2E228-C392-4556-83ED-5C0CAF028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</a:defRPr>
            </a:pPr>
            <a:r>
              <a:rPr sz="1050">
                <a:solidFill>
                  <a:srgbClr val="858585"/>
                </a:solidFill>
              </a:rPr>
              <a:t>補足 2/4</a:t>
            </a:r>
          </a:p>
        </p:txBody>
      </p:sp>
      <p:sp>
        <p:nvSpPr>
          <p:cNvPr id="6" name="schedule-frame">
            <a:extLst xmlns:a="http://schemas.openxmlformats.org/drawingml/2006/main">
              <a:ext uri="{FF2B5EF4-FFF2-40B4-BE49-F238E27FC236}">
                <a16:creationId xmlns:a16="http://schemas.microsoft.com/office/drawing/2014/main" id="{2FF35DF3-B061-4589-8AA8-A78EA0DD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71600"/>
            <a:ext cx="6953250" cy="4610100"/>
          </a:xfrm>
          <a:prstGeom xmlns:a="http://schemas.openxmlformats.org/drawingml/2006/main" prst="roundRect">
            <a:avLst>
              <a:gd name="adj" fmla="val 2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8F6"/>
            </a:solidFill>
            <a:prstDash val="solid"/>
          </a:ln>
        </p:spPr>
      </p:sp>
      <p:pic>
        <p:nvPicPr>
          <p:cNvPr id="28" name="図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ce2789e40a4337"/>
          <a:srcRect xmlns:a="http://schemas.openxmlformats.org/drawingml/2006/main" l="2182" t="0" r="218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1466850"/>
            <a:ext cx="6762750" cy="4419600"/>
          </a:xfrm>
          <a:prstGeom xmlns:a="http://schemas.openxmlformats.org/drawingml/2006/main" prst="roundRect">
            <a:avLst>
              <a:gd name="adj" fmla="val 2586"/>
            </a:avLst>
          </a:prstGeom>
        </p:spPr>
      </p:pic>
      <p:sp>
        <p:nvSpPr>
          <p:cNvPr id="8" name="schedule-point-1-number-circle">
            <a:extLst xmlns:a="http://schemas.openxmlformats.org/drawingml/2006/main">
              <a:ext uri="{FF2B5EF4-FFF2-40B4-BE49-F238E27FC236}">
                <a16:creationId xmlns:a16="http://schemas.microsoft.com/office/drawing/2014/main" id="{8827AC2E-AC7B-479D-B0A9-9CD3F50CF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96D"/>
          </a:solidFill>
          <a:ln xmlns:a="http://schemas.openxmlformats.org/drawingml/2006/main" w="0">
            <a:solidFill>
              <a:srgbClr val="24496D"/>
            </a:solidFill>
            <a:prstDash val="solid"/>
          </a:ln>
        </p:spPr>
      </p:sp>
      <p:sp>
        <p:nvSpPr>
          <p:cNvPr id="9" name="schedule-point-1-number">
            <a:extLst xmlns:a="http://schemas.openxmlformats.org/drawingml/2006/main">
              <a:ext uri="{FF2B5EF4-FFF2-40B4-BE49-F238E27FC236}">
                <a16:creationId xmlns:a16="http://schemas.microsoft.com/office/drawing/2014/main" id="{B217AA20-8CCB-4651-B734-C6A3A31F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478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schedule-point-1-heading">
            <a:extLst xmlns:a="http://schemas.openxmlformats.org/drawingml/2006/main">
              <a:ext uri="{FF2B5EF4-FFF2-40B4-BE49-F238E27FC236}">
                <a16:creationId xmlns:a16="http://schemas.microsoft.com/office/drawing/2014/main" id="{00DAC163-A59C-4222-B683-CF21C7ED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6002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4496D"/>
                </a:solidFill>
              </a:defRPr>
            </a:pPr>
            <a:r>
              <a:rPr sz="1500" b="1">
                <a:solidFill>
                  <a:srgbClr val="24496D"/>
                </a:solidFill>
              </a:rPr>
              <a:t>一覧で比較</a:t>
            </a:r>
          </a:p>
        </p:txBody>
      </p:sp>
      <p:sp>
        <p:nvSpPr>
          <p:cNvPr id="11" name="schedule-point-1-body">
            <a:extLst xmlns:a="http://schemas.openxmlformats.org/drawingml/2006/main">
              <a:ext uri="{FF2B5EF4-FFF2-40B4-BE49-F238E27FC236}">
                <a16:creationId xmlns:a16="http://schemas.microsoft.com/office/drawing/2014/main" id="{C1FA0B48-D2EB-4A60-895E-CECF887E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943100"/>
            <a:ext cx="2781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24272D"/>
                </a:solidFill>
              </a:defRPr>
            </a:pPr>
            <a:r>
              <a:rPr sz="1200">
                <a:solidFill>
                  <a:srgbClr val="24272D"/>
                </a:solidFill>
              </a:rPr>
              <a:t>複数店舗の予定を、同じページ内で確認できる。</a:t>
            </a:r>
          </a:p>
        </p:txBody>
      </p:sp>
      <p:sp>
        <p:nvSpPr>
          <p:cNvPr id="12" name="schedule-point-2-number-circle">
            <a:extLst xmlns:a="http://schemas.openxmlformats.org/drawingml/2006/main">
              <a:ext uri="{FF2B5EF4-FFF2-40B4-BE49-F238E27FC236}">
                <a16:creationId xmlns:a16="http://schemas.microsoft.com/office/drawing/2014/main" id="{D8633423-C117-4655-AFF8-A0DFD014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57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96D"/>
          </a:solidFill>
          <a:ln xmlns:a="http://schemas.openxmlformats.org/drawingml/2006/main" w="0">
            <a:solidFill>
              <a:srgbClr val="24496D"/>
            </a:solidFill>
            <a:prstDash val="solid"/>
          </a:ln>
        </p:spPr>
      </p:sp>
      <p:sp>
        <p:nvSpPr>
          <p:cNvPr id="13" name="schedule-point-2-number">
            <a:extLst xmlns:a="http://schemas.openxmlformats.org/drawingml/2006/main">
              <a:ext uri="{FF2B5EF4-FFF2-40B4-BE49-F238E27FC236}">
                <a16:creationId xmlns:a16="http://schemas.microsoft.com/office/drawing/2014/main" id="{F339FE02-9F40-4D64-AEED-55E46063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8607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schedule-point-2-heading">
            <a:extLst xmlns:a="http://schemas.openxmlformats.org/drawingml/2006/main">
              <a:ext uri="{FF2B5EF4-FFF2-40B4-BE49-F238E27FC236}">
                <a16:creationId xmlns:a16="http://schemas.microsoft.com/office/drawing/2014/main" id="{29A9E8CF-6751-457A-AAB2-42CD39B6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384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4496D"/>
                </a:solidFill>
              </a:defRPr>
            </a:pPr>
            <a:r>
              <a:rPr sz="1500" b="1">
                <a:solidFill>
                  <a:srgbClr val="24496D"/>
                </a:solidFill>
              </a:rPr>
              <a:t>店舗投稿へ直結</a:t>
            </a:r>
          </a:p>
        </p:txBody>
      </p:sp>
      <p:sp>
        <p:nvSpPr>
          <p:cNvPr id="15" name="schedule-point-2-body">
            <a:extLst xmlns:a="http://schemas.openxmlformats.org/drawingml/2006/main">
              <a:ext uri="{FF2B5EF4-FFF2-40B4-BE49-F238E27FC236}">
                <a16:creationId xmlns:a16="http://schemas.microsoft.com/office/drawing/2014/main" id="{022B25BD-9523-4344-9107-62F888D87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181350"/>
            <a:ext cx="2781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24272D"/>
                </a:solidFill>
              </a:defRPr>
            </a:pPr>
            <a:r>
              <a:rPr sz="1200">
                <a:solidFill>
                  <a:srgbClr val="24272D"/>
                </a:solidFill>
              </a:rPr>
              <a:t>各店舗の最新投稿へ移動し、詳細を確認できる。</a:t>
            </a:r>
          </a:p>
        </p:txBody>
      </p:sp>
      <p:sp>
        <p:nvSpPr>
          <p:cNvPr id="16" name="schedule-point-3-number-circle">
            <a:extLst xmlns:a="http://schemas.openxmlformats.org/drawingml/2006/main">
              <a:ext uri="{FF2B5EF4-FFF2-40B4-BE49-F238E27FC236}">
                <a16:creationId xmlns:a16="http://schemas.microsoft.com/office/drawing/2014/main" id="{E3E34B95-F555-4B1A-B2E1-0071E271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95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96D"/>
          </a:solidFill>
          <a:ln xmlns:a="http://schemas.openxmlformats.org/drawingml/2006/main" w="0">
            <a:solidFill>
              <a:srgbClr val="24496D"/>
            </a:solidFill>
            <a:prstDash val="solid"/>
          </a:ln>
        </p:spPr>
      </p:sp>
      <p:sp>
        <p:nvSpPr>
          <p:cNvPr id="17" name="schedule-point-3-number">
            <a:extLst xmlns:a="http://schemas.openxmlformats.org/drawingml/2006/main">
              <a:ext uri="{FF2B5EF4-FFF2-40B4-BE49-F238E27FC236}">
                <a16:creationId xmlns:a16="http://schemas.microsoft.com/office/drawing/2014/main" id="{D31A3EB8-9BAA-4CAD-B694-70E9F09E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243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schedule-point-3-heading">
            <a:extLst xmlns:a="http://schemas.openxmlformats.org/drawingml/2006/main">
              <a:ext uri="{FF2B5EF4-FFF2-40B4-BE49-F238E27FC236}">
                <a16:creationId xmlns:a16="http://schemas.microsoft.com/office/drawing/2014/main" id="{EA0E2BF9-2627-4E15-B705-CE8B1925D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767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4496D"/>
                </a:solidFill>
              </a:defRPr>
            </a:pPr>
            <a:r>
              <a:rPr sz="1500" b="1">
                <a:solidFill>
                  <a:srgbClr val="24496D"/>
                </a:solidFill>
              </a:rPr>
              <a:t>来店判断を短縮</a:t>
            </a:r>
          </a:p>
        </p:txBody>
      </p:sp>
      <p:sp>
        <p:nvSpPr>
          <p:cNvPr id="19" name="schedule-point-3-body">
            <a:extLst xmlns:a="http://schemas.openxmlformats.org/drawingml/2006/main">
              <a:ext uri="{FF2B5EF4-FFF2-40B4-BE49-F238E27FC236}">
                <a16:creationId xmlns:a16="http://schemas.microsoft.com/office/drawing/2014/main" id="{2C582300-0969-475D-BE00-DFBE360A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419600"/>
            <a:ext cx="2781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24272D"/>
                </a:solidFill>
              </a:defRPr>
            </a:pPr>
            <a:r>
              <a:rPr sz="1200">
                <a:solidFill>
                  <a:srgbClr val="24272D"/>
                </a:solidFill>
              </a:rPr>
              <a:t>SNSを個別に探す手間を減らし、来店までの判断を速める。</a:t>
            </a:r>
          </a:p>
        </p:txBody>
      </p:sp>
    </p:spTree>
    <p:extLst>
      <p:ext uri="{BB962C8B-B14F-4D97-AF65-F5344CB8AC3E}">
        <p14:creationId xmlns:p14="http://schemas.microsoft.com/office/powerpoint/2010/main" val="1044121735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e989b2e379b49f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73830216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FA18A06B-01C8-4B7D-BF25-41366663C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" name="deck-label">
            <a:extLst xmlns:a="http://schemas.openxmlformats.org/drawingml/2006/main">
              <a:ext uri="{FF2B5EF4-FFF2-40B4-BE49-F238E27FC236}">
                <a16:creationId xmlns:a16="http://schemas.microsoft.com/office/drawing/2014/main" id="{06FA2F85-E457-4763-9E11-BC3F7A8D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1907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858585"/>
                </a:solidFill>
              </a:defRPr>
            </a:pPr>
            <a:r>
              <a:rPr sz="1200">
                <a:solidFill>
                  <a:srgbClr val="858585"/>
                </a:solidFill>
              </a:rPr>
              <a:t>milk planet公式サイト アップデート提案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5ED7AF7-156A-4589-9F2F-49A4899B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53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24272D"/>
                </a:solidFill>
              </a:defRPr>
            </a:pPr>
            <a:r>
              <a:rPr sz="2700" b="1">
                <a:solidFill>
                  <a:srgbClr val="24272D"/>
                </a:solidFill>
              </a:rPr>
              <a:t>実画面：BASE通販をブランド別に迷わず選べる</a:t>
            </a:r>
          </a:p>
        </p:txBody>
      </p:sp>
      <p:sp>
        <p:nvSpPr>
          <p:cNvPr id="4" name="confidential">
            <a:extLst xmlns:a="http://schemas.openxmlformats.org/drawingml/2006/main">
              <a:ext uri="{FF2B5EF4-FFF2-40B4-BE49-F238E27FC236}">
                <a16:creationId xmlns:a16="http://schemas.microsoft.com/office/drawing/2014/main" id="{96708DCF-6C7E-4CAD-A69E-BECB9FE3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484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858585"/>
                </a:solidFill>
              </a:defRPr>
            </a:pPr>
            <a:r>
              <a:rPr sz="1050">
                <a:solidFill>
                  <a:srgbClr val="858585"/>
                </a:solidFill>
              </a:rPr>
              <a:t>Confidential</a:t>
            </a:r>
          </a:p>
        </p:txBody>
      </p:sp>
      <p:sp>
        <p:nvSpPr>
          <p:cNvPr id="5" name="supplement-number">
            <a:extLst xmlns:a="http://schemas.openxmlformats.org/drawingml/2006/main">
              <a:ext uri="{FF2B5EF4-FFF2-40B4-BE49-F238E27FC236}">
                <a16:creationId xmlns:a16="http://schemas.microsoft.com/office/drawing/2014/main" id="{33A89FD8-4B7A-45B2-9CFF-335AD24B3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</a:defRPr>
            </a:pPr>
            <a:r>
              <a:rPr sz="1050">
                <a:solidFill>
                  <a:srgbClr val="858585"/>
                </a:solidFill>
              </a:rPr>
              <a:t>補足 3/4</a:t>
            </a:r>
          </a:p>
        </p:txBody>
      </p:sp>
      <p:sp>
        <p:nvSpPr>
          <p:cNvPr id="6" name="base-frame">
            <a:extLst xmlns:a="http://schemas.openxmlformats.org/drawingml/2006/main">
              <a:ext uri="{FF2B5EF4-FFF2-40B4-BE49-F238E27FC236}">
                <a16:creationId xmlns:a16="http://schemas.microsoft.com/office/drawing/2014/main" id="{26AA5B26-2BB7-4DE7-B1DB-2BA347ED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71600"/>
            <a:ext cx="6953250" cy="4610100"/>
          </a:xfrm>
          <a:prstGeom xmlns:a="http://schemas.openxmlformats.org/drawingml/2006/main" prst="roundRect">
            <a:avLst>
              <a:gd name="adj" fmla="val 2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8F6"/>
            </a:solidFill>
            <a:prstDash val="solid"/>
          </a:ln>
        </p:spPr>
      </p:sp>
      <p:pic>
        <p:nvPicPr>
          <p:cNvPr id="28" name="図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ca05ca84fb4b21"/>
          <a:srcRect xmlns:a="http://schemas.openxmlformats.org/drawingml/2006/main" l="2182" t="0" r="218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1466850"/>
            <a:ext cx="6762750" cy="4419600"/>
          </a:xfrm>
          <a:prstGeom xmlns:a="http://schemas.openxmlformats.org/drawingml/2006/main" prst="roundRect">
            <a:avLst>
              <a:gd name="adj" fmla="val 2586"/>
            </a:avLst>
          </a:prstGeom>
        </p:spPr>
      </p:pic>
      <p:sp>
        <p:nvSpPr>
          <p:cNvPr id="8" name="base-point-1-number-circle">
            <a:extLst xmlns:a="http://schemas.openxmlformats.org/drawingml/2006/main">
              <a:ext uri="{FF2B5EF4-FFF2-40B4-BE49-F238E27FC236}">
                <a16:creationId xmlns:a16="http://schemas.microsoft.com/office/drawing/2014/main" id="{C1E0A798-EE2A-4D22-889E-FFB732DB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96D"/>
          </a:solidFill>
          <a:ln xmlns:a="http://schemas.openxmlformats.org/drawingml/2006/main" w="0">
            <a:solidFill>
              <a:srgbClr val="24496D"/>
            </a:solidFill>
            <a:prstDash val="solid"/>
          </a:ln>
        </p:spPr>
      </p:sp>
      <p:sp>
        <p:nvSpPr>
          <p:cNvPr id="9" name="base-point-1-number">
            <a:extLst xmlns:a="http://schemas.openxmlformats.org/drawingml/2006/main">
              <a:ext uri="{FF2B5EF4-FFF2-40B4-BE49-F238E27FC236}">
                <a16:creationId xmlns:a16="http://schemas.microsoft.com/office/drawing/2014/main" id="{1D90413A-A81B-42B8-A8E9-1CAC5E175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478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base-point-1-heading">
            <a:extLst xmlns:a="http://schemas.openxmlformats.org/drawingml/2006/main">
              <a:ext uri="{FF2B5EF4-FFF2-40B4-BE49-F238E27FC236}">
                <a16:creationId xmlns:a16="http://schemas.microsoft.com/office/drawing/2014/main" id="{99E70A0D-F02D-44A9-9F9E-E8C5F98C7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6002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4496D"/>
                </a:solidFill>
              </a:defRPr>
            </a:pPr>
            <a:r>
              <a:rPr sz="1500" b="1">
                <a:solidFill>
                  <a:srgbClr val="24496D"/>
                </a:solidFill>
              </a:rPr>
              <a:t>共通入口</a:t>
            </a:r>
          </a:p>
        </p:txBody>
      </p:sp>
      <p:sp>
        <p:nvSpPr>
          <p:cNvPr id="11" name="base-point-1-body">
            <a:extLst xmlns:a="http://schemas.openxmlformats.org/drawingml/2006/main">
              <a:ext uri="{FF2B5EF4-FFF2-40B4-BE49-F238E27FC236}">
                <a16:creationId xmlns:a16="http://schemas.microsoft.com/office/drawing/2014/main" id="{6E55B03A-29D8-40F6-8996-5443461E5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943100"/>
            <a:ext cx="2781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24272D"/>
                </a:solidFill>
              </a:defRPr>
            </a:pPr>
            <a:r>
              <a:rPr sz="1200">
                <a:solidFill>
                  <a:srgbClr val="24272D"/>
                </a:solidFill>
              </a:rPr>
              <a:t>どのページからでも「えんかく つうはん」を開ける。</a:t>
            </a:r>
          </a:p>
        </p:txBody>
      </p:sp>
      <p:sp>
        <p:nvSpPr>
          <p:cNvPr id="12" name="base-point-2-number-circle">
            <a:extLst xmlns:a="http://schemas.openxmlformats.org/drawingml/2006/main">
              <a:ext uri="{FF2B5EF4-FFF2-40B4-BE49-F238E27FC236}">
                <a16:creationId xmlns:a16="http://schemas.microsoft.com/office/drawing/2014/main" id="{92D24C05-CEFF-4AE1-9C8B-354A406B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57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96D"/>
          </a:solidFill>
          <a:ln xmlns:a="http://schemas.openxmlformats.org/drawingml/2006/main" w="0">
            <a:solidFill>
              <a:srgbClr val="24496D"/>
            </a:solidFill>
            <a:prstDash val="solid"/>
          </a:ln>
        </p:spPr>
      </p:sp>
      <p:sp>
        <p:nvSpPr>
          <p:cNvPr id="13" name="base-point-2-number">
            <a:extLst xmlns:a="http://schemas.openxmlformats.org/drawingml/2006/main">
              <a:ext uri="{FF2B5EF4-FFF2-40B4-BE49-F238E27FC236}">
                <a16:creationId xmlns:a16="http://schemas.microsoft.com/office/drawing/2014/main" id="{0422BDA6-4A12-4B93-8560-B59FD4D3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8607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base-point-2-heading">
            <a:extLst xmlns:a="http://schemas.openxmlformats.org/drawingml/2006/main">
              <a:ext uri="{FF2B5EF4-FFF2-40B4-BE49-F238E27FC236}">
                <a16:creationId xmlns:a16="http://schemas.microsoft.com/office/drawing/2014/main" id="{FB704E89-A166-487D-8AC2-B7F8EC0E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384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4496D"/>
                </a:solidFill>
              </a:defRPr>
            </a:pPr>
            <a:r>
              <a:rPr sz="1500" b="1">
                <a:solidFill>
                  <a:srgbClr val="24496D"/>
                </a:solidFill>
              </a:rPr>
              <a:t>ブランド別選択</a:t>
            </a:r>
          </a:p>
        </p:txBody>
      </p:sp>
      <p:sp>
        <p:nvSpPr>
          <p:cNvPr id="15" name="base-point-2-body">
            <a:extLst xmlns:a="http://schemas.openxmlformats.org/drawingml/2006/main">
              <a:ext uri="{FF2B5EF4-FFF2-40B4-BE49-F238E27FC236}">
                <a16:creationId xmlns:a16="http://schemas.microsoft.com/office/drawing/2014/main" id="{D2506EA6-3886-4DF3-81BF-416C7739D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181350"/>
            <a:ext cx="2781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24272D"/>
                </a:solidFill>
              </a:defRPr>
            </a:pPr>
            <a:r>
              <a:rPr sz="1200">
                <a:solidFill>
                  <a:srgbClr val="24272D"/>
                </a:solidFill>
              </a:rPr>
              <a:t>利用者が目的の店舗名を見て、そのままBASEへ進める。</a:t>
            </a:r>
          </a:p>
        </p:txBody>
      </p:sp>
      <p:sp>
        <p:nvSpPr>
          <p:cNvPr id="16" name="base-point-3-number-circle">
            <a:extLst xmlns:a="http://schemas.openxmlformats.org/drawingml/2006/main">
              <a:ext uri="{FF2B5EF4-FFF2-40B4-BE49-F238E27FC236}">
                <a16:creationId xmlns:a16="http://schemas.microsoft.com/office/drawing/2014/main" id="{880F502D-7E36-4EE7-8F93-0F4D868C3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95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96D"/>
          </a:solidFill>
          <a:ln xmlns:a="http://schemas.openxmlformats.org/drawingml/2006/main" w="0">
            <a:solidFill>
              <a:srgbClr val="24496D"/>
            </a:solidFill>
            <a:prstDash val="solid"/>
          </a:ln>
        </p:spPr>
      </p:sp>
      <p:sp>
        <p:nvSpPr>
          <p:cNvPr id="17" name="base-point-3-number">
            <a:extLst xmlns:a="http://schemas.openxmlformats.org/drawingml/2006/main">
              <a:ext uri="{FF2B5EF4-FFF2-40B4-BE49-F238E27FC236}">
                <a16:creationId xmlns:a16="http://schemas.microsoft.com/office/drawing/2014/main" id="{F11CBBB9-1D2C-4E3D-9382-400E5C72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243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base-point-3-heading">
            <a:extLst xmlns:a="http://schemas.openxmlformats.org/drawingml/2006/main">
              <a:ext uri="{FF2B5EF4-FFF2-40B4-BE49-F238E27FC236}">
                <a16:creationId xmlns:a16="http://schemas.microsoft.com/office/drawing/2014/main" id="{417C0210-C507-448B-8B18-0D327AB44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767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4496D"/>
                </a:solidFill>
              </a:defRPr>
            </a:pPr>
            <a:r>
              <a:rPr sz="1500" b="1">
                <a:solidFill>
                  <a:srgbClr val="24496D"/>
                </a:solidFill>
              </a:rPr>
              <a:t>販売機会を拡張</a:t>
            </a:r>
          </a:p>
        </p:txBody>
      </p:sp>
      <p:sp>
        <p:nvSpPr>
          <p:cNvPr id="19" name="base-point-3-body">
            <a:extLst xmlns:a="http://schemas.openxmlformats.org/drawingml/2006/main">
              <a:ext uri="{FF2B5EF4-FFF2-40B4-BE49-F238E27FC236}">
                <a16:creationId xmlns:a16="http://schemas.microsoft.com/office/drawing/2014/main" id="{AFCEE2AB-9810-469C-901F-B896A4E2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419600"/>
            <a:ext cx="2781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24272D"/>
                </a:solidFill>
              </a:defRPr>
            </a:pPr>
            <a:r>
              <a:rPr sz="1200">
                <a:solidFill>
                  <a:srgbClr val="24272D"/>
                </a:solidFill>
              </a:rPr>
              <a:t>通販を知らない来訪者にも、自然な導線で存在を伝える。</a:t>
            </a:r>
          </a:p>
        </p:txBody>
      </p:sp>
    </p:spTree>
    <p:extLst>
      <p:ext uri="{BB962C8B-B14F-4D97-AF65-F5344CB8AC3E}">
        <p14:creationId xmlns:p14="http://schemas.microsoft.com/office/powerpoint/2010/main" val="1024847932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e7aaf2aee9542a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09634222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7CD86DCE-E80D-4A9F-BACB-A0A1B747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" name="deck-label">
            <a:extLst xmlns:a="http://schemas.openxmlformats.org/drawingml/2006/main">
              <a:ext uri="{FF2B5EF4-FFF2-40B4-BE49-F238E27FC236}">
                <a16:creationId xmlns:a16="http://schemas.microsoft.com/office/drawing/2014/main" id="{3EB186E6-7516-4995-8681-B361C4F8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1907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858585"/>
                </a:solidFill>
              </a:defRPr>
            </a:pPr>
            <a:r>
              <a:rPr sz="1200">
                <a:solidFill>
                  <a:srgbClr val="858585"/>
                </a:solidFill>
              </a:rPr>
              <a:t>milk planet公式サイト アップデート提案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790A0C5-4196-49D6-AC81-D06D6EC0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53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24272D"/>
                </a:solidFill>
              </a:defRPr>
            </a:pPr>
            <a:r>
              <a:rPr sz="2700" b="1">
                <a:solidFill>
                  <a:srgbClr val="24272D"/>
                </a:solidFill>
              </a:rPr>
              <a:t>実画面：固定メニューで情報階層を一か所に整理</a:t>
            </a:r>
          </a:p>
        </p:txBody>
      </p:sp>
      <p:sp>
        <p:nvSpPr>
          <p:cNvPr id="4" name="confidential">
            <a:extLst xmlns:a="http://schemas.openxmlformats.org/drawingml/2006/main">
              <a:ext uri="{FF2B5EF4-FFF2-40B4-BE49-F238E27FC236}">
                <a16:creationId xmlns:a16="http://schemas.microsoft.com/office/drawing/2014/main" id="{73DEEC0E-7D5D-4088-AA86-62CB72A78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484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858585"/>
                </a:solidFill>
              </a:defRPr>
            </a:pPr>
            <a:r>
              <a:rPr sz="1050">
                <a:solidFill>
                  <a:srgbClr val="858585"/>
                </a:solidFill>
              </a:rPr>
              <a:t>Confidential</a:t>
            </a:r>
          </a:p>
        </p:txBody>
      </p:sp>
      <p:sp>
        <p:nvSpPr>
          <p:cNvPr id="5" name="supplement-number">
            <a:extLst xmlns:a="http://schemas.openxmlformats.org/drawingml/2006/main">
              <a:ext uri="{FF2B5EF4-FFF2-40B4-BE49-F238E27FC236}">
                <a16:creationId xmlns:a16="http://schemas.microsoft.com/office/drawing/2014/main" id="{88AFA4A3-0C61-4CB9-BB62-27ADE308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</a:defRPr>
            </a:pPr>
            <a:r>
              <a:rPr sz="1050">
                <a:solidFill>
                  <a:srgbClr val="858585"/>
                </a:solidFill>
              </a:rPr>
              <a:t>補足 4/4</a:t>
            </a:r>
          </a:p>
        </p:txBody>
      </p:sp>
      <p:sp>
        <p:nvSpPr>
          <p:cNvPr id="6" name="closed-label-box">
            <a:extLst xmlns:a="http://schemas.openxmlformats.org/drawingml/2006/main">
              <a:ext uri="{FF2B5EF4-FFF2-40B4-BE49-F238E27FC236}">
                <a16:creationId xmlns:a16="http://schemas.microsoft.com/office/drawing/2014/main" id="{AEF5CA2A-05FC-4F34-BBD1-3C71906D6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62075"/>
            <a:ext cx="4857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6FF"/>
          </a:solidFill>
          <a:ln xmlns:a="http://schemas.openxmlformats.org/drawingml/2006/main" w="9525">
            <a:solidFill>
              <a:srgbClr val="EAF6FF"/>
            </a:solidFill>
            <a:prstDash val="solid"/>
          </a:ln>
        </p:spPr>
      </p:sp>
      <p:sp>
        <p:nvSpPr>
          <p:cNvPr id="7" name="closed-label">
            <a:extLst xmlns:a="http://schemas.openxmlformats.org/drawingml/2006/main">
              <a:ext uri="{FF2B5EF4-FFF2-40B4-BE49-F238E27FC236}">
                <a16:creationId xmlns:a16="http://schemas.microsoft.com/office/drawing/2014/main" id="{18AFEC41-E471-467A-B195-8B6B3E1B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6207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4496D"/>
                </a:solidFill>
              </a:defRPr>
            </a:pPr>
            <a:r>
              <a:rPr sz="1200" b="1">
                <a:solidFill>
                  <a:srgbClr val="24496D"/>
                </a:solidFill>
              </a:rPr>
              <a:t>通常表示：写真を主役に</a:t>
            </a:r>
          </a:p>
        </p:txBody>
      </p:sp>
      <p:sp>
        <p:nvSpPr>
          <p:cNvPr id="8" name="open-label-box">
            <a:extLst xmlns:a="http://schemas.openxmlformats.org/drawingml/2006/main">
              <a:ext uri="{FF2B5EF4-FFF2-40B4-BE49-F238E27FC236}">
                <a16:creationId xmlns:a16="http://schemas.microsoft.com/office/drawing/2014/main" id="{9B5365EE-E443-4960-989D-E53A8BB8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62075"/>
            <a:ext cx="4857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6FF"/>
          </a:solidFill>
          <a:ln xmlns:a="http://schemas.openxmlformats.org/drawingml/2006/main" w="9525">
            <a:solidFill>
              <a:srgbClr val="EAF6FF"/>
            </a:solidFill>
            <a:prstDash val="solid"/>
          </a:ln>
        </p:spPr>
      </p:sp>
      <p:sp>
        <p:nvSpPr>
          <p:cNvPr id="9" name="open-label">
            <a:extLst xmlns:a="http://schemas.openxmlformats.org/drawingml/2006/main">
              <a:ext uri="{FF2B5EF4-FFF2-40B4-BE49-F238E27FC236}">
                <a16:creationId xmlns:a16="http://schemas.microsoft.com/office/drawing/2014/main" id="{E71F2B90-FEDA-47D5-9191-CEF2BD66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6207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4496D"/>
                </a:solidFill>
              </a:defRPr>
            </a:pPr>
            <a:r>
              <a:rPr sz="1200" b="1">
                <a:solidFill>
                  <a:srgbClr val="24496D"/>
                </a:solidFill>
              </a:rPr>
              <a:t>操作時：必要な項目だけ展開</a:t>
            </a:r>
          </a:p>
        </p:txBody>
      </p:sp>
      <p:pic>
        <p:nvPicPr>
          <p:cNvPr id="26" name="図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2821c1fc554585"/>
          <a:srcRect xmlns:a="http://schemas.openxmlformats.org/drawingml/2006/main" l="39" t="0" r="3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1819275"/>
            <a:ext cx="4857750" cy="3038475"/>
          </a:xfrm>
          <a:prstGeom xmlns:a="http://schemas.openxmlformats.org/drawingml/2006/main" prst="roundRect">
            <a:avLst>
              <a:gd name="adj" fmla="val 3762"/>
            </a:avLst>
          </a:prstGeom>
        </p:spPr>
      </p:pic>
      <p:pic>
        <p:nvPicPr>
          <p:cNvPr id="27" name="図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723e48143746a8"/>
          <a:srcRect xmlns:a="http://schemas.openxmlformats.org/drawingml/2006/main" l="39" t="0" r="3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91300" y="1819275"/>
            <a:ext cx="4857750" cy="3038475"/>
          </a:xfrm>
          <a:prstGeom xmlns:a="http://schemas.openxmlformats.org/drawingml/2006/main" prst="roundRect">
            <a:avLst>
              <a:gd name="adj" fmla="val 3762"/>
            </a:avLst>
          </a:prstGeom>
        </p:spPr>
      </p:pic>
      <p:sp>
        <p:nvSpPr>
          <p:cNvPr id="12" name="ui-summary-band">
            <a:extLst xmlns:a="http://schemas.openxmlformats.org/drawingml/2006/main">
              <a:ext uri="{FF2B5EF4-FFF2-40B4-BE49-F238E27FC236}">
                <a16:creationId xmlns:a16="http://schemas.microsoft.com/office/drawing/2014/main" id="{3CCA955B-4AC2-4ABC-A289-1861C21B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95875"/>
            <a:ext cx="107061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AF6FF"/>
          </a:solidFill>
          <a:ln xmlns:a="http://schemas.openxmlformats.org/drawingml/2006/main" w="9525">
            <a:solidFill>
              <a:srgbClr val="EAF6FF"/>
            </a:solidFill>
            <a:prstDash val="solid"/>
          </a:ln>
        </p:spPr>
      </p:sp>
      <p:sp>
        <p:nvSpPr>
          <p:cNvPr id="13" name="ui-summary">
            <a:extLst xmlns:a="http://schemas.openxmlformats.org/drawingml/2006/main">
              <a:ext uri="{FF2B5EF4-FFF2-40B4-BE49-F238E27FC236}">
                <a16:creationId xmlns:a16="http://schemas.microsoft.com/office/drawing/2014/main" id="{FAA4C9BE-E987-40F7-83F6-33ABF6B47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86375"/>
            <a:ext cx="10134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4496D"/>
                </a:solidFill>
              </a:defRPr>
            </a:pPr>
            <a:r>
              <a:rPr sz="1500" b="1">
                <a:solidFill>
                  <a:srgbClr val="24496D"/>
                </a:solidFill>
              </a:rPr>
              <a:t>通常時はブランド写真を妨げず、必要なときだけ情報階層を表示。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24496D"/>
                </a:solidFill>
              </a:defRPr>
            </a:pPr>
            <a:r>
              <a:rPr sz="1500" b="1">
                <a:solidFill>
                  <a:srgbClr val="24496D"/>
                </a:solidFill>
              </a:rPr>
              <a:t>「今見ているページ」と「次に進める場所」を同じメニュー内で理解できる。</a:t>
            </a:r>
          </a:p>
        </p:txBody>
      </p:sp>
    </p:spTree>
    <p:extLst>
      <p:ext uri="{BB962C8B-B14F-4D97-AF65-F5344CB8AC3E}">
        <p14:creationId xmlns:p14="http://schemas.microsoft.com/office/powerpoint/2010/main" val="108873216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1273C8BE-C6F9-4146-819D-9E882AED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" name="deck-label">
            <a:extLst xmlns:a="http://schemas.openxmlformats.org/drawingml/2006/main">
              <a:ext uri="{FF2B5EF4-FFF2-40B4-BE49-F238E27FC236}">
                <a16:creationId xmlns:a16="http://schemas.microsoft.com/office/drawing/2014/main" id="{62F7847F-A3B0-4CB1-A48D-9A2D3ABA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19075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858585"/>
                </a:solidFill>
              </a:defRPr>
            </a:pPr>
            <a:r>
              <a:rPr sz="1200">
                <a:solidFill>
                  <a:srgbClr val="858585"/>
                </a:solidFill>
              </a:rPr>
              <a:t>milk planet公式サイト アップデート提案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9D1E533-7EAF-430E-A4B3-21649C10F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53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24272D"/>
                </a:solidFill>
              </a:defRPr>
            </a:pPr>
            <a:r>
              <a:rPr sz="2700" b="1">
                <a:solidFill>
                  <a:srgbClr val="24272D"/>
                </a:solidFill>
              </a:rPr>
              <a:t>SP実画面比較：入口を常に見つけられる</a:t>
            </a:r>
          </a:p>
        </p:txBody>
      </p:sp>
      <p:sp>
        <p:nvSpPr>
          <p:cNvPr id="4" name="confidential">
            <a:extLst xmlns:a="http://schemas.openxmlformats.org/drawingml/2006/main">
              <a:ext uri="{FF2B5EF4-FFF2-40B4-BE49-F238E27FC236}">
                <a16:creationId xmlns:a16="http://schemas.microsoft.com/office/drawing/2014/main" id="{04A00C01-4B47-40CE-8CCE-FE0C00B1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484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858585"/>
                </a:solidFill>
              </a:defRPr>
            </a:pPr>
            <a:r>
              <a:rPr sz="1050">
                <a:solidFill>
                  <a:srgbClr val="858585"/>
                </a:solidFill>
              </a:rPr>
              <a:t>Confidential</a:t>
            </a:r>
          </a:p>
        </p:txBody>
      </p:sp>
      <p:sp>
        <p:nvSpPr>
          <p:cNvPr id="5" name="page-marker">
            <a:extLst xmlns:a="http://schemas.openxmlformats.org/drawingml/2006/main">
              <a:ext uri="{FF2B5EF4-FFF2-40B4-BE49-F238E27FC236}">
                <a16:creationId xmlns:a16="http://schemas.microsoft.com/office/drawing/2014/main" id="{6468D34D-3043-4769-A2BB-F48E2067D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</a:defRPr>
            </a:pPr>
            <a:r>
              <a:rPr sz="1050">
                <a:solidFill>
                  <a:srgbClr val="858585"/>
                </a:solidFill>
              </a:rPr>
              <a:t>SP補足 1/3</a:t>
            </a:r>
          </a:p>
        </p:txBody>
      </p:sp>
      <p:sp>
        <p:nvSpPr>
          <p:cNvPr id="6" name="sp-current-label-bg">
            <a:extLst xmlns:a="http://schemas.openxmlformats.org/drawingml/2006/main">
              <a:ext uri="{FF2B5EF4-FFF2-40B4-BE49-F238E27FC236}">
                <a16:creationId xmlns:a16="http://schemas.microsoft.com/office/drawing/2014/main" id="{6A6F5E7B-8A9E-49B3-87D8-C212484C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62075"/>
            <a:ext cx="2381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4F5F7"/>
            </a:solidFill>
            <a:prstDash val="solid"/>
          </a:ln>
        </p:spPr>
      </p:sp>
      <p:sp>
        <p:nvSpPr>
          <p:cNvPr id="7" name="sp-current-label">
            <a:extLst xmlns:a="http://schemas.openxmlformats.org/drawingml/2006/main">
              <a:ext uri="{FF2B5EF4-FFF2-40B4-BE49-F238E27FC236}">
                <a16:creationId xmlns:a16="http://schemas.microsoft.com/office/drawing/2014/main" id="{8E24AA80-444E-47BA-8993-8D6AEC2B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620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現行サイト</a:t>
            </a:r>
          </a:p>
        </p:txBody>
      </p:sp>
      <p:sp>
        <p:nvSpPr>
          <p:cNvPr id="8" name="sp-proposal-label-bg">
            <a:extLst xmlns:a="http://schemas.openxmlformats.org/drawingml/2006/main">
              <a:ext uri="{FF2B5EF4-FFF2-40B4-BE49-F238E27FC236}">
                <a16:creationId xmlns:a16="http://schemas.microsoft.com/office/drawing/2014/main" id="{3C66D46F-F75D-4D52-9870-6200C601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362075"/>
            <a:ext cx="2381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6FF"/>
          </a:solidFill>
          <a:ln xmlns:a="http://schemas.openxmlformats.org/drawingml/2006/main" w="9525">
            <a:solidFill>
              <a:srgbClr val="EAF6FF"/>
            </a:solidFill>
            <a:prstDash val="solid"/>
          </a:ln>
        </p:spPr>
      </p:sp>
      <p:sp>
        <p:nvSpPr>
          <p:cNvPr id="9" name="sp-proposal-label">
            <a:extLst xmlns:a="http://schemas.openxmlformats.org/drawingml/2006/main">
              <a:ext uri="{FF2B5EF4-FFF2-40B4-BE49-F238E27FC236}">
                <a16:creationId xmlns:a16="http://schemas.microsoft.com/office/drawing/2014/main" id="{A6AFA844-3168-40F3-A83A-2CC6EE06D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3620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4496D"/>
                </a:solidFill>
              </a:defRPr>
            </a:pPr>
            <a:r>
              <a:rPr sz="1200" b="1">
                <a:solidFill>
                  <a:srgbClr val="24496D"/>
                </a:solidFill>
              </a:rPr>
              <a:t>branch5 改修案</a:t>
            </a:r>
          </a:p>
        </p:txBody>
      </p:sp>
      <p:pic>
        <p:nvPicPr>
          <p:cNvPr id="36" name="図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6449c016fc4312"/>
          <a:srcRect xmlns:a="http://schemas.openxmlformats.org/drawingml/2006/main" l="0" t="3266" r="0" b="32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825" y="1809750"/>
            <a:ext cx="2095500" cy="4238625"/>
          </a:xfrm>
          <a:prstGeom xmlns:a="http://schemas.openxmlformats.org/drawingml/2006/main" prst="roundRect">
            <a:avLst>
              <a:gd name="adj" fmla="val 5455"/>
            </a:avLst>
          </a:prstGeom>
        </p:spPr>
      </p:pic>
      <p:pic>
        <p:nvPicPr>
          <p:cNvPr id="37" name="図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c43772238b43b3"/>
          <a:srcRect xmlns:a="http://schemas.openxmlformats.org/drawingml/2006/main" l="0" t="3266" r="0" b="32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43325" y="1809750"/>
            <a:ext cx="2095500" cy="4238625"/>
          </a:xfrm>
          <a:prstGeom xmlns:a="http://schemas.openxmlformats.org/drawingml/2006/main" prst="roundRect">
            <a:avLst>
              <a:gd name="adj" fmla="val 5455"/>
            </a:avLst>
          </a:prstGeom>
        </p:spPr>
      </p:pic>
      <p:sp>
        <p:nvSpPr>
          <p:cNvPr id="12" name="sp-top-1-circle">
            <a:extLst xmlns:a="http://schemas.openxmlformats.org/drawingml/2006/main">
              <a:ext uri="{FF2B5EF4-FFF2-40B4-BE49-F238E27FC236}">
                <a16:creationId xmlns:a16="http://schemas.microsoft.com/office/drawing/2014/main" id="{FB915550-B1AE-468E-9B4B-91D340406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668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96D"/>
          </a:solidFill>
          <a:ln xmlns:a="http://schemas.openxmlformats.org/drawingml/2006/main" w="0">
            <a:solidFill>
              <a:srgbClr val="24496D"/>
            </a:solidFill>
            <a:prstDash val="solid"/>
          </a:ln>
        </p:spPr>
      </p:sp>
      <p:sp>
        <p:nvSpPr>
          <p:cNvPr id="13" name="sp-top-1-number">
            <a:extLst xmlns:a="http://schemas.openxmlformats.org/drawingml/2006/main">
              <a:ext uri="{FF2B5EF4-FFF2-40B4-BE49-F238E27FC236}">
                <a16:creationId xmlns:a16="http://schemas.microsoft.com/office/drawing/2014/main" id="{DE158AF4-99DD-48EA-9E24-C21F51BA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954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sp-top-1-heading">
            <a:extLst xmlns:a="http://schemas.openxmlformats.org/drawingml/2006/main">
              <a:ext uri="{FF2B5EF4-FFF2-40B4-BE49-F238E27FC236}">
                <a16:creationId xmlns:a16="http://schemas.microsoft.com/office/drawing/2014/main" id="{2FD418D1-376B-4227-9BD3-B4C91EF3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478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4496D"/>
                </a:solidFill>
              </a:defRPr>
            </a:pPr>
            <a:r>
              <a:rPr sz="1500" b="1">
                <a:solidFill>
                  <a:srgbClr val="24496D"/>
                </a:solidFill>
              </a:rPr>
              <a:t>操作入口を強調</a:t>
            </a:r>
          </a:p>
        </p:txBody>
      </p:sp>
      <p:sp>
        <p:nvSpPr>
          <p:cNvPr id="15" name="sp-top-1-body">
            <a:extLst xmlns:a="http://schemas.openxmlformats.org/drawingml/2006/main">
              <a:ext uri="{FF2B5EF4-FFF2-40B4-BE49-F238E27FC236}">
                <a16:creationId xmlns:a16="http://schemas.microsoft.com/office/drawing/2014/main" id="{925FCBBE-A2E6-4719-9509-0E6258F9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71675"/>
            <a:ext cx="409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24272D"/>
                </a:solidFill>
              </a:defRPr>
            </a:pPr>
            <a:r>
              <a:rPr sz="1200">
                <a:solidFill>
                  <a:srgbClr val="24272D"/>
                </a:solidFill>
              </a:rPr>
              <a:t>改修案では白い円形ボタンとして表示し、背景写真から分離。</a:t>
            </a:r>
          </a:p>
        </p:txBody>
      </p:sp>
      <p:sp>
        <p:nvSpPr>
          <p:cNvPr id="16" name="sp-top-2-circle">
            <a:extLst xmlns:a="http://schemas.openxmlformats.org/drawingml/2006/main">
              <a:ext uri="{FF2B5EF4-FFF2-40B4-BE49-F238E27FC236}">
                <a16:creationId xmlns:a16="http://schemas.microsoft.com/office/drawing/2014/main" id="{3BFF2A94-02B0-474C-940A-6CC3F10B8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003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96D"/>
          </a:solidFill>
          <a:ln xmlns:a="http://schemas.openxmlformats.org/drawingml/2006/main" w="0">
            <a:solidFill>
              <a:srgbClr val="24496D"/>
            </a:solidFill>
            <a:prstDash val="solid"/>
          </a:ln>
        </p:spPr>
      </p:sp>
      <p:sp>
        <p:nvSpPr>
          <p:cNvPr id="17" name="sp-top-2-number">
            <a:extLst xmlns:a="http://schemas.openxmlformats.org/drawingml/2006/main">
              <a:ext uri="{FF2B5EF4-FFF2-40B4-BE49-F238E27FC236}">
                <a16:creationId xmlns:a16="http://schemas.microsoft.com/office/drawing/2014/main" id="{E27BAA7C-C145-4012-ABD2-D5F4A824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289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sp-top-2-heading">
            <a:extLst xmlns:a="http://schemas.openxmlformats.org/drawingml/2006/main">
              <a:ext uri="{FF2B5EF4-FFF2-40B4-BE49-F238E27FC236}">
                <a16:creationId xmlns:a16="http://schemas.microsoft.com/office/drawing/2014/main" id="{D3516B41-307E-4FA3-AC1A-78973BD7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813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4496D"/>
                </a:solidFill>
              </a:defRPr>
            </a:pPr>
            <a:r>
              <a:rPr sz="1500" b="1">
                <a:solidFill>
                  <a:srgbClr val="24496D"/>
                </a:solidFill>
              </a:rPr>
              <a:t>カルーセルを示唆</a:t>
            </a:r>
          </a:p>
        </p:txBody>
      </p:sp>
      <p:sp>
        <p:nvSpPr>
          <p:cNvPr id="19" name="sp-top-2-body">
            <a:extLst xmlns:a="http://schemas.openxmlformats.org/drawingml/2006/main">
              <a:ext uri="{FF2B5EF4-FFF2-40B4-BE49-F238E27FC236}">
                <a16:creationId xmlns:a16="http://schemas.microsoft.com/office/drawing/2014/main" id="{A3267B53-6020-4B61-A5AC-4C0F9A05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05175"/>
            <a:ext cx="409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24272D"/>
                </a:solidFill>
              </a:defRPr>
            </a:pPr>
            <a:r>
              <a:rPr sz="1200">
                <a:solidFill>
                  <a:srgbClr val="24272D"/>
                </a:solidFill>
              </a:rPr>
              <a:t>隣接写真を見せ、横方向に続くコンテンツだと伝える。</a:t>
            </a:r>
          </a:p>
        </p:txBody>
      </p:sp>
      <p:sp>
        <p:nvSpPr>
          <p:cNvPr id="20" name="sp-top-3-circle">
            <a:extLst xmlns:a="http://schemas.openxmlformats.org/drawingml/2006/main">
              <a:ext uri="{FF2B5EF4-FFF2-40B4-BE49-F238E27FC236}">
                <a16:creationId xmlns:a16="http://schemas.microsoft.com/office/drawing/2014/main" id="{D0B1CCE5-73F7-46C0-AFDD-C1D560498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338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96D"/>
          </a:solidFill>
          <a:ln xmlns:a="http://schemas.openxmlformats.org/drawingml/2006/main" w="0">
            <a:solidFill>
              <a:srgbClr val="24496D"/>
            </a:solidFill>
            <a:prstDash val="solid"/>
          </a:ln>
        </p:spPr>
      </p:sp>
      <p:sp>
        <p:nvSpPr>
          <p:cNvPr id="21" name="sp-top-3-number">
            <a:extLst xmlns:a="http://schemas.openxmlformats.org/drawingml/2006/main">
              <a:ext uri="{FF2B5EF4-FFF2-40B4-BE49-F238E27FC236}">
                <a16:creationId xmlns:a16="http://schemas.microsoft.com/office/drawing/2014/main" id="{749308D9-5863-47F0-9C87-B90C2181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624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sp-top-3-heading">
            <a:extLst xmlns:a="http://schemas.openxmlformats.org/drawingml/2006/main">
              <a:ext uri="{FF2B5EF4-FFF2-40B4-BE49-F238E27FC236}">
                <a16:creationId xmlns:a16="http://schemas.microsoft.com/office/drawing/2014/main" id="{DE283B2F-D137-4301-B5C8-6DBD83EF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3148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4496D"/>
                </a:solidFill>
              </a:defRPr>
            </a:pPr>
            <a:r>
              <a:rPr sz="1500" b="1">
                <a:solidFill>
                  <a:srgbClr val="24496D"/>
                </a:solidFill>
              </a:rPr>
              <a:t>本文の可読性を維持</a:t>
            </a:r>
          </a:p>
        </p:txBody>
      </p:sp>
      <p:sp>
        <p:nvSpPr>
          <p:cNvPr id="23" name="sp-top-3-body">
            <a:extLst xmlns:a="http://schemas.openxmlformats.org/drawingml/2006/main">
              <a:ext uri="{FF2B5EF4-FFF2-40B4-BE49-F238E27FC236}">
                <a16:creationId xmlns:a16="http://schemas.microsoft.com/office/drawing/2014/main" id="{C3E5BBB0-11C7-4542-BCBF-2EE49A38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638675"/>
            <a:ext cx="409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24272D"/>
                </a:solidFill>
              </a:defRPr>
            </a:pPr>
            <a:r>
              <a:rPr sz="1200">
                <a:solidFill>
                  <a:srgbClr val="24272D"/>
                </a:solidFill>
              </a:rPr>
              <a:t>ブランドの淡い背景と写真を保ちつつ、操作部の視認性を上げる。</a:t>
            </a:r>
          </a:p>
        </p:txBody>
      </p:sp>
    </p:spTree>
    <p:extLst>
      <p:ext uri="{BB962C8B-B14F-4D97-AF65-F5344CB8AC3E}">
        <p14:creationId xmlns:p14="http://schemas.microsoft.com/office/powerpoint/2010/main" val="65218127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99067B44-B2C7-4B73-BF1D-EAE04EBE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" name="deck-label">
            <a:extLst xmlns:a="http://schemas.openxmlformats.org/drawingml/2006/main">
              <a:ext uri="{FF2B5EF4-FFF2-40B4-BE49-F238E27FC236}">
                <a16:creationId xmlns:a16="http://schemas.microsoft.com/office/drawing/2014/main" id="{A696DE27-FA97-4225-8DE3-032E72AE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19075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858585"/>
                </a:solidFill>
              </a:defRPr>
            </a:pPr>
            <a:r>
              <a:rPr sz="1200">
                <a:solidFill>
                  <a:srgbClr val="858585"/>
                </a:solidFill>
              </a:rPr>
              <a:t>milk planet公式サイト アップデート提案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DF2AC78-7AC5-4430-9694-E7B7D383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53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24272D"/>
                </a:solidFill>
              </a:defRPr>
            </a:pPr>
            <a:r>
              <a:rPr sz="2700" b="1">
                <a:solidFill>
                  <a:srgbClr val="24272D"/>
                </a:solidFill>
              </a:rPr>
              <a:t>SP実画面比較：メニューの構造と操作状態</a:t>
            </a:r>
          </a:p>
        </p:txBody>
      </p:sp>
      <p:sp>
        <p:nvSpPr>
          <p:cNvPr id="4" name="confidential">
            <a:extLst xmlns:a="http://schemas.openxmlformats.org/drawingml/2006/main">
              <a:ext uri="{FF2B5EF4-FFF2-40B4-BE49-F238E27FC236}">
                <a16:creationId xmlns:a16="http://schemas.microsoft.com/office/drawing/2014/main" id="{CA4E08DF-CED6-4A6D-A8B9-ADF60EEC0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484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858585"/>
                </a:solidFill>
              </a:defRPr>
            </a:pPr>
            <a:r>
              <a:rPr sz="1050">
                <a:solidFill>
                  <a:srgbClr val="858585"/>
                </a:solidFill>
              </a:rPr>
              <a:t>Confidential</a:t>
            </a:r>
          </a:p>
        </p:txBody>
      </p:sp>
      <p:sp>
        <p:nvSpPr>
          <p:cNvPr id="5" name="page-marker">
            <a:extLst xmlns:a="http://schemas.openxmlformats.org/drawingml/2006/main">
              <a:ext uri="{FF2B5EF4-FFF2-40B4-BE49-F238E27FC236}">
                <a16:creationId xmlns:a16="http://schemas.microsoft.com/office/drawing/2014/main" id="{3901041B-45E6-4AE2-803C-47B9A05E4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</a:defRPr>
            </a:pPr>
            <a:r>
              <a:rPr sz="1050">
                <a:solidFill>
                  <a:srgbClr val="858585"/>
                </a:solidFill>
              </a:rPr>
              <a:t>SP補足 2/3</a:t>
            </a:r>
          </a:p>
        </p:txBody>
      </p:sp>
      <p:sp>
        <p:nvSpPr>
          <p:cNvPr id="6" name="sp-menu-current-label-bg">
            <a:extLst xmlns:a="http://schemas.openxmlformats.org/drawingml/2006/main">
              <a:ext uri="{FF2B5EF4-FFF2-40B4-BE49-F238E27FC236}">
                <a16:creationId xmlns:a16="http://schemas.microsoft.com/office/drawing/2014/main" id="{C3112C88-55AE-41BE-8813-4046578FC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62075"/>
            <a:ext cx="2381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4F5F7"/>
            </a:solidFill>
            <a:prstDash val="solid"/>
          </a:ln>
        </p:spPr>
      </p:sp>
      <p:sp>
        <p:nvSpPr>
          <p:cNvPr id="7" name="sp-menu-current-label">
            <a:extLst xmlns:a="http://schemas.openxmlformats.org/drawingml/2006/main">
              <a:ext uri="{FF2B5EF4-FFF2-40B4-BE49-F238E27FC236}">
                <a16:creationId xmlns:a16="http://schemas.microsoft.com/office/drawing/2014/main" id="{04D70F93-ABD1-40EC-93C3-E0F81134C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620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現行：全画面メニュー</a:t>
            </a:r>
          </a:p>
        </p:txBody>
      </p:sp>
      <p:sp>
        <p:nvSpPr>
          <p:cNvPr id="8" name="sp-menu-proposal-label-bg">
            <a:extLst xmlns:a="http://schemas.openxmlformats.org/drawingml/2006/main">
              <a:ext uri="{FF2B5EF4-FFF2-40B4-BE49-F238E27FC236}">
                <a16:creationId xmlns:a16="http://schemas.microsoft.com/office/drawing/2014/main" id="{AA785088-0213-41F3-96AE-928BF98C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362075"/>
            <a:ext cx="2381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6FF"/>
          </a:solidFill>
          <a:ln xmlns:a="http://schemas.openxmlformats.org/drawingml/2006/main" w="9525">
            <a:solidFill>
              <a:srgbClr val="EAF6FF"/>
            </a:solidFill>
            <a:prstDash val="solid"/>
          </a:ln>
        </p:spPr>
      </p:sp>
      <p:sp>
        <p:nvSpPr>
          <p:cNvPr id="9" name="sp-menu-proposal-label">
            <a:extLst xmlns:a="http://schemas.openxmlformats.org/drawingml/2006/main">
              <a:ext uri="{FF2B5EF4-FFF2-40B4-BE49-F238E27FC236}">
                <a16:creationId xmlns:a16="http://schemas.microsoft.com/office/drawing/2014/main" id="{4F460D71-6ED2-48DE-B879-5E4D99F8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3620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4496D"/>
                </a:solidFill>
              </a:defRPr>
            </a:pPr>
            <a:r>
              <a:rPr sz="1200" b="1">
                <a:solidFill>
                  <a:srgbClr val="24496D"/>
                </a:solidFill>
              </a:rPr>
              <a:t>branch5：カード型メニュー</a:t>
            </a:r>
          </a:p>
        </p:txBody>
      </p:sp>
      <p:pic>
        <p:nvPicPr>
          <p:cNvPr id="36" name="図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721a2996cb4421"/>
          <a:srcRect xmlns:a="http://schemas.openxmlformats.org/drawingml/2006/main" l="0" t="3266" r="0" b="32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825" y="1809750"/>
            <a:ext cx="2095500" cy="4238625"/>
          </a:xfrm>
          <a:prstGeom xmlns:a="http://schemas.openxmlformats.org/drawingml/2006/main" prst="roundRect">
            <a:avLst>
              <a:gd name="adj" fmla="val 5455"/>
            </a:avLst>
          </a:prstGeom>
        </p:spPr>
      </p:pic>
      <p:pic>
        <p:nvPicPr>
          <p:cNvPr id="37" name="図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fd4e3eb4ce4d08"/>
          <a:srcRect xmlns:a="http://schemas.openxmlformats.org/drawingml/2006/main" l="0" t="3266" r="0" b="32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43325" y="1809750"/>
            <a:ext cx="2095500" cy="4238625"/>
          </a:xfrm>
          <a:prstGeom xmlns:a="http://schemas.openxmlformats.org/drawingml/2006/main" prst="roundRect">
            <a:avLst>
              <a:gd name="adj" fmla="val 5455"/>
            </a:avLst>
          </a:prstGeom>
        </p:spPr>
      </p:pic>
      <p:sp>
        <p:nvSpPr>
          <p:cNvPr id="12" name="sp-menu-1-circle">
            <a:extLst xmlns:a="http://schemas.openxmlformats.org/drawingml/2006/main">
              <a:ext uri="{FF2B5EF4-FFF2-40B4-BE49-F238E27FC236}">
                <a16:creationId xmlns:a16="http://schemas.microsoft.com/office/drawing/2014/main" id="{17E4BF93-23B4-47D6-B4A1-1ED7A6B0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668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96D"/>
          </a:solidFill>
          <a:ln xmlns:a="http://schemas.openxmlformats.org/drawingml/2006/main" w="0">
            <a:solidFill>
              <a:srgbClr val="24496D"/>
            </a:solidFill>
            <a:prstDash val="solid"/>
          </a:ln>
        </p:spPr>
      </p:sp>
      <p:sp>
        <p:nvSpPr>
          <p:cNvPr id="13" name="sp-menu-1-number">
            <a:extLst xmlns:a="http://schemas.openxmlformats.org/drawingml/2006/main">
              <a:ext uri="{FF2B5EF4-FFF2-40B4-BE49-F238E27FC236}">
                <a16:creationId xmlns:a16="http://schemas.microsoft.com/office/drawing/2014/main" id="{42233FE4-E977-480E-8513-F24FED451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954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sp-menu-1-heading">
            <a:extLst xmlns:a="http://schemas.openxmlformats.org/drawingml/2006/main">
              <a:ext uri="{FF2B5EF4-FFF2-40B4-BE49-F238E27FC236}">
                <a16:creationId xmlns:a16="http://schemas.microsoft.com/office/drawing/2014/main" id="{B7C99D57-43A4-476F-A506-B364C463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478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4496D"/>
                </a:solidFill>
              </a:defRPr>
            </a:pPr>
            <a:r>
              <a:rPr sz="1500" b="1">
                <a:solidFill>
                  <a:srgbClr val="24496D"/>
                </a:solidFill>
              </a:rPr>
              <a:t>背景を残す</a:t>
            </a:r>
          </a:p>
        </p:txBody>
      </p:sp>
      <p:sp>
        <p:nvSpPr>
          <p:cNvPr id="15" name="sp-menu-1-body">
            <a:extLst xmlns:a="http://schemas.openxmlformats.org/drawingml/2006/main">
              <a:ext uri="{FF2B5EF4-FFF2-40B4-BE49-F238E27FC236}">
                <a16:creationId xmlns:a16="http://schemas.microsoft.com/office/drawing/2014/main" id="{E2196B3B-D254-4B4B-BD92-37E96FDBC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71675"/>
            <a:ext cx="409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24272D"/>
                </a:solidFill>
              </a:defRPr>
            </a:pPr>
            <a:r>
              <a:rPr sz="1200">
                <a:solidFill>
                  <a:srgbClr val="24272D"/>
                </a:solidFill>
              </a:rPr>
              <a:t>現在位置の画面を残したまま、必要な操作だけを重ねて表示。</a:t>
            </a:r>
          </a:p>
        </p:txBody>
      </p:sp>
      <p:sp>
        <p:nvSpPr>
          <p:cNvPr id="16" name="sp-menu-2-circle">
            <a:extLst xmlns:a="http://schemas.openxmlformats.org/drawingml/2006/main">
              <a:ext uri="{FF2B5EF4-FFF2-40B4-BE49-F238E27FC236}">
                <a16:creationId xmlns:a16="http://schemas.microsoft.com/office/drawing/2014/main" id="{12AD0ECC-99A0-444F-9618-3F85EB86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003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96D"/>
          </a:solidFill>
          <a:ln xmlns:a="http://schemas.openxmlformats.org/drawingml/2006/main" w="0">
            <a:solidFill>
              <a:srgbClr val="24496D"/>
            </a:solidFill>
            <a:prstDash val="solid"/>
          </a:ln>
        </p:spPr>
      </p:sp>
      <p:sp>
        <p:nvSpPr>
          <p:cNvPr id="17" name="sp-menu-2-number">
            <a:extLst xmlns:a="http://schemas.openxmlformats.org/drawingml/2006/main">
              <a:ext uri="{FF2B5EF4-FFF2-40B4-BE49-F238E27FC236}">
                <a16:creationId xmlns:a16="http://schemas.microsoft.com/office/drawing/2014/main" id="{F55665E0-35F3-45FE-B6E2-D9210147B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289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sp-menu-2-heading">
            <a:extLst xmlns:a="http://schemas.openxmlformats.org/drawingml/2006/main">
              <a:ext uri="{FF2B5EF4-FFF2-40B4-BE49-F238E27FC236}">
                <a16:creationId xmlns:a16="http://schemas.microsoft.com/office/drawing/2014/main" id="{12A1B6A7-5E46-4F46-AA48-2A6E5F98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813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4496D"/>
                </a:solidFill>
              </a:defRPr>
            </a:pPr>
            <a:r>
              <a:rPr sz="1500" b="1">
                <a:solidFill>
                  <a:srgbClr val="24496D"/>
                </a:solidFill>
              </a:rPr>
              <a:t>項目名を具体化</a:t>
            </a:r>
          </a:p>
        </p:txBody>
      </p:sp>
      <p:sp>
        <p:nvSpPr>
          <p:cNvPr id="19" name="sp-menu-2-body">
            <a:extLst xmlns:a="http://schemas.openxmlformats.org/drawingml/2006/main">
              <a:ext uri="{FF2B5EF4-FFF2-40B4-BE49-F238E27FC236}">
                <a16:creationId xmlns:a16="http://schemas.microsoft.com/office/drawing/2014/main" id="{BF0DA118-1C0C-4440-A9D9-13082487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05175"/>
            <a:ext cx="409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24272D"/>
                </a:solidFill>
              </a:defRPr>
            </a:pPr>
            <a:r>
              <a:rPr sz="1200">
                <a:solidFill>
                  <a:srgbClr val="24272D"/>
                </a:solidFill>
              </a:rPr>
              <a:t>「店舗一覧」「キャスト一覧」を追記し、移動先を予測しやすくする。</a:t>
            </a:r>
          </a:p>
        </p:txBody>
      </p:sp>
      <p:sp>
        <p:nvSpPr>
          <p:cNvPr id="20" name="sp-menu-3-circle">
            <a:extLst xmlns:a="http://schemas.openxmlformats.org/drawingml/2006/main">
              <a:ext uri="{FF2B5EF4-FFF2-40B4-BE49-F238E27FC236}">
                <a16:creationId xmlns:a16="http://schemas.microsoft.com/office/drawing/2014/main" id="{0656D20A-4633-4C88-9F92-A5BF9ED0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338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96D"/>
          </a:solidFill>
          <a:ln xmlns:a="http://schemas.openxmlformats.org/drawingml/2006/main" w="0">
            <a:solidFill>
              <a:srgbClr val="24496D"/>
            </a:solidFill>
            <a:prstDash val="solid"/>
          </a:ln>
        </p:spPr>
      </p:sp>
      <p:sp>
        <p:nvSpPr>
          <p:cNvPr id="21" name="sp-menu-3-number">
            <a:extLst xmlns:a="http://schemas.openxmlformats.org/drawingml/2006/main">
              <a:ext uri="{FF2B5EF4-FFF2-40B4-BE49-F238E27FC236}">
                <a16:creationId xmlns:a16="http://schemas.microsoft.com/office/drawing/2014/main" id="{1DAEB396-A153-4E1D-8ED0-C846BA6C0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624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sp-menu-3-heading">
            <a:extLst xmlns:a="http://schemas.openxmlformats.org/drawingml/2006/main">
              <a:ext uri="{FF2B5EF4-FFF2-40B4-BE49-F238E27FC236}">
                <a16:creationId xmlns:a16="http://schemas.microsoft.com/office/drawing/2014/main" id="{84A7D8F5-3343-4197-BAD0-BBA45EB3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3148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4496D"/>
                </a:solidFill>
              </a:defRPr>
            </a:pPr>
            <a:r>
              <a:rPr sz="1500" b="1">
                <a:solidFill>
                  <a:srgbClr val="24496D"/>
                </a:solidFill>
              </a:rPr>
              <a:t>階層を一か所へ</a:t>
            </a:r>
          </a:p>
        </p:txBody>
      </p:sp>
      <p:sp>
        <p:nvSpPr>
          <p:cNvPr id="23" name="sp-menu-3-body">
            <a:extLst xmlns:a="http://schemas.openxmlformats.org/drawingml/2006/main">
              <a:ext uri="{FF2B5EF4-FFF2-40B4-BE49-F238E27FC236}">
                <a16:creationId xmlns:a16="http://schemas.microsoft.com/office/drawing/2014/main" id="{E4B91D16-6B91-41CB-846A-997CE2B1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638675"/>
            <a:ext cx="409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24272D"/>
                </a:solidFill>
              </a:defRPr>
            </a:pPr>
            <a:r>
              <a:rPr sz="1200">
                <a:solidFill>
                  <a:srgbClr val="24272D"/>
                </a:solidFill>
              </a:rPr>
              <a:t>給仕予定と通販サブメニューを同じ操作領域に統合。</a:t>
            </a:r>
          </a:p>
        </p:txBody>
      </p:sp>
    </p:spTree>
    <p:extLst>
      <p:ext uri="{BB962C8B-B14F-4D97-AF65-F5344CB8AC3E}">
        <p14:creationId xmlns:p14="http://schemas.microsoft.com/office/powerpoint/2010/main" val="209570893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406E5CE6-5FCC-49DE-881C-C6AC690E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" name="deck-label">
            <a:extLst xmlns:a="http://schemas.openxmlformats.org/drawingml/2006/main">
              <a:ext uri="{FF2B5EF4-FFF2-40B4-BE49-F238E27FC236}">
                <a16:creationId xmlns:a16="http://schemas.microsoft.com/office/drawing/2014/main" id="{4104F458-BA14-428B-AF0D-04BFE09DB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19075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858585"/>
                </a:solidFill>
              </a:defRPr>
            </a:pPr>
            <a:r>
              <a:rPr sz="1200">
                <a:solidFill>
                  <a:srgbClr val="858585"/>
                </a:solidFill>
              </a:rPr>
              <a:t>milk planet公式サイト アップデート提案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F61CA28-D4B3-42A3-AEEC-28BF1AD9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53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24272D"/>
                </a:solidFill>
              </a:defRPr>
            </a:pPr>
            <a:r>
              <a:rPr sz="2700" b="1">
                <a:solidFill>
                  <a:srgbClr val="24272D"/>
                </a:solidFill>
              </a:rPr>
              <a:t>SP実画面：給仕予定と通販を縦画面で完結</a:t>
            </a:r>
          </a:p>
        </p:txBody>
      </p:sp>
      <p:sp>
        <p:nvSpPr>
          <p:cNvPr id="4" name="confidential">
            <a:extLst xmlns:a="http://schemas.openxmlformats.org/drawingml/2006/main">
              <a:ext uri="{FF2B5EF4-FFF2-40B4-BE49-F238E27FC236}">
                <a16:creationId xmlns:a16="http://schemas.microsoft.com/office/drawing/2014/main" id="{FB01D83C-D2F2-4503-96DC-9FD500086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484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858585"/>
                </a:solidFill>
              </a:defRPr>
            </a:pPr>
            <a:r>
              <a:rPr sz="1050">
                <a:solidFill>
                  <a:srgbClr val="858585"/>
                </a:solidFill>
              </a:rPr>
              <a:t>Confidential</a:t>
            </a:r>
          </a:p>
        </p:txBody>
      </p:sp>
      <p:sp>
        <p:nvSpPr>
          <p:cNvPr id="5" name="page-marker">
            <a:extLst xmlns:a="http://schemas.openxmlformats.org/drawingml/2006/main">
              <a:ext uri="{FF2B5EF4-FFF2-40B4-BE49-F238E27FC236}">
                <a16:creationId xmlns:a16="http://schemas.microsoft.com/office/drawing/2014/main" id="{4FB5688C-7B0F-4B87-A0C9-81B11777D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</a:defRPr>
            </a:pPr>
            <a:r>
              <a:rPr sz="1050">
                <a:solidFill>
                  <a:srgbClr val="858585"/>
                </a:solidFill>
              </a:rPr>
              <a:t>SP補足 3/3</a:t>
            </a:r>
          </a:p>
        </p:txBody>
      </p:sp>
      <p:sp>
        <p:nvSpPr>
          <p:cNvPr id="6" name="sp-schedule-label-bg">
            <a:extLst xmlns:a="http://schemas.openxmlformats.org/drawingml/2006/main">
              <a:ext uri="{FF2B5EF4-FFF2-40B4-BE49-F238E27FC236}">
                <a16:creationId xmlns:a16="http://schemas.microsoft.com/office/drawing/2014/main" id="{B14ADE2B-090F-426B-BCA9-498E8F698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62075"/>
            <a:ext cx="2381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6FF"/>
          </a:solidFill>
          <a:ln xmlns:a="http://schemas.openxmlformats.org/drawingml/2006/main" w="9525">
            <a:solidFill>
              <a:srgbClr val="EAF6FF"/>
            </a:solidFill>
            <a:prstDash val="solid"/>
          </a:ln>
        </p:spPr>
      </p:sp>
      <p:sp>
        <p:nvSpPr>
          <p:cNvPr id="7" name="sp-schedule-label">
            <a:extLst xmlns:a="http://schemas.openxmlformats.org/drawingml/2006/main">
              <a:ext uri="{FF2B5EF4-FFF2-40B4-BE49-F238E27FC236}">
                <a16:creationId xmlns:a16="http://schemas.microsoft.com/office/drawing/2014/main" id="{E7DADCBD-7C3F-41C4-875A-A89F7C7FC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620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4496D"/>
                </a:solidFill>
              </a:defRPr>
            </a:pPr>
            <a:r>
              <a:rPr sz="1200" b="1">
                <a:solidFill>
                  <a:srgbClr val="24496D"/>
                </a:solidFill>
              </a:rPr>
              <a:t>おきゅうじ よてい</a:t>
            </a:r>
          </a:p>
        </p:txBody>
      </p:sp>
      <p:sp>
        <p:nvSpPr>
          <p:cNvPr id="8" name="sp-base-label-bg">
            <a:extLst xmlns:a="http://schemas.openxmlformats.org/drawingml/2006/main">
              <a:ext uri="{FF2B5EF4-FFF2-40B4-BE49-F238E27FC236}">
                <a16:creationId xmlns:a16="http://schemas.microsoft.com/office/drawing/2014/main" id="{00E3005B-C329-4C05-9D65-795DAE16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362075"/>
            <a:ext cx="2381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6FF"/>
          </a:solidFill>
          <a:ln xmlns:a="http://schemas.openxmlformats.org/drawingml/2006/main" w="9525">
            <a:solidFill>
              <a:srgbClr val="EAF6FF"/>
            </a:solidFill>
            <a:prstDash val="solid"/>
          </a:ln>
        </p:spPr>
      </p:sp>
      <p:sp>
        <p:nvSpPr>
          <p:cNvPr id="9" name="sp-base-label">
            <a:extLst xmlns:a="http://schemas.openxmlformats.org/drawingml/2006/main">
              <a:ext uri="{FF2B5EF4-FFF2-40B4-BE49-F238E27FC236}">
                <a16:creationId xmlns:a16="http://schemas.microsoft.com/office/drawing/2014/main" id="{26550C2C-3210-4AB7-84D5-BA92545E2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3620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4496D"/>
                </a:solidFill>
              </a:defRPr>
            </a:pPr>
            <a:r>
              <a:rPr sz="1200" b="1">
                <a:solidFill>
                  <a:srgbClr val="24496D"/>
                </a:solidFill>
              </a:rPr>
              <a:t>えんかく つうはん</a:t>
            </a:r>
          </a:p>
        </p:txBody>
      </p:sp>
      <p:pic>
        <p:nvPicPr>
          <p:cNvPr id="36" name="図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9610262b8b4429"/>
          <a:srcRect xmlns:a="http://schemas.openxmlformats.org/drawingml/2006/main" l="0" t="3266" r="0" b="32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825" y="1809750"/>
            <a:ext cx="2095500" cy="4238625"/>
          </a:xfrm>
          <a:prstGeom xmlns:a="http://schemas.openxmlformats.org/drawingml/2006/main" prst="roundRect">
            <a:avLst>
              <a:gd name="adj" fmla="val 5455"/>
            </a:avLst>
          </a:prstGeom>
        </p:spPr>
      </p:pic>
      <p:pic>
        <p:nvPicPr>
          <p:cNvPr id="37" name="図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dd53a52ae7457e"/>
          <a:srcRect xmlns:a="http://schemas.openxmlformats.org/drawingml/2006/main" l="0" t="3266" r="0" b="32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43325" y="1809750"/>
            <a:ext cx="2095500" cy="4238625"/>
          </a:xfrm>
          <a:prstGeom xmlns:a="http://schemas.openxmlformats.org/drawingml/2006/main" prst="roundRect">
            <a:avLst>
              <a:gd name="adj" fmla="val 5455"/>
            </a:avLst>
          </a:prstGeom>
        </p:spPr>
      </p:pic>
      <p:sp>
        <p:nvSpPr>
          <p:cNvPr id="12" name="sp-flow-1-circle">
            <a:extLst xmlns:a="http://schemas.openxmlformats.org/drawingml/2006/main">
              <a:ext uri="{FF2B5EF4-FFF2-40B4-BE49-F238E27FC236}">
                <a16:creationId xmlns:a16="http://schemas.microsoft.com/office/drawing/2014/main" id="{078B0929-4294-4C9B-973E-972ABA2F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668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96D"/>
          </a:solidFill>
          <a:ln xmlns:a="http://schemas.openxmlformats.org/drawingml/2006/main" w="0">
            <a:solidFill>
              <a:srgbClr val="24496D"/>
            </a:solidFill>
            <a:prstDash val="solid"/>
          </a:ln>
        </p:spPr>
      </p:sp>
      <p:sp>
        <p:nvSpPr>
          <p:cNvPr id="13" name="sp-flow-1-number">
            <a:extLst xmlns:a="http://schemas.openxmlformats.org/drawingml/2006/main">
              <a:ext uri="{FF2B5EF4-FFF2-40B4-BE49-F238E27FC236}">
                <a16:creationId xmlns:a16="http://schemas.microsoft.com/office/drawing/2014/main" id="{C6020C77-ACA7-47C7-8BA4-091633FB2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954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sp-flow-1-heading">
            <a:extLst xmlns:a="http://schemas.openxmlformats.org/drawingml/2006/main">
              <a:ext uri="{FF2B5EF4-FFF2-40B4-BE49-F238E27FC236}">
                <a16:creationId xmlns:a16="http://schemas.microsoft.com/office/drawing/2014/main" id="{D0C4ADE6-180F-4EF1-B20F-555029A2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478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4496D"/>
                </a:solidFill>
              </a:defRPr>
            </a:pPr>
            <a:r>
              <a:rPr sz="1500" b="1">
                <a:solidFill>
                  <a:srgbClr val="24496D"/>
                </a:solidFill>
              </a:rPr>
              <a:t>予定表を一列化</a:t>
            </a:r>
          </a:p>
        </p:txBody>
      </p:sp>
      <p:sp>
        <p:nvSpPr>
          <p:cNvPr id="15" name="sp-flow-1-body">
            <a:extLst xmlns:a="http://schemas.openxmlformats.org/drawingml/2006/main">
              <a:ext uri="{FF2B5EF4-FFF2-40B4-BE49-F238E27FC236}">
                <a16:creationId xmlns:a16="http://schemas.microsoft.com/office/drawing/2014/main" id="{A33A3627-4FE4-4F13-9BCC-FD39C31F1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71675"/>
            <a:ext cx="409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24272D"/>
                </a:solidFill>
              </a:defRPr>
            </a:pPr>
            <a:r>
              <a:rPr sz="1200">
                <a:solidFill>
                  <a:srgbClr val="24272D"/>
                </a:solidFill>
              </a:rPr>
              <a:t>店舗カードを縦に並べ、狭い画面でも情報量を落とさず確認。</a:t>
            </a:r>
          </a:p>
        </p:txBody>
      </p:sp>
      <p:sp>
        <p:nvSpPr>
          <p:cNvPr id="16" name="sp-flow-2-circle">
            <a:extLst xmlns:a="http://schemas.openxmlformats.org/drawingml/2006/main">
              <a:ext uri="{FF2B5EF4-FFF2-40B4-BE49-F238E27FC236}">
                <a16:creationId xmlns:a16="http://schemas.microsoft.com/office/drawing/2014/main" id="{C7B090FF-1DE0-4826-80C2-4426A7896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003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96D"/>
          </a:solidFill>
          <a:ln xmlns:a="http://schemas.openxmlformats.org/drawingml/2006/main" w="0">
            <a:solidFill>
              <a:srgbClr val="24496D"/>
            </a:solidFill>
            <a:prstDash val="solid"/>
          </a:ln>
        </p:spPr>
      </p:sp>
      <p:sp>
        <p:nvSpPr>
          <p:cNvPr id="17" name="sp-flow-2-number">
            <a:extLst xmlns:a="http://schemas.openxmlformats.org/drawingml/2006/main">
              <a:ext uri="{FF2B5EF4-FFF2-40B4-BE49-F238E27FC236}">
                <a16:creationId xmlns:a16="http://schemas.microsoft.com/office/drawing/2014/main" id="{E9912570-2347-40F5-845B-816BAF2EF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289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sp-flow-2-heading">
            <a:extLst xmlns:a="http://schemas.openxmlformats.org/drawingml/2006/main">
              <a:ext uri="{FF2B5EF4-FFF2-40B4-BE49-F238E27FC236}">
                <a16:creationId xmlns:a16="http://schemas.microsoft.com/office/drawing/2014/main" id="{0D936928-EFC9-4223-ABA5-C594F570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813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4496D"/>
                </a:solidFill>
              </a:defRPr>
            </a:pPr>
            <a:r>
              <a:rPr sz="1500" b="1">
                <a:solidFill>
                  <a:srgbClr val="24496D"/>
                </a:solidFill>
              </a:rPr>
              <a:t>ブランドを直接選択</a:t>
            </a:r>
          </a:p>
        </p:txBody>
      </p:sp>
      <p:sp>
        <p:nvSpPr>
          <p:cNvPr id="19" name="sp-flow-2-body">
            <a:extLst xmlns:a="http://schemas.openxmlformats.org/drawingml/2006/main">
              <a:ext uri="{FF2B5EF4-FFF2-40B4-BE49-F238E27FC236}">
                <a16:creationId xmlns:a16="http://schemas.microsoft.com/office/drawing/2014/main" id="{342D1E05-A43A-4F8D-9E8E-DBD79C79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05175"/>
            <a:ext cx="409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24272D"/>
                </a:solidFill>
              </a:defRPr>
            </a:pPr>
            <a:r>
              <a:rPr sz="1200">
                <a:solidFill>
                  <a:srgbClr val="24272D"/>
                </a:solidFill>
              </a:rPr>
              <a:t>通販先を店舗名から選び、別ページを探索する操作を削減。</a:t>
            </a:r>
          </a:p>
        </p:txBody>
      </p:sp>
      <p:sp>
        <p:nvSpPr>
          <p:cNvPr id="20" name="sp-flow-3-circle">
            <a:extLst xmlns:a="http://schemas.openxmlformats.org/drawingml/2006/main">
              <a:ext uri="{FF2B5EF4-FFF2-40B4-BE49-F238E27FC236}">
                <a16:creationId xmlns:a16="http://schemas.microsoft.com/office/drawing/2014/main" id="{769CA1C2-8E31-46DF-9439-7D46CA7E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338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96D"/>
          </a:solidFill>
          <a:ln xmlns:a="http://schemas.openxmlformats.org/drawingml/2006/main" w="0">
            <a:solidFill>
              <a:srgbClr val="24496D"/>
            </a:solidFill>
            <a:prstDash val="solid"/>
          </a:ln>
        </p:spPr>
      </p:sp>
      <p:sp>
        <p:nvSpPr>
          <p:cNvPr id="21" name="sp-flow-3-number">
            <a:extLst xmlns:a="http://schemas.openxmlformats.org/drawingml/2006/main">
              <a:ext uri="{FF2B5EF4-FFF2-40B4-BE49-F238E27FC236}">
                <a16:creationId xmlns:a16="http://schemas.microsoft.com/office/drawing/2014/main" id="{8CC1B618-A661-4EAC-9DF2-F2C1F97E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624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sp-flow-3-heading">
            <a:extLst xmlns:a="http://schemas.openxmlformats.org/drawingml/2006/main">
              <a:ext uri="{FF2B5EF4-FFF2-40B4-BE49-F238E27FC236}">
                <a16:creationId xmlns:a16="http://schemas.microsoft.com/office/drawing/2014/main" id="{29B1E2BE-921F-4872-8965-3ECD335FA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3148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4496D"/>
                </a:solidFill>
              </a:defRPr>
            </a:pPr>
            <a:r>
              <a:rPr sz="1500" b="1">
                <a:solidFill>
                  <a:srgbClr val="24496D"/>
                </a:solidFill>
              </a:rPr>
              <a:t>同じメニュー操作</a:t>
            </a:r>
          </a:p>
        </p:txBody>
      </p:sp>
      <p:sp>
        <p:nvSpPr>
          <p:cNvPr id="23" name="sp-flow-3-body">
            <a:extLst xmlns:a="http://schemas.openxmlformats.org/drawingml/2006/main">
              <a:ext uri="{FF2B5EF4-FFF2-40B4-BE49-F238E27FC236}">
                <a16:creationId xmlns:a16="http://schemas.microsoft.com/office/drawing/2014/main" id="{44EB9DA2-CBD2-4FBA-B5AF-8C434FBD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638675"/>
            <a:ext cx="409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24272D"/>
                </a:solidFill>
              </a:defRPr>
            </a:pPr>
            <a:r>
              <a:rPr sz="1200">
                <a:solidFill>
                  <a:srgbClr val="24272D"/>
                </a:solidFill>
              </a:rPr>
              <a:t>PCとSPで入口・項目名・階層を共通化し、学習負荷を抑える。</a:t>
            </a:r>
          </a:p>
        </p:txBody>
      </p:sp>
    </p:spTree>
    <p:extLst>
      <p:ext uri="{BB962C8B-B14F-4D97-AF65-F5344CB8AC3E}">
        <p14:creationId xmlns:p14="http://schemas.microsoft.com/office/powerpoint/2010/main" val="2049378367"/>
      </p:ext>
    </p:extLst>
  </p:cSld>
</p:sld>
</file>

<file path=ppt/slides/slide1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65b0d29d1dc2426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036342467"/>
      </p:ext>
    </p:extLst>
  </p:cSld>
</p:sld>
</file>

<file path=ppt/slides/slide1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58ce3c207184c2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717063878"/>
      </p:ext>
    </p:extLst>
  </p:cSld>
</p:sld>
</file>

<file path=ppt/slides/slide1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837328934404cb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542988158"/>
      </p:ext>
    </p:extLst>
  </p:cSld>
</p:sld>
</file>

<file path=ppt/slides/slide1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6c0705dba55f458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671257162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ADFD8754-4E7D-4916-9936-2AD3F456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" name="deck-label">
            <a:extLst xmlns:a="http://schemas.openxmlformats.org/drawingml/2006/main">
              <a:ext uri="{FF2B5EF4-FFF2-40B4-BE49-F238E27FC236}">
                <a16:creationId xmlns:a16="http://schemas.microsoft.com/office/drawing/2014/main" id="{1C249647-ABD9-4DBE-B09C-67B13AEE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19075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858585"/>
                </a:solidFill>
              </a:defRPr>
            </a:pPr>
            <a:r>
              <a:rPr sz="1200">
                <a:solidFill>
                  <a:srgbClr val="858585"/>
                </a:solidFill>
              </a:rPr>
              <a:t>milk planet公式サイト アップデート提案｜Appendix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7510860-64C4-41A2-BC2D-F4300014D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53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24272D"/>
                </a:solidFill>
              </a:defRPr>
            </a:pPr>
            <a:r>
              <a:rPr sz="2700" b="1">
                <a:solidFill>
                  <a:srgbClr val="24272D"/>
                </a:solidFill>
              </a:rPr>
              <a:t>本文外の差分①：ナビゲーション文言と支援情報</a:t>
            </a:r>
          </a:p>
        </p:txBody>
      </p:sp>
      <p:sp>
        <p:nvSpPr>
          <p:cNvPr id="4" name="confidential">
            <a:extLst xmlns:a="http://schemas.openxmlformats.org/drawingml/2006/main">
              <a:ext uri="{FF2B5EF4-FFF2-40B4-BE49-F238E27FC236}">
                <a16:creationId xmlns:a16="http://schemas.microsoft.com/office/drawing/2014/main" id="{4BCFFBD9-1D69-43B3-844A-97F91222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484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858585"/>
                </a:solidFill>
              </a:defRPr>
            </a:pPr>
            <a:r>
              <a:rPr sz="1050">
                <a:solidFill>
                  <a:srgbClr val="858585"/>
                </a:solidFill>
              </a:rPr>
              <a:t>Confidential</a:t>
            </a:r>
          </a:p>
        </p:txBody>
      </p:sp>
      <p:sp>
        <p:nvSpPr>
          <p:cNvPr id="5" name="page-marker">
            <a:extLst xmlns:a="http://schemas.openxmlformats.org/drawingml/2006/main">
              <a:ext uri="{FF2B5EF4-FFF2-40B4-BE49-F238E27FC236}">
                <a16:creationId xmlns:a16="http://schemas.microsoft.com/office/drawing/2014/main" id="{277677C1-9AFB-4F07-B9DC-91E8AB3F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</a:defRPr>
            </a:pPr>
            <a:r>
              <a:rPr sz="1050">
                <a:solidFill>
                  <a:srgbClr val="858585"/>
                </a:solidFill>
              </a:rPr>
              <a:t>Appendix 1/2</a:t>
            </a:r>
          </a:p>
        </p:txBody>
      </p:sp>
      <p:sp>
        <p:nvSpPr>
          <p:cNvPr id="6" name="head-0-box">
            <a:extLst xmlns:a="http://schemas.openxmlformats.org/drawingml/2006/main">
              <a:ext uri="{FF2B5EF4-FFF2-40B4-BE49-F238E27FC236}">
                <a16:creationId xmlns:a16="http://schemas.microsoft.com/office/drawing/2014/main" id="{5EECEC48-AD2C-45A4-832C-40CA5639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96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head-0">
            <a:extLst xmlns:a="http://schemas.openxmlformats.org/drawingml/2006/main">
              <a:ext uri="{FF2B5EF4-FFF2-40B4-BE49-F238E27FC236}">
                <a16:creationId xmlns:a16="http://schemas.microsoft.com/office/drawing/2014/main" id="{C1E446F3-88C5-45A3-B711-B9735768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0495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項目</a:t>
            </a:r>
          </a:p>
        </p:txBody>
      </p:sp>
      <p:sp>
        <p:nvSpPr>
          <p:cNvPr id="8" name="head-1-box">
            <a:extLst xmlns:a="http://schemas.openxmlformats.org/drawingml/2006/main">
              <a:ext uri="{FF2B5EF4-FFF2-40B4-BE49-F238E27FC236}">
                <a16:creationId xmlns:a16="http://schemas.microsoft.com/office/drawing/2014/main" id="{A047A844-E44A-4AC4-9F59-523C62F6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42875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96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head-1">
            <a:extLst xmlns:a="http://schemas.openxmlformats.org/drawingml/2006/main">
              <a:ext uri="{FF2B5EF4-FFF2-40B4-BE49-F238E27FC236}">
                <a16:creationId xmlns:a16="http://schemas.microsoft.com/office/drawing/2014/main" id="{3467E37D-4F42-4275-8C50-2B99544F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0495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現行</a:t>
            </a:r>
          </a:p>
        </p:txBody>
      </p:sp>
      <p:sp>
        <p:nvSpPr>
          <p:cNvPr id="10" name="head-2-box">
            <a:extLst xmlns:a="http://schemas.openxmlformats.org/drawingml/2006/main">
              <a:ext uri="{FF2B5EF4-FFF2-40B4-BE49-F238E27FC236}">
                <a16:creationId xmlns:a16="http://schemas.microsoft.com/office/drawing/2014/main" id="{7E7E0428-127A-43A4-969A-3DD6F4B8C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428750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96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head-2">
            <a:extLst xmlns:a="http://schemas.openxmlformats.org/drawingml/2006/main">
              <a:ext uri="{FF2B5EF4-FFF2-40B4-BE49-F238E27FC236}">
                <a16:creationId xmlns:a16="http://schemas.microsoft.com/office/drawing/2014/main" id="{5872AC00-ED63-40C8-9381-98893DABC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04950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branch5</a:t>
            </a:r>
          </a:p>
        </p:txBody>
      </p:sp>
      <p:sp>
        <p:nvSpPr>
          <p:cNvPr id="12" name="head-3-box">
            <a:extLst xmlns:a="http://schemas.openxmlformats.org/drawingml/2006/main">
              <a:ext uri="{FF2B5EF4-FFF2-40B4-BE49-F238E27FC236}">
                <a16:creationId xmlns:a16="http://schemas.microsoft.com/office/drawing/2014/main" id="{71FE5393-6C7E-420B-8E95-51296C19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428750"/>
            <a:ext cx="1752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96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head-3">
            <a:extLst xmlns:a="http://schemas.openxmlformats.org/drawingml/2006/main">
              <a:ext uri="{FF2B5EF4-FFF2-40B4-BE49-F238E27FC236}">
                <a16:creationId xmlns:a16="http://schemas.microsoft.com/office/drawing/2014/main" id="{F0887C14-2675-449A-99FF-5C574674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5049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差分の意味</a:t>
            </a:r>
          </a:p>
        </p:txBody>
      </p:sp>
      <p:sp>
        <p:nvSpPr>
          <p:cNvPr id="14" name="row-0-0-box">
            <a:extLst xmlns:a="http://schemas.openxmlformats.org/drawingml/2006/main">
              <a:ext uri="{FF2B5EF4-FFF2-40B4-BE49-F238E27FC236}">
                <a16:creationId xmlns:a16="http://schemas.microsoft.com/office/drawing/2014/main" id="{B6980F50-108C-4AA9-8303-3FD05231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2880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row-0-0">
            <a:extLst xmlns:a="http://schemas.openxmlformats.org/drawingml/2006/main">
              <a:ext uri="{FF2B5EF4-FFF2-40B4-BE49-F238E27FC236}">
                <a16:creationId xmlns:a16="http://schemas.microsoft.com/office/drawing/2014/main" id="{79771ADF-C5E0-4732-B55C-C91F9B9F0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24272D"/>
                </a:solidFill>
              </a:defRPr>
            </a:pPr>
            <a:r>
              <a:rPr sz="1200" b="0">
                <a:solidFill>
                  <a:srgbClr val="24272D"/>
                </a:solidFill>
              </a:rPr>
              <a:t>店舗</a:t>
            </a:r>
          </a:p>
        </p:txBody>
      </p:sp>
      <p:sp>
        <p:nvSpPr>
          <p:cNvPr id="16" name="row-0-1-box">
            <a:extLst xmlns:a="http://schemas.openxmlformats.org/drawingml/2006/main">
              <a:ext uri="{FF2B5EF4-FFF2-40B4-BE49-F238E27FC236}">
                <a16:creationId xmlns:a16="http://schemas.microsoft.com/office/drawing/2014/main" id="{EAE2D4C7-2D4E-4012-A4AA-A7C1BEDF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28800"/>
            <a:ext cx="3143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row-0-1">
            <a:extLst xmlns:a="http://schemas.openxmlformats.org/drawingml/2006/main">
              <a:ext uri="{FF2B5EF4-FFF2-40B4-BE49-F238E27FC236}">
                <a16:creationId xmlns:a16="http://schemas.microsoft.com/office/drawing/2014/main" id="{B409B32D-153B-4A29-A04A-99DCE61C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905000"/>
            <a:ext cx="2914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24272D"/>
                </a:solidFill>
              </a:defRPr>
            </a:pPr>
            <a:r>
              <a:rPr sz="1200" b="0">
                <a:solidFill>
                  <a:srgbClr val="24272D"/>
                </a:solidFill>
              </a:rPr>
              <a:t>わくせい</a:t>
            </a:r>
          </a:p>
        </p:txBody>
      </p:sp>
      <p:sp>
        <p:nvSpPr>
          <p:cNvPr id="18" name="row-0-2-box">
            <a:extLst xmlns:a="http://schemas.openxmlformats.org/drawingml/2006/main">
              <a:ext uri="{FF2B5EF4-FFF2-40B4-BE49-F238E27FC236}">
                <a16:creationId xmlns:a16="http://schemas.microsoft.com/office/drawing/2014/main" id="{2B8D4E22-E0EE-4F23-81C0-45555699A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28800"/>
            <a:ext cx="3429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row-0-2">
            <a:extLst xmlns:a="http://schemas.openxmlformats.org/drawingml/2006/main">
              <a:ext uri="{FF2B5EF4-FFF2-40B4-BE49-F238E27FC236}">
                <a16:creationId xmlns:a16="http://schemas.microsoft.com/office/drawing/2014/main" id="{9A48B3D7-61F4-4EF8-8D4E-D8C3BF1D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05000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4496D"/>
                </a:solidFill>
              </a:defRPr>
            </a:pPr>
            <a:r>
              <a:rPr sz="1200" b="1">
                <a:solidFill>
                  <a:srgbClr val="24496D"/>
                </a:solidFill>
              </a:rPr>
              <a:t>わくせい｜店舗一覧</a:t>
            </a:r>
          </a:p>
        </p:txBody>
      </p:sp>
      <p:sp>
        <p:nvSpPr>
          <p:cNvPr id="20" name="row-0-3-box">
            <a:extLst xmlns:a="http://schemas.openxmlformats.org/drawingml/2006/main">
              <a:ext uri="{FF2B5EF4-FFF2-40B4-BE49-F238E27FC236}">
                <a16:creationId xmlns:a16="http://schemas.microsoft.com/office/drawing/2014/main" id="{3FC51381-D163-4DA1-8F12-1837A9CE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828800"/>
            <a:ext cx="1752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row-0-3">
            <a:extLst xmlns:a="http://schemas.openxmlformats.org/drawingml/2006/main">
              <a:ext uri="{FF2B5EF4-FFF2-40B4-BE49-F238E27FC236}">
                <a16:creationId xmlns:a16="http://schemas.microsoft.com/office/drawing/2014/main" id="{DB9BADDF-3C91-4975-B352-E3BBD8F92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0500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24272D"/>
                </a:solidFill>
              </a:defRPr>
            </a:pPr>
            <a:r>
              <a:rPr sz="1125" b="0">
                <a:solidFill>
                  <a:srgbClr val="24272D"/>
                </a:solidFill>
              </a:rPr>
              <a:t>遷移先を明示</a:t>
            </a:r>
          </a:p>
        </p:txBody>
      </p:sp>
      <p:sp>
        <p:nvSpPr>
          <p:cNvPr id="22" name="row-1-0-box">
            <a:extLst xmlns:a="http://schemas.openxmlformats.org/drawingml/2006/main">
              <a:ext uri="{FF2B5EF4-FFF2-40B4-BE49-F238E27FC236}">
                <a16:creationId xmlns:a16="http://schemas.microsoft.com/office/drawing/2014/main" id="{8B9DFB6E-05E4-461B-B771-96CB7ED6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row-1-0">
            <a:extLst xmlns:a="http://schemas.openxmlformats.org/drawingml/2006/main">
              <a:ext uri="{FF2B5EF4-FFF2-40B4-BE49-F238E27FC236}">
                <a16:creationId xmlns:a16="http://schemas.microsoft.com/office/drawing/2014/main" id="{CD21FC35-BA0B-4D0F-B4F4-F39F9077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527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24272D"/>
                </a:solidFill>
              </a:defRPr>
            </a:pPr>
            <a:r>
              <a:rPr sz="1200" b="0">
                <a:solidFill>
                  <a:srgbClr val="24272D"/>
                </a:solidFill>
              </a:rPr>
              <a:t>キャスト</a:t>
            </a:r>
          </a:p>
        </p:txBody>
      </p:sp>
      <p:sp>
        <p:nvSpPr>
          <p:cNvPr id="24" name="row-1-1-box">
            <a:extLst xmlns:a="http://schemas.openxmlformats.org/drawingml/2006/main">
              <a:ext uri="{FF2B5EF4-FFF2-40B4-BE49-F238E27FC236}">
                <a16:creationId xmlns:a16="http://schemas.microsoft.com/office/drawing/2014/main" id="{766D4EAF-8C36-4985-8277-ABE4B846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476500"/>
            <a:ext cx="3143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row-1-1">
            <a:extLst xmlns:a="http://schemas.openxmlformats.org/drawingml/2006/main">
              <a:ext uri="{FF2B5EF4-FFF2-40B4-BE49-F238E27FC236}">
                <a16:creationId xmlns:a16="http://schemas.microsoft.com/office/drawing/2014/main" id="{34E08CB8-9F21-4CBF-8132-0E9368954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52700"/>
            <a:ext cx="2914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24272D"/>
                </a:solidFill>
              </a:defRPr>
            </a:pPr>
            <a:r>
              <a:rPr sz="1200" b="0">
                <a:solidFill>
                  <a:srgbClr val="24272D"/>
                </a:solidFill>
              </a:rPr>
              <a:t>きゃすと</a:t>
            </a:r>
          </a:p>
        </p:txBody>
      </p:sp>
      <p:sp>
        <p:nvSpPr>
          <p:cNvPr id="26" name="row-1-2-box">
            <a:extLst xmlns:a="http://schemas.openxmlformats.org/drawingml/2006/main">
              <a:ext uri="{FF2B5EF4-FFF2-40B4-BE49-F238E27FC236}">
                <a16:creationId xmlns:a16="http://schemas.microsoft.com/office/drawing/2014/main" id="{880095AF-B88E-43F1-8C38-8789623F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76500"/>
            <a:ext cx="3429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row-1-2">
            <a:extLst xmlns:a="http://schemas.openxmlformats.org/drawingml/2006/main">
              <a:ext uri="{FF2B5EF4-FFF2-40B4-BE49-F238E27FC236}">
                <a16:creationId xmlns:a16="http://schemas.microsoft.com/office/drawing/2014/main" id="{B4B94E84-2DA5-4840-BAAE-6D72ACD5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52700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4496D"/>
                </a:solidFill>
              </a:defRPr>
            </a:pPr>
            <a:r>
              <a:rPr sz="1200" b="1">
                <a:solidFill>
                  <a:srgbClr val="24496D"/>
                </a:solidFill>
              </a:rPr>
              <a:t>きゃすと｜キャスト一覧</a:t>
            </a:r>
          </a:p>
        </p:txBody>
      </p:sp>
      <p:sp>
        <p:nvSpPr>
          <p:cNvPr id="28" name="row-1-3-box">
            <a:extLst xmlns:a="http://schemas.openxmlformats.org/drawingml/2006/main">
              <a:ext uri="{FF2B5EF4-FFF2-40B4-BE49-F238E27FC236}">
                <a16:creationId xmlns:a16="http://schemas.microsoft.com/office/drawing/2014/main" id="{6AF6D686-810E-46D2-8A1B-D5D06EBE9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476500"/>
            <a:ext cx="1752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9" name="row-1-3">
            <a:extLst xmlns:a="http://schemas.openxmlformats.org/drawingml/2006/main">
              <a:ext uri="{FF2B5EF4-FFF2-40B4-BE49-F238E27FC236}">
                <a16:creationId xmlns:a16="http://schemas.microsoft.com/office/drawing/2014/main" id="{84F378D2-C8A7-4E51-8C28-9BDD5308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55270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24272D"/>
                </a:solidFill>
              </a:defRPr>
            </a:pPr>
            <a:r>
              <a:rPr sz="1125" b="0">
                <a:solidFill>
                  <a:srgbClr val="24272D"/>
                </a:solidFill>
              </a:rPr>
              <a:t>遷移先を明示</a:t>
            </a:r>
          </a:p>
        </p:txBody>
      </p:sp>
      <p:sp>
        <p:nvSpPr>
          <p:cNvPr id="30" name="row-2-0-box">
            <a:extLst xmlns:a="http://schemas.openxmlformats.org/drawingml/2006/main">
              <a:ext uri="{FF2B5EF4-FFF2-40B4-BE49-F238E27FC236}">
                <a16:creationId xmlns:a16="http://schemas.microsoft.com/office/drawing/2014/main" id="{40E48E53-1296-446D-B741-1C2002DF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2420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1" name="row-2-0">
            <a:extLst xmlns:a="http://schemas.openxmlformats.org/drawingml/2006/main">
              <a:ext uri="{FF2B5EF4-FFF2-40B4-BE49-F238E27FC236}">
                <a16:creationId xmlns:a16="http://schemas.microsoft.com/office/drawing/2014/main" id="{9B452857-CB35-4E95-9C2B-482869A5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24272D"/>
                </a:solidFill>
              </a:defRPr>
            </a:pPr>
            <a:r>
              <a:rPr sz="1200">
                <a:solidFill>
                  <a:srgbClr val="24272D"/>
                </a:solidFill>
              </a:rPr>
              <a:t>出勤</a:t>
            </a:r>
            <a:r>
              <a:rPr sz="1200" b="0">
                <a:solidFill>
                  <a:srgbClr val="24272D"/>
                </a:solidFill>
              </a:rPr>
              <a:t>予定</a:t>
            </a:r>
            <a:endParaRPr sz="1200" b="0">
              <a:solidFill>
                <a:srgbClr val="24272D"/>
              </a:solidFill>
            </a:endParaRPr>
          </a:p>
        </p:txBody>
      </p:sp>
      <p:sp>
        <p:nvSpPr>
          <p:cNvPr id="32" name="row-2-1-box">
            <a:extLst xmlns:a="http://schemas.openxmlformats.org/drawingml/2006/main">
              <a:ext uri="{FF2B5EF4-FFF2-40B4-BE49-F238E27FC236}">
                <a16:creationId xmlns:a16="http://schemas.microsoft.com/office/drawing/2014/main" id="{F3478343-4836-4AC2-9F4C-6C27C65E3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124200"/>
            <a:ext cx="3143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3" name="row-2-1">
            <a:extLst xmlns:a="http://schemas.openxmlformats.org/drawingml/2006/main">
              <a:ext uri="{FF2B5EF4-FFF2-40B4-BE49-F238E27FC236}">
                <a16:creationId xmlns:a16="http://schemas.microsoft.com/office/drawing/2014/main" id="{6C7D271D-D6B3-42C0-A270-DBFBE0852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00400"/>
            <a:ext cx="2914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24272D"/>
                </a:solidFill>
              </a:defRPr>
            </a:pPr>
            <a:r>
              <a:rPr sz="1200" b="0">
                <a:solidFill>
                  <a:srgbClr val="24272D"/>
                </a:solidFill>
              </a:rPr>
              <a:t>ナビ項目なし</a:t>
            </a:r>
          </a:p>
        </p:txBody>
      </p:sp>
      <p:sp>
        <p:nvSpPr>
          <p:cNvPr id="34" name="row-2-2-box">
            <a:extLst xmlns:a="http://schemas.openxmlformats.org/drawingml/2006/main">
              <a:ext uri="{FF2B5EF4-FFF2-40B4-BE49-F238E27FC236}">
                <a16:creationId xmlns:a16="http://schemas.microsoft.com/office/drawing/2014/main" id="{4E0E747C-B945-47E8-AEE1-C72C0DD5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24200"/>
            <a:ext cx="3429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row-2-2">
            <a:extLst xmlns:a="http://schemas.openxmlformats.org/drawingml/2006/main">
              <a:ext uri="{FF2B5EF4-FFF2-40B4-BE49-F238E27FC236}">
                <a16:creationId xmlns:a16="http://schemas.microsoft.com/office/drawing/2014/main" id="{20E770A2-4700-44BB-B222-DEDF6451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00400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4496D"/>
                </a:solidFill>
              </a:defRPr>
            </a:pPr>
            <a:r>
              <a:rPr sz="1200" b="1">
                <a:solidFill>
                  <a:srgbClr val="24496D"/>
                </a:solidFill>
              </a:rPr>
              <a:t>おきゅうじ よてい</a:t>
            </a:r>
          </a:p>
        </p:txBody>
      </p:sp>
      <p:sp>
        <p:nvSpPr>
          <p:cNvPr id="36" name="row-2-3-box">
            <a:extLst xmlns:a="http://schemas.openxmlformats.org/drawingml/2006/main">
              <a:ext uri="{FF2B5EF4-FFF2-40B4-BE49-F238E27FC236}">
                <a16:creationId xmlns:a16="http://schemas.microsoft.com/office/drawing/2014/main" id="{FBCE3584-5CB7-48F9-83E2-D86DB2AB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124200"/>
            <a:ext cx="1752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row-2-3">
            <a:extLst xmlns:a="http://schemas.openxmlformats.org/drawingml/2006/main">
              <a:ext uri="{FF2B5EF4-FFF2-40B4-BE49-F238E27FC236}">
                <a16:creationId xmlns:a16="http://schemas.microsoft.com/office/drawing/2014/main" id="{6DBE742C-13DB-4BDC-A844-B7EA55CE2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0040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24272D"/>
                </a:solidFill>
              </a:defRPr>
            </a:pPr>
            <a:r>
              <a:rPr sz="1125" b="0">
                <a:solidFill>
                  <a:srgbClr val="24272D"/>
                </a:solidFill>
              </a:rPr>
              <a:t>独立入口を追加</a:t>
            </a:r>
          </a:p>
        </p:txBody>
      </p:sp>
      <p:sp>
        <p:nvSpPr>
          <p:cNvPr id="38" name="row-3-0-box">
            <a:extLst xmlns:a="http://schemas.openxmlformats.org/drawingml/2006/main">
              <a:ext uri="{FF2B5EF4-FFF2-40B4-BE49-F238E27FC236}">
                <a16:creationId xmlns:a16="http://schemas.microsoft.com/office/drawing/2014/main" id="{315D8B88-509B-4937-9320-B0CC8F082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row-3-0">
            <a:extLst xmlns:a="http://schemas.openxmlformats.org/drawingml/2006/main">
              <a:ext uri="{FF2B5EF4-FFF2-40B4-BE49-F238E27FC236}">
                <a16:creationId xmlns:a16="http://schemas.microsoft.com/office/drawing/2014/main" id="{59F5040C-440A-4458-978C-25C48FEEF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481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24272D"/>
                </a:solidFill>
              </a:defRPr>
            </a:pPr>
            <a:r>
              <a:rPr sz="1200" b="0">
                <a:solidFill>
                  <a:srgbClr val="24272D"/>
                </a:solidFill>
              </a:rPr>
              <a:t>遠隔</a:t>
            </a:r>
            <a:endParaRPr sz="1200" b="0">
              <a:solidFill>
                <a:srgbClr val="24272D"/>
              </a:solidFill>
            </a:endParaRPr>
          </a:p>
        </p:txBody>
      </p:sp>
      <p:sp>
        <p:nvSpPr>
          <p:cNvPr id="40" name="row-3-1-box">
            <a:extLst xmlns:a="http://schemas.openxmlformats.org/drawingml/2006/main">
              <a:ext uri="{FF2B5EF4-FFF2-40B4-BE49-F238E27FC236}">
                <a16:creationId xmlns:a16="http://schemas.microsoft.com/office/drawing/2014/main" id="{1AEF4DE6-9A3C-492B-A14A-29E885DE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771900"/>
            <a:ext cx="3143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1" name="row-3-1">
            <a:extLst xmlns:a="http://schemas.openxmlformats.org/drawingml/2006/main">
              <a:ext uri="{FF2B5EF4-FFF2-40B4-BE49-F238E27FC236}">
                <a16:creationId xmlns:a16="http://schemas.microsoft.com/office/drawing/2014/main" id="{DD50E296-F8D5-4909-B4B7-EC53F73CB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848100"/>
            <a:ext cx="2914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24272D"/>
                </a:solidFill>
              </a:defRPr>
            </a:pPr>
            <a:r>
              <a:rPr sz="1200" b="0">
                <a:solidFill>
                  <a:srgbClr val="24272D"/>
                </a:solidFill>
              </a:rPr>
              <a:t>共通ナビなし</a:t>
            </a:r>
          </a:p>
        </p:txBody>
      </p:sp>
      <p:sp>
        <p:nvSpPr>
          <p:cNvPr id="42" name="row-3-2-box">
            <a:extLst xmlns:a="http://schemas.openxmlformats.org/drawingml/2006/main">
              <a:ext uri="{FF2B5EF4-FFF2-40B4-BE49-F238E27FC236}">
                <a16:creationId xmlns:a16="http://schemas.microsoft.com/office/drawing/2014/main" id="{53B86EFA-41D1-4D2D-B6E3-2687429C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71900"/>
            <a:ext cx="3429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3" name="row-3-2">
            <a:extLst xmlns:a="http://schemas.openxmlformats.org/drawingml/2006/main">
              <a:ext uri="{FF2B5EF4-FFF2-40B4-BE49-F238E27FC236}">
                <a16:creationId xmlns:a16="http://schemas.microsoft.com/office/drawing/2014/main" id="{D14EC6FE-59DD-4BD7-8092-BC093E82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48100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4496D"/>
                </a:solidFill>
              </a:defRPr>
            </a:pPr>
            <a:r>
              <a:rPr sz="1200" b="1">
                <a:solidFill>
                  <a:srgbClr val="24496D"/>
                </a:solidFill>
              </a:rPr>
              <a:t>えんかく</a:t>
            </a:r>
            <a:r>
              <a:rPr sz="1200" b="1">
                <a:solidFill>
                  <a:srgbClr val="24496D"/>
                </a:solidFill>
              </a:rPr>
              <a:t> つうはん＋7ブランド</a:t>
            </a:r>
          </a:p>
        </p:txBody>
      </p:sp>
      <p:sp>
        <p:nvSpPr>
          <p:cNvPr id="44" name="row-3-3-box">
            <a:extLst xmlns:a="http://schemas.openxmlformats.org/drawingml/2006/main">
              <a:ext uri="{FF2B5EF4-FFF2-40B4-BE49-F238E27FC236}">
                <a16:creationId xmlns:a16="http://schemas.microsoft.com/office/drawing/2014/main" id="{0D39A84B-C146-4DF7-A16F-C395832FC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771900"/>
            <a:ext cx="1752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5" name="row-3-3">
            <a:extLst xmlns:a="http://schemas.openxmlformats.org/drawingml/2006/main">
              <a:ext uri="{FF2B5EF4-FFF2-40B4-BE49-F238E27FC236}">
                <a16:creationId xmlns:a16="http://schemas.microsoft.com/office/drawing/2014/main" id="{C2B2E62D-A486-413A-A11B-7C2DE0F2E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84810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24272D"/>
                </a:solidFill>
              </a:defRPr>
            </a:pPr>
            <a:r>
              <a:rPr sz="1125" b="0">
                <a:solidFill>
                  <a:srgbClr val="24272D"/>
                </a:solidFill>
              </a:rPr>
              <a:t>階層選択を追加</a:t>
            </a:r>
          </a:p>
        </p:txBody>
      </p:sp>
      <p:sp>
        <p:nvSpPr>
          <p:cNvPr id="46" name="row-4-0-box">
            <a:extLst xmlns:a="http://schemas.openxmlformats.org/drawingml/2006/main">
              <a:ext uri="{FF2B5EF4-FFF2-40B4-BE49-F238E27FC236}">
                <a16:creationId xmlns:a16="http://schemas.microsoft.com/office/drawing/2014/main" id="{F8EFBA77-B854-487E-9FBF-49873F8D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7" name="row-4-0">
            <a:extLst xmlns:a="http://schemas.openxmlformats.org/drawingml/2006/main">
              <a:ext uri="{FF2B5EF4-FFF2-40B4-BE49-F238E27FC236}">
                <a16:creationId xmlns:a16="http://schemas.microsoft.com/office/drawing/2014/main" id="{7FB40EB2-A0EB-4ECA-928D-39152A6C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24272D"/>
                </a:solidFill>
              </a:defRPr>
            </a:pPr>
            <a:r>
              <a:rPr sz="1200" b="0">
                <a:solidFill>
                  <a:srgbClr val="24272D"/>
                </a:solidFill>
              </a:rPr>
              <a:t>メニューボタン</a:t>
            </a:r>
            <a:endParaRPr sz="1200" b="0">
              <a:solidFill>
                <a:srgbClr val="24272D"/>
              </a:solidFill>
            </a:endParaRPr>
          </a:p>
        </p:txBody>
      </p:sp>
      <p:sp>
        <p:nvSpPr>
          <p:cNvPr id="48" name="row-4-1-box">
            <a:extLst xmlns:a="http://schemas.openxmlformats.org/drawingml/2006/main">
              <a:ext uri="{FF2B5EF4-FFF2-40B4-BE49-F238E27FC236}">
                <a16:creationId xmlns:a16="http://schemas.microsoft.com/office/drawing/2014/main" id="{44D494D0-BD51-4048-882F-D809F19EF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419600"/>
            <a:ext cx="3143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9" name="row-4-1">
            <a:extLst xmlns:a="http://schemas.openxmlformats.org/drawingml/2006/main">
              <a:ext uri="{FF2B5EF4-FFF2-40B4-BE49-F238E27FC236}">
                <a16:creationId xmlns:a16="http://schemas.microsoft.com/office/drawing/2014/main" id="{53B8088A-5491-4C9C-B894-2269A412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495800"/>
            <a:ext cx="2914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24272D"/>
                </a:solidFill>
              </a:defRPr>
            </a:pPr>
            <a:r>
              <a:rPr sz="1200" b="0">
                <a:solidFill>
                  <a:srgbClr val="24272D"/>
                </a:solidFill>
              </a:rPr>
              <a:t>視覚アイコンのみ</a:t>
            </a:r>
          </a:p>
        </p:txBody>
      </p:sp>
      <p:sp>
        <p:nvSpPr>
          <p:cNvPr id="50" name="row-4-2-box">
            <a:extLst xmlns:a="http://schemas.openxmlformats.org/drawingml/2006/main">
              <a:ext uri="{FF2B5EF4-FFF2-40B4-BE49-F238E27FC236}">
                <a16:creationId xmlns:a16="http://schemas.microsoft.com/office/drawing/2014/main" id="{757B0544-E6A2-476E-95D7-9EFC9EDC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19600"/>
            <a:ext cx="3429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1" name="row-4-2">
            <a:extLst xmlns:a="http://schemas.openxmlformats.org/drawingml/2006/main">
              <a:ext uri="{FF2B5EF4-FFF2-40B4-BE49-F238E27FC236}">
                <a16:creationId xmlns:a16="http://schemas.microsoft.com/office/drawing/2014/main" id="{26938F40-2A52-491D-A3E9-3B06C941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95800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4496D"/>
                </a:solidFill>
              </a:defRPr>
            </a:pPr>
            <a:r>
              <a:rPr sz="1200" b="1">
                <a:solidFill>
                  <a:srgbClr val="24496D"/>
                </a:solidFill>
              </a:rPr>
              <a:t>aria-label「めにゅうを開く」</a:t>
            </a:r>
          </a:p>
        </p:txBody>
      </p:sp>
      <p:sp>
        <p:nvSpPr>
          <p:cNvPr id="52" name="row-4-3-box">
            <a:extLst xmlns:a="http://schemas.openxmlformats.org/drawingml/2006/main">
              <a:ext uri="{FF2B5EF4-FFF2-40B4-BE49-F238E27FC236}">
                <a16:creationId xmlns:a16="http://schemas.microsoft.com/office/drawing/2014/main" id="{0823929C-C1D0-46FF-8ED4-C1C91BB0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419600"/>
            <a:ext cx="1752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3" name="row-4-3">
            <a:extLst xmlns:a="http://schemas.openxmlformats.org/drawingml/2006/main">
              <a:ext uri="{FF2B5EF4-FFF2-40B4-BE49-F238E27FC236}">
                <a16:creationId xmlns:a16="http://schemas.microsoft.com/office/drawing/2014/main" id="{4DF52789-6E5B-4A34-8243-895B9D69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49580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24272D"/>
                </a:solidFill>
              </a:defRPr>
            </a:pPr>
            <a:r>
              <a:rPr sz="1125" b="0">
                <a:solidFill>
                  <a:srgbClr val="24272D"/>
                </a:solidFill>
              </a:rPr>
              <a:t>読み上げ情報を追加</a:t>
            </a:r>
          </a:p>
        </p:txBody>
      </p:sp>
      <p:sp>
        <p:nvSpPr>
          <p:cNvPr id="54" name="row-5-0-box">
            <a:extLst xmlns:a="http://schemas.openxmlformats.org/drawingml/2006/main">
              <a:ext uri="{FF2B5EF4-FFF2-40B4-BE49-F238E27FC236}">
                <a16:creationId xmlns:a16="http://schemas.microsoft.com/office/drawing/2014/main" id="{8CA21884-16F0-44AF-9FA1-952D7C77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5" name="row-5-0">
            <a:extLst xmlns:a="http://schemas.openxmlformats.org/drawingml/2006/main">
              <a:ext uri="{FF2B5EF4-FFF2-40B4-BE49-F238E27FC236}">
                <a16:creationId xmlns:a16="http://schemas.microsoft.com/office/drawing/2014/main" id="{99EA1BA1-2068-4A27-A336-6ED046ECC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24272D"/>
                </a:solidFill>
              </a:defRPr>
            </a:pPr>
            <a:r>
              <a:rPr sz="1200" b="0">
                <a:solidFill>
                  <a:srgbClr val="24272D"/>
                </a:solidFill>
              </a:rPr>
              <a:t>開閉状態</a:t>
            </a:r>
          </a:p>
        </p:txBody>
      </p:sp>
      <p:sp>
        <p:nvSpPr>
          <p:cNvPr id="56" name="row-5-1-box">
            <a:extLst xmlns:a="http://schemas.openxmlformats.org/drawingml/2006/main">
              <a:ext uri="{FF2B5EF4-FFF2-40B4-BE49-F238E27FC236}">
                <a16:creationId xmlns:a16="http://schemas.microsoft.com/office/drawing/2014/main" id="{68A0A512-D974-44DA-8E77-754733F0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67300"/>
            <a:ext cx="3143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7" name="row-5-1">
            <a:extLst xmlns:a="http://schemas.openxmlformats.org/drawingml/2006/main">
              <a:ext uri="{FF2B5EF4-FFF2-40B4-BE49-F238E27FC236}">
                <a16:creationId xmlns:a16="http://schemas.microsoft.com/office/drawing/2014/main" id="{BF6016F1-7A05-4D26-8592-50AE461B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143500"/>
            <a:ext cx="2914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24272D"/>
                </a:solidFill>
              </a:defRPr>
            </a:pPr>
            <a:r>
              <a:rPr sz="1200" b="0">
                <a:solidFill>
                  <a:srgbClr val="24272D"/>
                </a:solidFill>
              </a:rPr>
              <a:t>×アイコンへ変化</a:t>
            </a:r>
          </a:p>
        </p:txBody>
      </p:sp>
      <p:sp>
        <p:nvSpPr>
          <p:cNvPr id="58" name="row-5-2-box">
            <a:extLst xmlns:a="http://schemas.openxmlformats.org/drawingml/2006/main">
              <a:ext uri="{FF2B5EF4-FFF2-40B4-BE49-F238E27FC236}">
                <a16:creationId xmlns:a16="http://schemas.microsoft.com/office/drawing/2014/main" id="{9CCFAAB5-3300-4E93-AF0F-130EDB24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67300"/>
            <a:ext cx="3429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9" name="row-5-2">
            <a:extLst xmlns:a="http://schemas.openxmlformats.org/drawingml/2006/main">
              <a:ext uri="{FF2B5EF4-FFF2-40B4-BE49-F238E27FC236}">
                <a16:creationId xmlns:a16="http://schemas.microsoft.com/office/drawing/2014/main" id="{A16243C3-2F19-4530-B347-FD058DEE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143500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4496D"/>
                </a:solidFill>
              </a:defRPr>
            </a:pPr>
            <a:r>
              <a:rPr sz="1200" b="1">
                <a:solidFill>
                  <a:srgbClr val="24496D"/>
                </a:solidFill>
              </a:rPr>
              <a:t>円形ボタン＋カード表示</a:t>
            </a:r>
          </a:p>
        </p:txBody>
      </p:sp>
      <p:sp>
        <p:nvSpPr>
          <p:cNvPr id="60" name="row-5-3-box">
            <a:extLst xmlns:a="http://schemas.openxmlformats.org/drawingml/2006/main">
              <a:ext uri="{FF2B5EF4-FFF2-40B4-BE49-F238E27FC236}">
                <a16:creationId xmlns:a16="http://schemas.microsoft.com/office/drawing/2014/main" id="{229C81EF-6207-446E-B129-40FFE74B0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067300"/>
            <a:ext cx="1752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1" name="row-5-3">
            <a:extLst xmlns:a="http://schemas.openxmlformats.org/drawingml/2006/main">
              <a:ext uri="{FF2B5EF4-FFF2-40B4-BE49-F238E27FC236}">
                <a16:creationId xmlns:a16="http://schemas.microsoft.com/office/drawing/2014/main" id="{4E51DA54-E108-4DD0-9F16-320274599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14350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24272D"/>
                </a:solidFill>
              </a:defRPr>
            </a:pPr>
            <a:r>
              <a:rPr sz="1125" b="0">
                <a:solidFill>
                  <a:srgbClr val="24272D"/>
                </a:solidFill>
              </a:rPr>
              <a:t>状態と領域を分離</a:t>
            </a:r>
          </a:p>
        </p:txBody>
      </p:sp>
    </p:spTree>
    <p:extLst>
      <p:ext uri="{BB962C8B-B14F-4D97-AF65-F5344CB8AC3E}">
        <p14:creationId xmlns:p14="http://schemas.microsoft.com/office/powerpoint/2010/main" val="811069548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93D7B9FA-6C6C-45B6-B71C-96F67E93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" name="deck-label">
            <a:extLst xmlns:a="http://schemas.openxmlformats.org/drawingml/2006/main">
              <a:ext uri="{FF2B5EF4-FFF2-40B4-BE49-F238E27FC236}">
                <a16:creationId xmlns:a16="http://schemas.microsoft.com/office/drawing/2014/main" id="{94AAB2C8-C138-4EB5-8E0A-E0438B7F9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19075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58585"/>
                </a:solidFill>
              </a:defRPr>
            </a:pPr>
            <a:r>
              <a:rPr sz="1200">
                <a:solidFill>
                  <a:srgbClr val="858585"/>
                </a:solidFill>
              </a:rPr>
              <a:t>milk planet公式サイト アップデート提案｜Appendix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3FD5F0E-FC67-48DE-A2AA-444E35B5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53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4272D"/>
                </a:solidFill>
              </a:defRPr>
            </a:pPr>
            <a:r>
              <a:rPr sz="2700" b="1">
                <a:solidFill>
                  <a:srgbClr val="24272D"/>
                </a:solidFill>
              </a:rPr>
              <a:t>本文外の差分②：Instagram表示と運用</a:t>
            </a:r>
          </a:p>
        </p:txBody>
      </p:sp>
      <p:sp>
        <p:nvSpPr>
          <p:cNvPr id="4" name="confidential">
            <a:extLst xmlns:a="http://schemas.openxmlformats.org/drawingml/2006/main">
              <a:ext uri="{FF2B5EF4-FFF2-40B4-BE49-F238E27FC236}">
                <a16:creationId xmlns:a16="http://schemas.microsoft.com/office/drawing/2014/main" id="{A92D98BF-108E-473F-ADED-0A85445D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484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858585"/>
                </a:solidFill>
              </a:defRPr>
            </a:pPr>
            <a:r>
              <a:rPr sz="1050">
                <a:solidFill>
                  <a:srgbClr val="858585"/>
                </a:solidFill>
              </a:rPr>
              <a:t>Confidential</a:t>
            </a:r>
          </a:p>
        </p:txBody>
      </p:sp>
      <p:sp>
        <p:nvSpPr>
          <p:cNvPr id="5" name="page-marker">
            <a:extLst xmlns:a="http://schemas.openxmlformats.org/drawingml/2006/main">
              <a:ext uri="{FF2B5EF4-FFF2-40B4-BE49-F238E27FC236}">
                <a16:creationId xmlns:a16="http://schemas.microsoft.com/office/drawing/2014/main" id="{E13257A0-4260-4067-9176-3A1AAF13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858585"/>
                </a:solidFill>
              </a:defRPr>
            </a:pPr>
            <a:r>
              <a:rPr sz="1050">
                <a:solidFill>
                  <a:srgbClr val="858585"/>
                </a:solidFill>
              </a:rPr>
              <a:t>Appendix 2/2</a:t>
            </a:r>
          </a:p>
        </p:txBody>
      </p:sp>
      <p:sp>
        <p:nvSpPr>
          <p:cNvPr id="6" name="head-0-box">
            <a:extLst xmlns:a="http://schemas.openxmlformats.org/drawingml/2006/main">
              <a:ext uri="{FF2B5EF4-FFF2-40B4-BE49-F238E27FC236}">
                <a16:creationId xmlns:a16="http://schemas.microsoft.com/office/drawing/2014/main" id="{0821C56D-93D2-4511-B803-306A5B2E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96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head-0">
            <a:extLst xmlns:a="http://schemas.openxmlformats.org/drawingml/2006/main">
              <a:ext uri="{FF2B5EF4-FFF2-40B4-BE49-F238E27FC236}">
                <a16:creationId xmlns:a16="http://schemas.microsoft.com/office/drawing/2014/main" id="{1A116179-B841-4314-AAFF-781AD849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0495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対象</a:t>
            </a:r>
          </a:p>
        </p:txBody>
      </p:sp>
      <p:sp>
        <p:nvSpPr>
          <p:cNvPr id="8" name="head-1-box">
            <a:extLst xmlns:a="http://schemas.openxmlformats.org/drawingml/2006/main">
              <a:ext uri="{FF2B5EF4-FFF2-40B4-BE49-F238E27FC236}">
                <a16:creationId xmlns:a16="http://schemas.microsoft.com/office/drawing/2014/main" id="{7E4D2E2D-EAEF-4D2A-AB7B-11D7F0A4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428750"/>
            <a:ext cx="2952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96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head-1">
            <a:extLst xmlns:a="http://schemas.openxmlformats.org/drawingml/2006/main">
              <a:ext uri="{FF2B5EF4-FFF2-40B4-BE49-F238E27FC236}">
                <a16:creationId xmlns:a16="http://schemas.microsoft.com/office/drawing/2014/main" id="{A536B3EC-56A9-48A6-BBE2-E7C2D3AE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049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現行</a:t>
            </a:r>
          </a:p>
        </p:txBody>
      </p:sp>
      <p:sp>
        <p:nvSpPr>
          <p:cNvPr id="10" name="head-2-box">
            <a:extLst xmlns:a="http://schemas.openxmlformats.org/drawingml/2006/main">
              <a:ext uri="{FF2B5EF4-FFF2-40B4-BE49-F238E27FC236}">
                <a16:creationId xmlns:a16="http://schemas.microsoft.com/office/drawing/2014/main" id="{4ABA4D81-129D-44B4-BAD4-69B811F94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428750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96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head-2">
            <a:extLst xmlns:a="http://schemas.openxmlformats.org/drawingml/2006/main">
              <a:ext uri="{FF2B5EF4-FFF2-40B4-BE49-F238E27FC236}">
                <a16:creationId xmlns:a16="http://schemas.microsoft.com/office/drawing/2014/main" id="{69261A5A-AD39-4F72-9157-F570C44F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60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branch5 修正案</a:t>
            </a:r>
          </a:p>
        </p:txBody>
      </p:sp>
      <p:sp>
        <p:nvSpPr>
          <p:cNvPr id="12" name="head-3-box">
            <a:extLst xmlns:a="http://schemas.openxmlformats.org/drawingml/2006/main">
              <a:ext uri="{FF2B5EF4-FFF2-40B4-BE49-F238E27FC236}">
                <a16:creationId xmlns:a16="http://schemas.microsoft.com/office/drawing/2014/main" id="{1D38DAF4-ECB3-427B-B7E5-28AC2066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428750"/>
            <a:ext cx="1924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96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head-3">
            <a:extLst xmlns:a="http://schemas.openxmlformats.org/drawingml/2006/main">
              <a:ext uri="{FF2B5EF4-FFF2-40B4-BE49-F238E27FC236}">
                <a16:creationId xmlns:a16="http://schemas.microsoft.com/office/drawing/2014/main" id="{6C522408-9355-4E56-A6FE-FC951A9E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差分の意味</a:t>
            </a:r>
          </a:p>
        </p:txBody>
      </p:sp>
      <p:sp>
        <p:nvSpPr>
          <p:cNvPr id="14" name="ig-target-box">
            <a:extLst xmlns:a="http://schemas.openxmlformats.org/drawingml/2006/main">
              <a:ext uri="{FF2B5EF4-FFF2-40B4-BE49-F238E27FC236}">
                <a16:creationId xmlns:a16="http://schemas.microsoft.com/office/drawing/2014/main" id="{42B5B0AF-D11A-4B45-90A6-26918A3F4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28800"/>
            <a:ext cx="2000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ig-target">
            <a:extLst xmlns:a="http://schemas.openxmlformats.org/drawingml/2006/main">
              <a:ext uri="{FF2B5EF4-FFF2-40B4-BE49-F238E27FC236}">
                <a16:creationId xmlns:a16="http://schemas.microsoft.com/office/drawing/2014/main" id="{3699A497-98DF-4464-8AAB-54438C57F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17716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4272D"/>
                </a:solidFill>
              </a:defRPr>
            </a:pPr>
            <a:r>
              <a:rPr sz="1425" b="1">
                <a:solidFill>
                  <a:srgbClr val="24272D"/>
                </a:solidFill>
              </a:rPr>
              <a:t>Instagram</a:t>
            </a:r>
          </a:p>
        </p:txBody>
      </p:sp>
      <p:sp>
        <p:nvSpPr>
          <p:cNvPr id="16" name="ig-current-box">
            <a:extLst xmlns:a="http://schemas.openxmlformats.org/drawingml/2006/main">
              <a:ext uri="{FF2B5EF4-FFF2-40B4-BE49-F238E27FC236}">
                <a16:creationId xmlns:a16="http://schemas.microsoft.com/office/drawing/2014/main" id="{5A0A398B-7A65-47E1-B8CE-789C08E8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828800"/>
            <a:ext cx="2952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ig-current">
            <a:extLst xmlns:a="http://schemas.openxmlformats.org/drawingml/2006/main">
              <a:ext uri="{FF2B5EF4-FFF2-40B4-BE49-F238E27FC236}">
                <a16:creationId xmlns:a16="http://schemas.microsoft.com/office/drawing/2014/main" id="{3E4D75E6-FEBA-4BDB-9D4A-AE1E094C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05000"/>
            <a:ext cx="27241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4272D"/>
                </a:solidFill>
              </a:defRPr>
            </a:pPr>
            <a:r>
              <a:rPr sz="1275">
                <a:solidFill>
                  <a:srgbClr val="24272D"/>
                </a:solidFill>
              </a:rPr>
              <a:t>投稿画像をそのまま掲載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24272D"/>
                </a:solidFill>
              </a:defRPr>
            </a:pPr>
            <a:r>
              <a:rPr sz="1275">
                <a:solidFill>
                  <a:srgbClr val="24272D"/>
                </a:solidFill>
              </a:rPr>
              <a:t>更新は表示時点の内容に依存</a:t>
            </a:r>
          </a:p>
        </p:txBody>
      </p:sp>
      <p:sp>
        <p:nvSpPr>
          <p:cNvPr id="18" name="ig-branch-box">
            <a:extLst xmlns:a="http://schemas.openxmlformats.org/drawingml/2006/main">
              <a:ext uri="{FF2B5EF4-FFF2-40B4-BE49-F238E27FC236}">
                <a16:creationId xmlns:a16="http://schemas.microsoft.com/office/drawing/2014/main" id="{D5C01B15-681A-4073-AE4F-1B736F4F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828800"/>
            <a:ext cx="38290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ig-branch">
            <a:extLst xmlns:a="http://schemas.openxmlformats.org/drawingml/2006/main">
              <a:ext uri="{FF2B5EF4-FFF2-40B4-BE49-F238E27FC236}">
                <a16:creationId xmlns:a16="http://schemas.microsoft.com/office/drawing/2014/main" id="{548F3D94-A4F5-4B67-81B4-357412AF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05000"/>
            <a:ext cx="36004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496D"/>
                </a:solidFill>
              </a:defRPr>
            </a:pPr>
            <a:r>
              <a:rPr sz="1350" b="1">
                <a:solidFill>
                  <a:srgbClr val="24496D"/>
                </a:solidFill>
              </a:rPr>
              <a:t>① 投稿画像へウォーターマークを付与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1">
                <a:solidFill>
                  <a:srgbClr val="24496D"/>
                </a:solidFill>
              </a:defRPr>
            </a:pPr>
            <a:r>
              <a:rPr sz="1350" b="1">
                <a:solidFill>
                  <a:srgbClr val="24496D"/>
                </a:solidFill>
              </a:rPr>
              <a:t>② Instagram APIへ接続し、常に最新の投稿情報を表示</a:t>
            </a:r>
          </a:p>
        </p:txBody>
      </p:sp>
      <p:sp>
        <p:nvSpPr>
          <p:cNvPr id="20" name="ig-meaning-box">
            <a:extLst xmlns:a="http://schemas.openxmlformats.org/drawingml/2006/main">
              <a:ext uri="{FF2B5EF4-FFF2-40B4-BE49-F238E27FC236}">
                <a16:creationId xmlns:a16="http://schemas.microsoft.com/office/drawing/2014/main" id="{B1106FB1-7FFE-4038-AB05-3998A5204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828800"/>
            <a:ext cx="19240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ig-meaning">
            <a:extLst xmlns:a="http://schemas.openxmlformats.org/drawingml/2006/main">
              <a:ext uri="{FF2B5EF4-FFF2-40B4-BE49-F238E27FC236}">
                <a16:creationId xmlns:a16="http://schemas.microsoft.com/office/drawing/2014/main" id="{17386171-5520-4EB9-ABAC-6E0A824C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905000"/>
            <a:ext cx="16954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4272D"/>
                </a:solidFill>
              </a:defRPr>
            </a:pPr>
            <a:r>
              <a:rPr sz="1200">
                <a:solidFill>
                  <a:srgbClr val="24272D"/>
                </a:solidFill>
              </a:rPr>
              <a:t>画像の出所を明確化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24272D"/>
                </a:solidFill>
              </a:defRPr>
            </a:pPr>
            <a:r>
              <a:rPr sz="1200">
                <a:solidFill>
                  <a:srgbClr val="24272D"/>
                </a:solidFill>
              </a:rPr>
              <a:t>更新作業を減らし、情報鮮度を維持</a:t>
            </a:r>
          </a:p>
        </p:txBody>
      </p:sp>
      <p:sp>
        <p:nvSpPr>
          <p:cNvPr id="22" name="message">
            <a:extLst xmlns:a="http://schemas.openxmlformats.org/drawingml/2006/main">
              <a:ext uri="{FF2B5EF4-FFF2-40B4-BE49-F238E27FC236}">
                <a16:creationId xmlns:a16="http://schemas.microsoft.com/office/drawing/2014/main" id="{EB80CFE7-B635-4829-B530-3B74C08D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0050"/>
            <a:ext cx="1070610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5E8F6"/>
            </a:solidFill>
            <a:prstDash val="solid"/>
          </a:ln>
        </p:spPr>
      </p:sp>
      <p:sp>
        <p:nvSpPr>
          <p:cNvPr id="23" name="message-title">
            <a:extLst xmlns:a="http://schemas.openxmlformats.org/drawingml/2006/main">
              <a:ext uri="{FF2B5EF4-FFF2-40B4-BE49-F238E27FC236}">
                <a16:creationId xmlns:a16="http://schemas.microsoft.com/office/drawing/2014/main" id="{7439F7DC-E129-4027-A429-BF30F1E4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005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496D"/>
                </a:solidFill>
              </a:defRPr>
            </a:pPr>
            <a:r>
              <a:rPr sz="1650" b="1">
                <a:solidFill>
                  <a:srgbClr val="24496D"/>
                </a:solidFill>
              </a:rPr>
              <a:t>運用上の狙い</a:t>
            </a:r>
          </a:p>
        </p:txBody>
      </p:sp>
      <p:sp>
        <p:nvSpPr>
          <p:cNvPr id="24" name="message-copy">
            <a:extLst xmlns:a="http://schemas.openxmlformats.org/drawingml/2006/main">
              <a:ext uri="{FF2B5EF4-FFF2-40B4-BE49-F238E27FC236}">
                <a16:creationId xmlns:a16="http://schemas.microsoft.com/office/drawing/2014/main" id="{2F173935-6C64-4BEB-818D-7D689281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10125"/>
            <a:ext cx="1000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4272D"/>
                </a:solidFill>
              </a:defRPr>
            </a:pPr>
            <a:r>
              <a:rPr sz="1425">
                <a:solidFill>
                  <a:srgbClr val="24272D"/>
                </a:solidFill>
              </a:rPr>
              <a:t>ウォーターマークで転載時にもブランドを識別できる状態をつくり、API連携で投稿更新をWebサイトへ自動反映。</a:t>
            </a:r>
          </a:p>
          <a:p xmlns:a="http://schemas.openxmlformats.org/drawingml/2006/main">
            <a:pPr>
              <a:defRPr sz="1425">
                <a:solidFill>
                  <a:srgbClr val="24272D"/>
                </a:solidFill>
              </a:defRPr>
            </a:pPr>
            <a:r>
              <a:rPr sz="1425">
                <a:solidFill>
                  <a:srgbClr val="24272D"/>
                </a:solidFill>
              </a:rPr>
              <a:t>手作業による更新遅れを抑えながら、公式サイト上のInstagram情報を常に最新に保つ。</a:t>
            </a:r>
          </a:p>
        </p:txBody>
      </p:sp>
    </p:spTree>
    <p:extLst>
      <p:ext uri="{BB962C8B-B14F-4D97-AF65-F5344CB8AC3E}">
        <p14:creationId xmlns:p14="http://schemas.microsoft.com/office/powerpoint/2010/main" val="179874393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2026-08-07T14:54:04.0800000Z</dcterms:created>
  <dcterms:modified xsi:type="dcterms:W3CDTF">2026-08-07T14:54:04.0800000Z</dcterms:modified>
</coreProperties>
</file>
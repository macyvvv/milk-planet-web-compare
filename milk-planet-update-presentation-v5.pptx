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2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</p:sldIdLst>
  <p:sldSz cx="12192000" cy="6858000"/>
  <p:notesSz cx="6858000" cy="9144000"/>
  <p:defaultTextStyle>
    <a:defPPr>
      <a:defRPr lang="ja-JP"/>
    </a:defPPr>
    <a:lvl1pPr marL="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10"/>
    <p:restoredTop sz="94648"/>
  </p:normalViewPr>
  <p:slideViewPr>
    <p:cSldViewPr snapToGrid="0" snapToObjects="1">
      <p:cViewPr varScale="1">
        <p:scale>
          <a:sx n="112" d="100"/>
          <a:sy n="112" d="100"/>
        </p:scale>
        <p:origin x="480" y="1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- https://milk-planet.com/（2026-08-07取得）</a:t>
            </a:r>
          </a:p>
          <a:p>
            <a:r>
              <a:t>- https://macyvvv.github.io/milk-planet-web-compare/proposal/branch5/index.html（2026-08-07取得）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- https://macyvvv.github.io/milk-planet-web-compare/proposal/branch5/okyuji/index.html（2026-08-07取得）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- https://macyvvv.github.io/milk-planet-web-compare/proposal/branch5/index.html（2026-08-07取得）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- https://macyvvv.github.io/milk-planet-web-compare/proposal/branch5/index.html（2026-08-07取得）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- https://milk-planet.com/（2026-08-07取得）</a:t>
            </a:r>
          </a:p>
          <a:p>
            <a:r>
              <a:t>- https://macyvvv.github.io/milk-planet-web-compare/proposal/branch5/index.html（2026-08-07取得）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- https://milk-planet.com/（2026-08-07取得）</a:t>
            </a:r>
          </a:p>
          <a:p>
            <a:r>
              <a:t>- https://macyvvv.github.io/milk-planet-web-compare/proposal/branch5/index.html（2026-08-07取得）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- https://macyvvv.github.io/milk-planet-web-compare/proposal/branch5/okyuji/index.html（2026-08-07取得）</a:t>
            </a:r>
          </a:p>
          <a:p>
            <a:r>
              <a:t>- https://macyvvv.github.io/milk-planet-web-compare/proposal/branch5/index.html（2026-08-07取得）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- https://milk-planet.com/（2026-08-07取得）</a:t>
            </a:r>
          </a:p>
          <a:p>
            <a:r>
              <a:t>- https://macyvvv.github.io/milk-planet-web-compare/proposal/branch5/index.html（2026-08-07取得）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342900" indent="-342900" algn="l" defTabSz="914400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lt"/>
          <a:cs typeface="+mn-lt"/>
        </a:defRPr>
      </a:lvl1pPr>
      <a:lvl2pPr marL="742950" indent="-285750" algn="l" defTabSz="914400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 defTabSz="914400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 defTabSz="914400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 defTabSz="914400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 defTabSz="9144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 defTabSz="9144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 defTabSz="9144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 defTabSz="9144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7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7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5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7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9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86229682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51597713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98466255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2906776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90805674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slide-background">
            <a:extLst>
              <a:ext uri="{FF2B5EF4-FFF2-40B4-BE49-F238E27FC236}">
                <a16:creationId xmlns:a16="http://schemas.microsoft.com/office/drawing/2014/main" id="{8D534463-E0D7-4A36-AAAA-D7508D5C835E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2" name="deck-label">
            <a:extLst>
              <a:ext uri="{FF2B5EF4-FFF2-40B4-BE49-F238E27FC236}">
                <a16:creationId xmlns:a16="http://schemas.microsoft.com/office/drawing/2014/main" id="{3D6D4291-8078-40AA-99B6-79ED68E288FF}"/>
              </a:ext>
            </a:extLst>
          </p:cNvPr>
          <p:cNvSpPr>
            <a:spLocks noGrp="1"/>
          </p:cNvSpPr>
          <p:nvPr/>
        </p:nvSpPr>
        <p:spPr>
          <a:xfrm>
            <a:off x="285750" y="219075"/>
            <a:ext cx="44767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buNone/>
              <a:defRPr sz="1200">
                <a:solidFill>
                  <a:srgbClr val="858585"/>
                </a:solidFill>
              </a:defRPr>
            </a:pPr>
            <a:r>
              <a:rPr sz="1200" dirty="0">
                <a:solidFill>
                  <a:srgbClr val="858585"/>
                </a:solidFill>
              </a:rPr>
              <a:t>milk </a:t>
            </a:r>
            <a:r>
              <a:rPr sz="1200" dirty="0" err="1">
                <a:solidFill>
                  <a:srgbClr val="858585"/>
                </a:solidFill>
              </a:rPr>
              <a:t>planet公式サイト</a:t>
            </a:r>
            <a:r>
              <a:rPr sz="1200" dirty="0">
                <a:solidFill>
                  <a:srgbClr val="858585"/>
                </a:solidFill>
              </a:rPr>
              <a:t> </a:t>
            </a:r>
            <a:r>
              <a:rPr sz="1200" dirty="0" err="1">
                <a:solidFill>
                  <a:srgbClr val="858585"/>
                </a:solidFill>
              </a:rPr>
              <a:t>アップデート提案</a:t>
            </a:r>
            <a:endParaRPr sz="1200" dirty="0">
              <a:solidFill>
                <a:srgbClr val="858585"/>
              </a:solidFill>
            </a:endParaRPr>
          </a:p>
        </p:txBody>
      </p:sp>
      <p:sp>
        <p:nvSpPr>
          <p:cNvPr id="3" name="slide-title">
            <a:extLst>
              <a:ext uri="{FF2B5EF4-FFF2-40B4-BE49-F238E27FC236}">
                <a16:creationId xmlns:a16="http://schemas.microsoft.com/office/drawing/2014/main" id="{617E7851-1CC8-48F1-9CF0-ABA0FAB365B1}"/>
              </a:ext>
            </a:extLst>
          </p:cNvPr>
          <p:cNvSpPr>
            <a:spLocks noGrp="1"/>
          </p:cNvSpPr>
          <p:nvPr/>
        </p:nvSpPr>
        <p:spPr>
          <a:xfrm>
            <a:off x="742950" y="695325"/>
            <a:ext cx="1028700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buNone/>
              <a:defRPr sz="2700" b="1">
                <a:solidFill>
                  <a:srgbClr val="24272D"/>
                </a:solidFill>
              </a:defRPr>
            </a:pPr>
            <a:r>
              <a:rPr sz="2700" b="1">
                <a:solidFill>
                  <a:srgbClr val="24272D"/>
                </a:solidFill>
              </a:rPr>
              <a:t>実画面比較：メニューは「探す」から「選ぶ」へ</a:t>
            </a:r>
          </a:p>
        </p:txBody>
      </p:sp>
      <p:sp>
        <p:nvSpPr>
          <p:cNvPr id="4" name="confidential">
            <a:extLst>
              <a:ext uri="{FF2B5EF4-FFF2-40B4-BE49-F238E27FC236}">
                <a16:creationId xmlns:a16="http://schemas.microsoft.com/office/drawing/2014/main" id="{DFEC90F4-9348-4703-9633-80B1E4828939}"/>
              </a:ext>
            </a:extLst>
          </p:cNvPr>
          <p:cNvSpPr>
            <a:spLocks noGrp="1"/>
          </p:cNvSpPr>
          <p:nvPr/>
        </p:nvSpPr>
        <p:spPr>
          <a:xfrm>
            <a:off x="285750" y="6448425"/>
            <a:ext cx="15240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buNone/>
              <a:defRPr sz="1050">
                <a:solidFill>
                  <a:srgbClr val="858585"/>
                </a:solidFill>
              </a:defRPr>
            </a:pPr>
            <a:r>
              <a:rPr sz="1050">
                <a:solidFill>
                  <a:srgbClr val="858585"/>
                </a:solidFill>
              </a:rPr>
              <a:t>Confidential</a:t>
            </a:r>
          </a:p>
        </p:txBody>
      </p:sp>
      <p:sp>
        <p:nvSpPr>
          <p:cNvPr id="5" name="supplement-number">
            <a:extLst>
              <a:ext uri="{FF2B5EF4-FFF2-40B4-BE49-F238E27FC236}">
                <a16:creationId xmlns:a16="http://schemas.microsoft.com/office/drawing/2014/main" id="{F22E342E-6205-419F-B687-26FEA96ECBE6}"/>
              </a:ext>
            </a:extLst>
          </p:cNvPr>
          <p:cNvSpPr>
            <a:spLocks noGrp="1"/>
          </p:cNvSpPr>
          <p:nvPr/>
        </p:nvSpPr>
        <p:spPr>
          <a:xfrm>
            <a:off x="10763250" y="6429375"/>
            <a:ext cx="11430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buNone/>
              <a:defRPr sz="1050">
                <a:solidFill>
                  <a:srgbClr val="858585"/>
                </a:solidFill>
              </a:defRPr>
            </a:pPr>
            <a:r>
              <a:rPr sz="1050">
                <a:solidFill>
                  <a:srgbClr val="858585"/>
                </a:solidFill>
              </a:rPr>
              <a:t>補足 1/4</a:t>
            </a:r>
          </a:p>
        </p:txBody>
      </p:sp>
      <p:sp>
        <p:nvSpPr>
          <p:cNvPr id="6" name="current-label-box">
            <a:extLst>
              <a:ext uri="{FF2B5EF4-FFF2-40B4-BE49-F238E27FC236}">
                <a16:creationId xmlns:a16="http://schemas.microsoft.com/office/drawing/2014/main" id="{0F6F14B6-CEFE-4508-9BE8-DAD44C4006A2}"/>
              </a:ext>
            </a:extLst>
          </p:cNvPr>
          <p:cNvSpPr>
            <a:spLocks noGrp="1"/>
          </p:cNvSpPr>
          <p:nvPr/>
        </p:nvSpPr>
        <p:spPr>
          <a:xfrm>
            <a:off x="742950" y="1362075"/>
            <a:ext cx="4857750" cy="323850"/>
          </a:xfrm>
          <a:prstGeom prst="roundRect">
            <a:avLst>
              <a:gd name="adj" fmla="val 23529"/>
            </a:avLst>
          </a:prstGeom>
          <a:solidFill>
            <a:srgbClr val="F1F1F1"/>
          </a:solidFill>
          <a:ln w="9525">
            <a:solidFill>
              <a:srgbClr val="F1F1F1"/>
            </a:solidFill>
            <a:prstDash val="solid"/>
          </a:ln>
        </p:spPr>
      </p:sp>
      <p:sp>
        <p:nvSpPr>
          <p:cNvPr id="7" name="current-label">
            <a:extLst>
              <a:ext uri="{FF2B5EF4-FFF2-40B4-BE49-F238E27FC236}">
                <a16:creationId xmlns:a16="http://schemas.microsoft.com/office/drawing/2014/main" id="{B91EA650-C4C7-49A5-84CE-5CCCAB70BD29}"/>
              </a:ext>
            </a:extLst>
          </p:cNvPr>
          <p:cNvSpPr>
            <a:spLocks noGrp="1"/>
          </p:cNvSpPr>
          <p:nvPr/>
        </p:nvSpPr>
        <p:spPr>
          <a:xfrm>
            <a:off x="742950" y="1362075"/>
            <a:ext cx="48577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buNone/>
              <a:defRPr sz="1200" b="1">
                <a:solidFill>
                  <a:srgbClr val="555555"/>
                </a:solidFill>
              </a:defRPr>
            </a:pPr>
            <a:r>
              <a:rPr sz="1200" b="1">
                <a:solidFill>
                  <a:srgbClr val="555555"/>
                </a:solidFill>
              </a:rPr>
              <a:t>現行サイト</a:t>
            </a:r>
          </a:p>
        </p:txBody>
      </p:sp>
      <p:sp>
        <p:nvSpPr>
          <p:cNvPr id="8" name="proposal-label-box">
            <a:extLst>
              <a:ext uri="{FF2B5EF4-FFF2-40B4-BE49-F238E27FC236}">
                <a16:creationId xmlns:a16="http://schemas.microsoft.com/office/drawing/2014/main" id="{B64BE9B0-33EF-49A6-A6C1-C4438C39E001}"/>
              </a:ext>
            </a:extLst>
          </p:cNvPr>
          <p:cNvSpPr>
            <a:spLocks noGrp="1"/>
          </p:cNvSpPr>
          <p:nvPr/>
        </p:nvSpPr>
        <p:spPr>
          <a:xfrm>
            <a:off x="6591300" y="1362075"/>
            <a:ext cx="4857750" cy="323850"/>
          </a:xfrm>
          <a:prstGeom prst="roundRect">
            <a:avLst>
              <a:gd name="adj" fmla="val 23529"/>
            </a:avLst>
          </a:prstGeom>
          <a:solidFill>
            <a:srgbClr val="EAF6FF"/>
          </a:solidFill>
          <a:ln w="9525">
            <a:solidFill>
              <a:srgbClr val="EAF6FF"/>
            </a:solidFill>
            <a:prstDash val="solid"/>
          </a:ln>
        </p:spPr>
      </p:sp>
      <p:sp>
        <p:nvSpPr>
          <p:cNvPr id="9" name="proposal-label">
            <a:extLst>
              <a:ext uri="{FF2B5EF4-FFF2-40B4-BE49-F238E27FC236}">
                <a16:creationId xmlns:a16="http://schemas.microsoft.com/office/drawing/2014/main" id="{DE88FD1E-9041-4173-951E-74C52E298604}"/>
              </a:ext>
            </a:extLst>
          </p:cNvPr>
          <p:cNvSpPr>
            <a:spLocks noGrp="1"/>
          </p:cNvSpPr>
          <p:nvPr/>
        </p:nvSpPr>
        <p:spPr>
          <a:xfrm>
            <a:off x="6591300" y="1362075"/>
            <a:ext cx="48577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buNone/>
              <a:defRPr sz="1200" b="1">
                <a:solidFill>
                  <a:srgbClr val="24496D"/>
                </a:solidFill>
              </a:defRPr>
            </a:pPr>
            <a:r>
              <a:rPr sz="1200" b="1">
                <a:solidFill>
                  <a:srgbClr val="24496D"/>
                </a:solidFill>
              </a:rPr>
              <a:t>branch5 改修案</a:t>
            </a:r>
          </a:p>
        </p:txBody>
      </p:sp>
      <p:pic>
        <p:nvPicPr>
          <p:cNvPr id="26" name="図 25"/>
          <p:cNvPicPr>
            <a:picLocks noChangeAspect="1"/>
          </p:cNvPicPr>
          <p:nvPr/>
        </p:nvPicPr>
        <p:blipFill>
          <a:blip r:embed="rId3"/>
          <a:srcRect l="39" r="39"/>
          <a:stretch>
            <a:fillRect/>
          </a:stretch>
        </p:blipFill>
        <p:spPr>
          <a:xfrm>
            <a:off x="742950" y="1819275"/>
            <a:ext cx="4857750" cy="3038475"/>
          </a:xfrm>
          <a:prstGeom prst="roundRect">
            <a:avLst>
              <a:gd name="adj" fmla="val 3762"/>
            </a:avLst>
          </a:prstGeom>
        </p:spPr>
      </p:pic>
      <p:pic>
        <p:nvPicPr>
          <p:cNvPr id="27" name="図 26"/>
          <p:cNvPicPr>
            <a:picLocks noChangeAspect="1"/>
          </p:cNvPicPr>
          <p:nvPr/>
        </p:nvPicPr>
        <p:blipFill>
          <a:blip r:embed="rId4"/>
          <a:srcRect l="39" r="39"/>
          <a:stretch>
            <a:fillRect/>
          </a:stretch>
        </p:blipFill>
        <p:spPr>
          <a:xfrm>
            <a:off x="6591300" y="1819275"/>
            <a:ext cx="4857750" cy="3038475"/>
          </a:xfrm>
          <a:prstGeom prst="roundRect">
            <a:avLst>
              <a:gd name="adj" fmla="val 3762"/>
            </a:avLst>
          </a:prstGeom>
        </p:spPr>
      </p:pic>
      <p:sp>
        <p:nvSpPr>
          <p:cNvPr id="12" name="compare-summary-band">
            <a:extLst>
              <a:ext uri="{FF2B5EF4-FFF2-40B4-BE49-F238E27FC236}">
                <a16:creationId xmlns:a16="http://schemas.microsoft.com/office/drawing/2014/main" id="{6ACFB571-41B9-4B3E-BEB9-6D76E6130A0E}"/>
              </a:ext>
            </a:extLst>
          </p:cNvPr>
          <p:cNvSpPr>
            <a:spLocks noGrp="1"/>
          </p:cNvSpPr>
          <p:nvPr/>
        </p:nvSpPr>
        <p:spPr>
          <a:xfrm>
            <a:off x="742950" y="5095875"/>
            <a:ext cx="10706100" cy="933450"/>
          </a:xfrm>
          <a:prstGeom prst="roundRect">
            <a:avLst>
              <a:gd name="adj" fmla="val 12245"/>
            </a:avLst>
          </a:prstGeom>
          <a:solidFill>
            <a:srgbClr val="EAF6FF"/>
          </a:solidFill>
          <a:ln w="9525">
            <a:solidFill>
              <a:srgbClr val="EAF6FF"/>
            </a:solidFill>
            <a:prstDash val="solid"/>
          </a:ln>
        </p:spPr>
      </p:sp>
      <p:sp>
        <p:nvSpPr>
          <p:cNvPr id="13" name="compare-summary">
            <a:extLst>
              <a:ext uri="{FF2B5EF4-FFF2-40B4-BE49-F238E27FC236}">
                <a16:creationId xmlns:a16="http://schemas.microsoft.com/office/drawing/2014/main" id="{D76AEB7F-8BBC-4446-91AB-B71170830C31}"/>
              </a:ext>
            </a:extLst>
          </p:cNvPr>
          <p:cNvSpPr>
            <a:spLocks noGrp="1"/>
          </p:cNvSpPr>
          <p:nvPr/>
        </p:nvSpPr>
        <p:spPr>
          <a:xfrm>
            <a:off x="1028700" y="5286375"/>
            <a:ext cx="10134600" cy="571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buNone/>
              <a:defRPr sz="1500" b="1">
                <a:solidFill>
                  <a:srgbClr val="24496D"/>
                </a:solidFill>
              </a:defRPr>
            </a:pPr>
            <a:r>
              <a:rPr sz="1500" b="1">
                <a:solidFill>
                  <a:srgbClr val="24496D"/>
                </a:solidFill>
              </a:rPr>
              <a:t>固定された「めにゅう」から、店舗・キャスト・予定・料金・通販へ同じ操作で移動。</a:t>
            </a:r>
          </a:p>
          <a:p>
            <a:pPr algn="ctr">
              <a:buNone/>
              <a:defRPr sz="1500" b="1">
                <a:solidFill>
                  <a:srgbClr val="24496D"/>
                </a:solidFill>
              </a:defRPr>
            </a:pPr>
            <a:r>
              <a:rPr sz="1500" b="1">
                <a:solidFill>
                  <a:srgbClr val="24496D"/>
                </a:solidFill>
              </a:rPr>
              <a:t>画面をスクロールしても、目的別の入口を見失わない。</a:t>
            </a:r>
          </a:p>
        </p:txBody>
      </p:sp>
    </p:spTree>
    <p:extLst>
      <p:ext uri="{BB962C8B-B14F-4D97-AF65-F5344CB8AC3E}">
        <p14:creationId xmlns:p14="http://schemas.microsoft.com/office/powerpoint/2010/main" val="17619333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10691741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slide-background">
            <a:extLst>
              <a:ext uri="{FF2B5EF4-FFF2-40B4-BE49-F238E27FC236}">
                <a16:creationId xmlns:a16="http://schemas.microsoft.com/office/drawing/2014/main" id="{DD1C8B0F-D3D3-4C0A-8599-C1C32FC6E65B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2" name="deck-label">
            <a:extLst>
              <a:ext uri="{FF2B5EF4-FFF2-40B4-BE49-F238E27FC236}">
                <a16:creationId xmlns:a16="http://schemas.microsoft.com/office/drawing/2014/main" id="{ED175278-41B2-49FA-BEEA-B6F875F9EFEC}"/>
              </a:ext>
            </a:extLst>
          </p:cNvPr>
          <p:cNvSpPr>
            <a:spLocks noGrp="1"/>
          </p:cNvSpPr>
          <p:nvPr/>
        </p:nvSpPr>
        <p:spPr>
          <a:xfrm>
            <a:off x="285750" y="219075"/>
            <a:ext cx="44767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buNone/>
              <a:defRPr sz="1200">
                <a:solidFill>
                  <a:srgbClr val="858585"/>
                </a:solidFill>
              </a:defRPr>
            </a:pPr>
            <a:r>
              <a:rPr sz="1200">
                <a:solidFill>
                  <a:srgbClr val="858585"/>
                </a:solidFill>
              </a:rPr>
              <a:t>milk planet公式サイト アップデート提案</a:t>
            </a:r>
          </a:p>
        </p:txBody>
      </p:sp>
      <p:sp>
        <p:nvSpPr>
          <p:cNvPr id="3" name="slide-title">
            <a:extLst>
              <a:ext uri="{FF2B5EF4-FFF2-40B4-BE49-F238E27FC236}">
                <a16:creationId xmlns:a16="http://schemas.microsoft.com/office/drawing/2014/main" id="{497F8B4C-6160-40C0-9F07-6528698737AB}"/>
              </a:ext>
            </a:extLst>
          </p:cNvPr>
          <p:cNvSpPr>
            <a:spLocks noGrp="1"/>
          </p:cNvSpPr>
          <p:nvPr/>
        </p:nvSpPr>
        <p:spPr>
          <a:xfrm>
            <a:off x="742950" y="695325"/>
            <a:ext cx="1028700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buNone/>
              <a:defRPr sz="2700" b="1">
                <a:solidFill>
                  <a:srgbClr val="24272D"/>
                </a:solidFill>
              </a:defRPr>
            </a:pPr>
            <a:r>
              <a:rPr sz="2700" b="1">
                <a:solidFill>
                  <a:srgbClr val="24272D"/>
                </a:solidFill>
              </a:rPr>
              <a:t>実画面：「おきゅうじ よてい」を公式サイトへ集約</a:t>
            </a:r>
          </a:p>
        </p:txBody>
      </p:sp>
      <p:sp>
        <p:nvSpPr>
          <p:cNvPr id="4" name="confidential">
            <a:extLst>
              <a:ext uri="{FF2B5EF4-FFF2-40B4-BE49-F238E27FC236}">
                <a16:creationId xmlns:a16="http://schemas.microsoft.com/office/drawing/2014/main" id="{0CD2DA70-0AD2-46F0-B405-F0FD6B8B4CBC}"/>
              </a:ext>
            </a:extLst>
          </p:cNvPr>
          <p:cNvSpPr>
            <a:spLocks noGrp="1"/>
          </p:cNvSpPr>
          <p:nvPr/>
        </p:nvSpPr>
        <p:spPr>
          <a:xfrm>
            <a:off x="285750" y="6448425"/>
            <a:ext cx="15240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buNone/>
              <a:defRPr sz="1050">
                <a:solidFill>
                  <a:srgbClr val="858585"/>
                </a:solidFill>
              </a:defRPr>
            </a:pPr>
            <a:r>
              <a:rPr sz="1050">
                <a:solidFill>
                  <a:srgbClr val="858585"/>
                </a:solidFill>
              </a:rPr>
              <a:t>Confidential</a:t>
            </a:r>
          </a:p>
        </p:txBody>
      </p:sp>
      <p:sp>
        <p:nvSpPr>
          <p:cNvPr id="5" name="supplement-number">
            <a:extLst>
              <a:ext uri="{FF2B5EF4-FFF2-40B4-BE49-F238E27FC236}">
                <a16:creationId xmlns:a16="http://schemas.microsoft.com/office/drawing/2014/main" id="{E7F2E228-C392-4556-83ED-5C0CAF028310}"/>
              </a:ext>
            </a:extLst>
          </p:cNvPr>
          <p:cNvSpPr>
            <a:spLocks noGrp="1"/>
          </p:cNvSpPr>
          <p:nvPr/>
        </p:nvSpPr>
        <p:spPr>
          <a:xfrm>
            <a:off x="10763250" y="6429375"/>
            <a:ext cx="11430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buNone/>
              <a:defRPr sz="1050">
                <a:solidFill>
                  <a:srgbClr val="858585"/>
                </a:solidFill>
              </a:defRPr>
            </a:pPr>
            <a:r>
              <a:rPr sz="1050">
                <a:solidFill>
                  <a:srgbClr val="858585"/>
                </a:solidFill>
              </a:rPr>
              <a:t>補足 2/4</a:t>
            </a:r>
          </a:p>
        </p:txBody>
      </p:sp>
      <p:sp>
        <p:nvSpPr>
          <p:cNvPr id="6" name="schedule-frame">
            <a:extLst>
              <a:ext uri="{FF2B5EF4-FFF2-40B4-BE49-F238E27FC236}">
                <a16:creationId xmlns:a16="http://schemas.microsoft.com/office/drawing/2014/main" id="{2FF35DF3-B061-4589-8AA8-A78EA0DDEF8A}"/>
              </a:ext>
            </a:extLst>
          </p:cNvPr>
          <p:cNvSpPr>
            <a:spLocks noGrp="1"/>
          </p:cNvSpPr>
          <p:nvPr/>
        </p:nvSpPr>
        <p:spPr>
          <a:xfrm>
            <a:off x="742950" y="1371600"/>
            <a:ext cx="6953250" cy="4610100"/>
          </a:xfrm>
          <a:prstGeom prst="roundRect">
            <a:avLst>
              <a:gd name="adj" fmla="val 2479"/>
            </a:avLst>
          </a:prstGeom>
          <a:solidFill>
            <a:srgbClr val="FFFFFF"/>
          </a:solidFill>
          <a:ln w="9525">
            <a:solidFill>
              <a:srgbClr val="D5E8F6"/>
            </a:solidFill>
            <a:prstDash val="solid"/>
          </a:ln>
        </p:spPr>
      </p:sp>
      <p:pic>
        <p:nvPicPr>
          <p:cNvPr id="28" name="図 27"/>
          <p:cNvPicPr>
            <a:picLocks noChangeAspect="1"/>
          </p:cNvPicPr>
          <p:nvPr/>
        </p:nvPicPr>
        <p:blipFill>
          <a:blip r:embed="rId3"/>
          <a:srcRect l="2182" r="2182"/>
          <a:stretch>
            <a:fillRect/>
          </a:stretch>
        </p:blipFill>
        <p:spPr>
          <a:xfrm>
            <a:off x="838200" y="1466850"/>
            <a:ext cx="6762750" cy="4419600"/>
          </a:xfrm>
          <a:prstGeom prst="roundRect">
            <a:avLst>
              <a:gd name="adj" fmla="val 2586"/>
            </a:avLst>
          </a:prstGeom>
        </p:spPr>
      </p:pic>
      <p:sp>
        <p:nvSpPr>
          <p:cNvPr id="8" name="schedule-point-1-number-circle">
            <a:extLst>
              <a:ext uri="{FF2B5EF4-FFF2-40B4-BE49-F238E27FC236}">
                <a16:creationId xmlns:a16="http://schemas.microsoft.com/office/drawing/2014/main" id="{8827AC2E-AC7B-479D-B0A9-9CD3F50CF34A}"/>
              </a:ext>
            </a:extLst>
          </p:cNvPr>
          <p:cNvSpPr>
            <a:spLocks noGrp="1"/>
          </p:cNvSpPr>
          <p:nvPr/>
        </p:nvSpPr>
        <p:spPr>
          <a:xfrm>
            <a:off x="8172450" y="1619250"/>
            <a:ext cx="323850" cy="323850"/>
          </a:xfrm>
          <a:prstGeom prst="ellipse">
            <a:avLst/>
          </a:prstGeom>
          <a:solidFill>
            <a:srgbClr val="24496D"/>
          </a:solidFill>
          <a:ln w="0">
            <a:solidFill>
              <a:srgbClr val="24496D"/>
            </a:solidFill>
            <a:prstDash val="solid"/>
          </a:ln>
        </p:spPr>
      </p:sp>
      <p:sp>
        <p:nvSpPr>
          <p:cNvPr id="9" name="schedule-point-1-number">
            <a:extLst>
              <a:ext uri="{FF2B5EF4-FFF2-40B4-BE49-F238E27FC236}">
                <a16:creationId xmlns:a16="http://schemas.microsoft.com/office/drawing/2014/main" id="{B217AA20-8CCB-4651-B734-C6A3A31F85BF}"/>
              </a:ext>
            </a:extLst>
          </p:cNvPr>
          <p:cNvSpPr>
            <a:spLocks noGrp="1"/>
          </p:cNvSpPr>
          <p:nvPr/>
        </p:nvSpPr>
        <p:spPr>
          <a:xfrm>
            <a:off x="8172450" y="1647825"/>
            <a:ext cx="323850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buNone/>
              <a:defRPr sz="1200" b="1">
                <a:solidFill>
                  <a:srgbClr val="FFFFFF"/>
                </a:solidFill>
              </a:defRPr>
            </a:pPr>
            <a:r>
              <a:rPr sz="1200" b="1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10" name="schedule-point-1-heading">
            <a:extLst>
              <a:ext uri="{FF2B5EF4-FFF2-40B4-BE49-F238E27FC236}">
                <a16:creationId xmlns:a16="http://schemas.microsoft.com/office/drawing/2014/main" id="{00DAC163-A59C-4222-B683-CF21C7ED79E8}"/>
              </a:ext>
            </a:extLst>
          </p:cNvPr>
          <p:cNvSpPr>
            <a:spLocks noGrp="1"/>
          </p:cNvSpPr>
          <p:nvPr/>
        </p:nvSpPr>
        <p:spPr>
          <a:xfrm>
            <a:off x="8648700" y="1600200"/>
            <a:ext cx="276225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buNone/>
              <a:defRPr sz="1500" b="1">
                <a:solidFill>
                  <a:srgbClr val="24496D"/>
                </a:solidFill>
              </a:defRPr>
            </a:pPr>
            <a:r>
              <a:rPr sz="1500" b="1">
                <a:solidFill>
                  <a:srgbClr val="24496D"/>
                </a:solidFill>
              </a:rPr>
              <a:t>一覧で比較</a:t>
            </a:r>
          </a:p>
        </p:txBody>
      </p:sp>
      <p:sp>
        <p:nvSpPr>
          <p:cNvPr id="11" name="schedule-point-1-body">
            <a:extLst>
              <a:ext uri="{FF2B5EF4-FFF2-40B4-BE49-F238E27FC236}">
                <a16:creationId xmlns:a16="http://schemas.microsoft.com/office/drawing/2014/main" id="{C1FA0B48-D2EB-4A60-895E-CECF887EF489}"/>
              </a:ext>
            </a:extLst>
          </p:cNvPr>
          <p:cNvSpPr>
            <a:spLocks noGrp="1"/>
          </p:cNvSpPr>
          <p:nvPr/>
        </p:nvSpPr>
        <p:spPr>
          <a:xfrm>
            <a:off x="8648700" y="1943100"/>
            <a:ext cx="2781300" cy="628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buNone/>
              <a:defRPr sz="1200">
                <a:solidFill>
                  <a:srgbClr val="24272D"/>
                </a:solidFill>
              </a:defRPr>
            </a:pPr>
            <a:r>
              <a:rPr sz="1200">
                <a:solidFill>
                  <a:srgbClr val="24272D"/>
                </a:solidFill>
              </a:rPr>
              <a:t>複数店舗の予定を、同じページ内で確認できる。</a:t>
            </a:r>
          </a:p>
        </p:txBody>
      </p:sp>
      <p:sp>
        <p:nvSpPr>
          <p:cNvPr id="12" name="schedule-point-2-number-circle">
            <a:extLst>
              <a:ext uri="{FF2B5EF4-FFF2-40B4-BE49-F238E27FC236}">
                <a16:creationId xmlns:a16="http://schemas.microsoft.com/office/drawing/2014/main" id="{D8633423-C117-4655-AFF8-A0DFD014CC21}"/>
              </a:ext>
            </a:extLst>
          </p:cNvPr>
          <p:cNvSpPr>
            <a:spLocks noGrp="1"/>
          </p:cNvSpPr>
          <p:nvPr/>
        </p:nvSpPr>
        <p:spPr>
          <a:xfrm>
            <a:off x="8172450" y="2857500"/>
            <a:ext cx="323850" cy="323850"/>
          </a:xfrm>
          <a:prstGeom prst="ellipse">
            <a:avLst/>
          </a:prstGeom>
          <a:solidFill>
            <a:srgbClr val="24496D"/>
          </a:solidFill>
          <a:ln w="0">
            <a:solidFill>
              <a:srgbClr val="24496D"/>
            </a:solidFill>
            <a:prstDash val="solid"/>
          </a:ln>
        </p:spPr>
      </p:sp>
      <p:sp>
        <p:nvSpPr>
          <p:cNvPr id="13" name="schedule-point-2-number">
            <a:extLst>
              <a:ext uri="{FF2B5EF4-FFF2-40B4-BE49-F238E27FC236}">
                <a16:creationId xmlns:a16="http://schemas.microsoft.com/office/drawing/2014/main" id="{F339FE02-9F40-4D64-AEED-55E460637E57}"/>
              </a:ext>
            </a:extLst>
          </p:cNvPr>
          <p:cNvSpPr>
            <a:spLocks noGrp="1"/>
          </p:cNvSpPr>
          <p:nvPr/>
        </p:nvSpPr>
        <p:spPr>
          <a:xfrm>
            <a:off x="8172450" y="2886075"/>
            <a:ext cx="323850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buNone/>
              <a:defRPr sz="1200" b="1">
                <a:solidFill>
                  <a:srgbClr val="FFFFFF"/>
                </a:solidFill>
              </a:defRPr>
            </a:pPr>
            <a:r>
              <a:rPr sz="1200" b="1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4" name="schedule-point-2-heading">
            <a:extLst>
              <a:ext uri="{FF2B5EF4-FFF2-40B4-BE49-F238E27FC236}">
                <a16:creationId xmlns:a16="http://schemas.microsoft.com/office/drawing/2014/main" id="{29A9E8CF-6751-457A-AAB2-42CD39B66675}"/>
              </a:ext>
            </a:extLst>
          </p:cNvPr>
          <p:cNvSpPr>
            <a:spLocks noGrp="1"/>
          </p:cNvSpPr>
          <p:nvPr/>
        </p:nvSpPr>
        <p:spPr>
          <a:xfrm>
            <a:off x="8648700" y="2838450"/>
            <a:ext cx="276225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buNone/>
              <a:defRPr sz="1500" b="1">
                <a:solidFill>
                  <a:srgbClr val="24496D"/>
                </a:solidFill>
              </a:defRPr>
            </a:pPr>
            <a:r>
              <a:rPr sz="1500" b="1">
                <a:solidFill>
                  <a:srgbClr val="24496D"/>
                </a:solidFill>
              </a:rPr>
              <a:t>店舗投稿へ直結</a:t>
            </a:r>
          </a:p>
        </p:txBody>
      </p:sp>
      <p:sp>
        <p:nvSpPr>
          <p:cNvPr id="15" name="schedule-point-2-body">
            <a:extLst>
              <a:ext uri="{FF2B5EF4-FFF2-40B4-BE49-F238E27FC236}">
                <a16:creationId xmlns:a16="http://schemas.microsoft.com/office/drawing/2014/main" id="{022B25BD-9523-4344-9107-62F888D876DA}"/>
              </a:ext>
            </a:extLst>
          </p:cNvPr>
          <p:cNvSpPr>
            <a:spLocks noGrp="1"/>
          </p:cNvSpPr>
          <p:nvPr/>
        </p:nvSpPr>
        <p:spPr>
          <a:xfrm>
            <a:off x="8648700" y="3181350"/>
            <a:ext cx="2781300" cy="628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buNone/>
              <a:defRPr sz="1200">
                <a:solidFill>
                  <a:srgbClr val="24272D"/>
                </a:solidFill>
              </a:defRPr>
            </a:pPr>
            <a:r>
              <a:rPr sz="1200">
                <a:solidFill>
                  <a:srgbClr val="24272D"/>
                </a:solidFill>
              </a:rPr>
              <a:t>各店舗の最新投稿へ移動し、詳細を確認できる。</a:t>
            </a:r>
          </a:p>
        </p:txBody>
      </p:sp>
      <p:sp>
        <p:nvSpPr>
          <p:cNvPr id="16" name="schedule-point-3-number-circle">
            <a:extLst>
              <a:ext uri="{FF2B5EF4-FFF2-40B4-BE49-F238E27FC236}">
                <a16:creationId xmlns:a16="http://schemas.microsoft.com/office/drawing/2014/main" id="{E3E34B95-F555-4B1A-B2E1-0071E271309E}"/>
              </a:ext>
            </a:extLst>
          </p:cNvPr>
          <p:cNvSpPr>
            <a:spLocks noGrp="1"/>
          </p:cNvSpPr>
          <p:nvPr/>
        </p:nvSpPr>
        <p:spPr>
          <a:xfrm>
            <a:off x="8172450" y="4095750"/>
            <a:ext cx="323850" cy="323850"/>
          </a:xfrm>
          <a:prstGeom prst="ellipse">
            <a:avLst/>
          </a:prstGeom>
          <a:solidFill>
            <a:srgbClr val="24496D"/>
          </a:solidFill>
          <a:ln w="0">
            <a:solidFill>
              <a:srgbClr val="24496D"/>
            </a:solidFill>
            <a:prstDash val="solid"/>
          </a:ln>
        </p:spPr>
      </p:sp>
      <p:sp>
        <p:nvSpPr>
          <p:cNvPr id="17" name="schedule-point-3-number">
            <a:extLst>
              <a:ext uri="{FF2B5EF4-FFF2-40B4-BE49-F238E27FC236}">
                <a16:creationId xmlns:a16="http://schemas.microsoft.com/office/drawing/2014/main" id="{D31A3EB8-9BAA-4CAD-B694-70E9F09E97A0}"/>
              </a:ext>
            </a:extLst>
          </p:cNvPr>
          <p:cNvSpPr>
            <a:spLocks noGrp="1"/>
          </p:cNvSpPr>
          <p:nvPr/>
        </p:nvSpPr>
        <p:spPr>
          <a:xfrm>
            <a:off x="8172450" y="4124325"/>
            <a:ext cx="323850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buNone/>
              <a:defRPr sz="1200" b="1">
                <a:solidFill>
                  <a:srgbClr val="FFFFFF"/>
                </a:solidFill>
              </a:defRPr>
            </a:pPr>
            <a:r>
              <a:rPr sz="1200" b="1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18" name="schedule-point-3-heading">
            <a:extLst>
              <a:ext uri="{FF2B5EF4-FFF2-40B4-BE49-F238E27FC236}">
                <a16:creationId xmlns:a16="http://schemas.microsoft.com/office/drawing/2014/main" id="{EA0E2BF9-2627-4E15-B705-CE8B1925D39E}"/>
              </a:ext>
            </a:extLst>
          </p:cNvPr>
          <p:cNvSpPr>
            <a:spLocks noGrp="1"/>
          </p:cNvSpPr>
          <p:nvPr/>
        </p:nvSpPr>
        <p:spPr>
          <a:xfrm>
            <a:off x="8648700" y="4076700"/>
            <a:ext cx="276225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buNone/>
              <a:defRPr sz="1500" b="1">
                <a:solidFill>
                  <a:srgbClr val="24496D"/>
                </a:solidFill>
              </a:defRPr>
            </a:pPr>
            <a:r>
              <a:rPr sz="1500" b="1">
                <a:solidFill>
                  <a:srgbClr val="24496D"/>
                </a:solidFill>
              </a:rPr>
              <a:t>来店判断を短縮</a:t>
            </a:r>
          </a:p>
        </p:txBody>
      </p:sp>
      <p:sp>
        <p:nvSpPr>
          <p:cNvPr id="19" name="schedule-point-3-body">
            <a:extLst>
              <a:ext uri="{FF2B5EF4-FFF2-40B4-BE49-F238E27FC236}">
                <a16:creationId xmlns:a16="http://schemas.microsoft.com/office/drawing/2014/main" id="{2C582300-0969-475D-BE00-DFBE360AD395}"/>
              </a:ext>
            </a:extLst>
          </p:cNvPr>
          <p:cNvSpPr>
            <a:spLocks noGrp="1"/>
          </p:cNvSpPr>
          <p:nvPr/>
        </p:nvSpPr>
        <p:spPr>
          <a:xfrm>
            <a:off x="8648700" y="4419600"/>
            <a:ext cx="2781300" cy="628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buNone/>
              <a:defRPr sz="1200">
                <a:solidFill>
                  <a:srgbClr val="24272D"/>
                </a:solidFill>
              </a:defRPr>
            </a:pPr>
            <a:r>
              <a:rPr sz="1200">
                <a:solidFill>
                  <a:srgbClr val="24272D"/>
                </a:solidFill>
              </a:rPr>
              <a:t>SNSを個別に探す手間を減らし、来店までの判断を速める。</a:t>
            </a:r>
          </a:p>
        </p:txBody>
      </p:sp>
    </p:spTree>
    <p:extLst>
      <p:ext uri="{BB962C8B-B14F-4D97-AF65-F5344CB8AC3E}">
        <p14:creationId xmlns:p14="http://schemas.microsoft.com/office/powerpoint/2010/main" val="104412173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73830216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slide-background">
            <a:extLst>
              <a:ext uri="{FF2B5EF4-FFF2-40B4-BE49-F238E27FC236}">
                <a16:creationId xmlns:a16="http://schemas.microsoft.com/office/drawing/2014/main" id="{FA18A06B-01C8-4B7D-BF25-41366663CC13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2" name="deck-label">
            <a:extLst>
              <a:ext uri="{FF2B5EF4-FFF2-40B4-BE49-F238E27FC236}">
                <a16:creationId xmlns:a16="http://schemas.microsoft.com/office/drawing/2014/main" id="{06FA2F85-E457-4763-9E11-BC3F7A8D9E49}"/>
              </a:ext>
            </a:extLst>
          </p:cNvPr>
          <p:cNvSpPr>
            <a:spLocks noGrp="1"/>
          </p:cNvSpPr>
          <p:nvPr/>
        </p:nvSpPr>
        <p:spPr>
          <a:xfrm>
            <a:off x="285750" y="219075"/>
            <a:ext cx="44767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buNone/>
              <a:defRPr sz="1200">
                <a:solidFill>
                  <a:srgbClr val="858585"/>
                </a:solidFill>
              </a:defRPr>
            </a:pPr>
            <a:r>
              <a:rPr sz="1200">
                <a:solidFill>
                  <a:srgbClr val="858585"/>
                </a:solidFill>
              </a:rPr>
              <a:t>milk planet公式サイト アップデート提案</a:t>
            </a:r>
          </a:p>
        </p:txBody>
      </p:sp>
      <p:sp>
        <p:nvSpPr>
          <p:cNvPr id="3" name="slide-title">
            <a:extLst>
              <a:ext uri="{FF2B5EF4-FFF2-40B4-BE49-F238E27FC236}">
                <a16:creationId xmlns:a16="http://schemas.microsoft.com/office/drawing/2014/main" id="{15ED7AF7-156A-4589-9F2F-49A4899BEC54}"/>
              </a:ext>
            </a:extLst>
          </p:cNvPr>
          <p:cNvSpPr>
            <a:spLocks noGrp="1"/>
          </p:cNvSpPr>
          <p:nvPr/>
        </p:nvSpPr>
        <p:spPr>
          <a:xfrm>
            <a:off x="742950" y="695325"/>
            <a:ext cx="1028700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buNone/>
              <a:defRPr sz="2700" b="1">
                <a:solidFill>
                  <a:srgbClr val="24272D"/>
                </a:solidFill>
              </a:defRPr>
            </a:pPr>
            <a:r>
              <a:rPr sz="2700" b="1">
                <a:solidFill>
                  <a:srgbClr val="24272D"/>
                </a:solidFill>
              </a:rPr>
              <a:t>実画面：BASE通販をブランド別に迷わず選べる</a:t>
            </a:r>
          </a:p>
        </p:txBody>
      </p:sp>
      <p:sp>
        <p:nvSpPr>
          <p:cNvPr id="4" name="confidential">
            <a:extLst>
              <a:ext uri="{FF2B5EF4-FFF2-40B4-BE49-F238E27FC236}">
                <a16:creationId xmlns:a16="http://schemas.microsoft.com/office/drawing/2014/main" id="{96708DCF-6C7E-4CAD-A69E-BECB9FE39E53}"/>
              </a:ext>
            </a:extLst>
          </p:cNvPr>
          <p:cNvSpPr>
            <a:spLocks noGrp="1"/>
          </p:cNvSpPr>
          <p:nvPr/>
        </p:nvSpPr>
        <p:spPr>
          <a:xfrm>
            <a:off x="285750" y="6448425"/>
            <a:ext cx="15240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buNone/>
              <a:defRPr sz="1050">
                <a:solidFill>
                  <a:srgbClr val="858585"/>
                </a:solidFill>
              </a:defRPr>
            </a:pPr>
            <a:r>
              <a:rPr sz="1050">
                <a:solidFill>
                  <a:srgbClr val="858585"/>
                </a:solidFill>
              </a:rPr>
              <a:t>Confidential</a:t>
            </a:r>
          </a:p>
        </p:txBody>
      </p:sp>
      <p:sp>
        <p:nvSpPr>
          <p:cNvPr id="5" name="supplement-number">
            <a:extLst>
              <a:ext uri="{FF2B5EF4-FFF2-40B4-BE49-F238E27FC236}">
                <a16:creationId xmlns:a16="http://schemas.microsoft.com/office/drawing/2014/main" id="{33A89FD8-4B7A-45B2-9CFF-335AD24B3E74}"/>
              </a:ext>
            </a:extLst>
          </p:cNvPr>
          <p:cNvSpPr>
            <a:spLocks noGrp="1"/>
          </p:cNvSpPr>
          <p:nvPr/>
        </p:nvSpPr>
        <p:spPr>
          <a:xfrm>
            <a:off x="10763250" y="6429375"/>
            <a:ext cx="11430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buNone/>
              <a:defRPr sz="1050">
                <a:solidFill>
                  <a:srgbClr val="858585"/>
                </a:solidFill>
              </a:defRPr>
            </a:pPr>
            <a:r>
              <a:rPr sz="1050">
                <a:solidFill>
                  <a:srgbClr val="858585"/>
                </a:solidFill>
              </a:rPr>
              <a:t>補足 3/4</a:t>
            </a:r>
          </a:p>
        </p:txBody>
      </p:sp>
      <p:sp>
        <p:nvSpPr>
          <p:cNvPr id="6" name="base-frame">
            <a:extLst>
              <a:ext uri="{FF2B5EF4-FFF2-40B4-BE49-F238E27FC236}">
                <a16:creationId xmlns:a16="http://schemas.microsoft.com/office/drawing/2014/main" id="{26AA5B26-2BB7-4DE7-B1DB-2BA347EDC5DF}"/>
              </a:ext>
            </a:extLst>
          </p:cNvPr>
          <p:cNvSpPr>
            <a:spLocks noGrp="1"/>
          </p:cNvSpPr>
          <p:nvPr/>
        </p:nvSpPr>
        <p:spPr>
          <a:xfrm>
            <a:off x="742950" y="1371600"/>
            <a:ext cx="6953250" cy="4610100"/>
          </a:xfrm>
          <a:prstGeom prst="roundRect">
            <a:avLst>
              <a:gd name="adj" fmla="val 2479"/>
            </a:avLst>
          </a:prstGeom>
          <a:solidFill>
            <a:srgbClr val="FFFFFF"/>
          </a:solidFill>
          <a:ln w="9525">
            <a:solidFill>
              <a:srgbClr val="D5E8F6"/>
            </a:solidFill>
            <a:prstDash val="solid"/>
          </a:ln>
        </p:spPr>
      </p:sp>
      <p:pic>
        <p:nvPicPr>
          <p:cNvPr id="28" name="図 27"/>
          <p:cNvPicPr>
            <a:picLocks noChangeAspect="1"/>
          </p:cNvPicPr>
          <p:nvPr/>
        </p:nvPicPr>
        <p:blipFill>
          <a:blip r:embed="rId3"/>
          <a:srcRect l="2182" r="2182"/>
          <a:stretch>
            <a:fillRect/>
          </a:stretch>
        </p:blipFill>
        <p:spPr>
          <a:xfrm>
            <a:off x="838200" y="1466850"/>
            <a:ext cx="6762750" cy="4419600"/>
          </a:xfrm>
          <a:prstGeom prst="roundRect">
            <a:avLst>
              <a:gd name="adj" fmla="val 2586"/>
            </a:avLst>
          </a:prstGeom>
        </p:spPr>
      </p:pic>
      <p:sp>
        <p:nvSpPr>
          <p:cNvPr id="8" name="base-point-1-number-circle">
            <a:extLst>
              <a:ext uri="{FF2B5EF4-FFF2-40B4-BE49-F238E27FC236}">
                <a16:creationId xmlns:a16="http://schemas.microsoft.com/office/drawing/2014/main" id="{C1E0A798-EE2A-4D22-889E-FFB732DB1421}"/>
              </a:ext>
            </a:extLst>
          </p:cNvPr>
          <p:cNvSpPr>
            <a:spLocks noGrp="1"/>
          </p:cNvSpPr>
          <p:nvPr/>
        </p:nvSpPr>
        <p:spPr>
          <a:xfrm>
            <a:off x="8172450" y="1619250"/>
            <a:ext cx="323850" cy="323850"/>
          </a:xfrm>
          <a:prstGeom prst="ellipse">
            <a:avLst/>
          </a:prstGeom>
          <a:solidFill>
            <a:srgbClr val="24496D"/>
          </a:solidFill>
          <a:ln w="0">
            <a:solidFill>
              <a:srgbClr val="24496D"/>
            </a:solidFill>
            <a:prstDash val="solid"/>
          </a:ln>
        </p:spPr>
      </p:sp>
      <p:sp>
        <p:nvSpPr>
          <p:cNvPr id="9" name="base-point-1-number">
            <a:extLst>
              <a:ext uri="{FF2B5EF4-FFF2-40B4-BE49-F238E27FC236}">
                <a16:creationId xmlns:a16="http://schemas.microsoft.com/office/drawing/2014/main" id="{1D90413A-A81B-42B8-A8E9-1CAC5E1755F6}"/>
              </a:ext>
            </a:extLst>
          </p:cNvPr>
          <p:cNvSpPr>
            <a:spLocks noGrp="1"/>
          </p:cNvSpPr>
          <p:nvPr/>
        </p:nvSpPr>
        <p:spPr>
          <a:xfrm>
            <a:off x="8172450" y="1647825"/>
            <a:ext cx="323850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buNone/>
              <a:defRPr sz="1200" b="1">
                <a:solidFill>
                  <a:srgbClr val="FFFFFF"/>
                </a:solidFill>
              </a:defRPr>
            </a:pPr>
            <a:r>
              <a:rPr sz="1200" b="1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10" name="base-point-1-heading">
            <a:extLst>
              <a:ext uri="{FF2B5EF4-FFF2-40B4-BE49-F238E27FC236}">
                <a16:creationId xmlns:a16="http://schemas.microsoft.com/office/drawing/2014/main" id="{99E70A0D-F02D-44A9-9F9E-E8C5F98C7F90}"/>
              </a:ext>
            </a:extLst>
          </p:cNvPr>
          <p:cNvSpPr>
            <a:spLocks noGrp="1"/>
          </p:cNvSpPr>
          <p:nvPr/>
        </p:nvSpPr>
        <p:spPr>
          <a:xfrm>
            <a:off x="8648700" y="1600200"/>
            <a:ext cx="276225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buNone/>
              <a:defRPr sz="1500" b="1">
                <a:solidFill>
                  <a:srgbClr val="24496D"/>
                </a:solidFill>
              </a:defRPr>
            </a:pPr>
            <a:r>
              <a:rPr sz="1500" b="1">
                <a:solidFill>
                  <a:srgbClr val="24496D"/>
                </a:solidFill>
              </a:rPr>
              <a:t>共通入口</a:t>
            </a:r>
          </a:p>
        </p:txBody>
      </p:sp>
      <p:sp>
        <p:nvSpPr>
          <p:cNvPr id="11" name="base-point-1-body">
            <a:extLst>
              <a:ext uri="{FF2B5EF4-FFF2-40B4-BE49-F238E27FC236}">
                <a16:creationId xmlns:a16="http://schemas.microsoft.com/office/drawing/2014/main" id="{6E55B03A-29D8-40F6-8996-5443461E5B94}"/>
              </a:ext>
            </a:extLst>
          </p:cNvPr>
          <p:cNvSpPr>
            <a:spLocks noGrp="1"/>
          </p:cNvSpPr>
          <p:nvPr/>
        </p:nvSpPr>
        <p:spPr>
          <a:xfrm>
            <a:off x="8648700" y="1943100"/>
            <a:ext cx="2781300" cy="628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buNone/>
              <a:defRPr sz="1200">
                <a:solidFill>
                  <a:srgbClr val="24272D"/>
                </a:solidFill>
              </a:defRPr>
            </a:pPr>
            <a:r>
              <a:rPr sz="1200">
                <a:solidFill>
                  <a:srgbClr val="24272D"/>
                </a:solidFill>
              </a:rPr>
              <a:t>どのページからでも「えんかく つうはん」を開ける。</a:t>
            </a:r>
          </a:p>
        </p:txBody>
      </p:sp>
      <p:sp>
        <p:nvSpPr>
          <p:cNvPr id="12" name="base-point-2-number-circle">
            <a:extLst>
              <a:ext uri="{FF2B5EF4-FFF2-40B4-BE49-F238E27FC236}">
                <a16:creationId xmlns:a16="http://schemas.microsoft.com/office/drawing/2014/main" id="{92D24C05-CEFF-4AE1-9C8B-354A406B1C20}"/>
              </a:ext>
            </a:extLst>
          </p:cNvPr>
          <p:cNvSpPr>
            <a:spLocks noGrp="1"/>
          </p:cNvSpPr>
          <p:nvPr/>
        </p:nvSpPr>
        <p:spPr>
          <a:xfrm>
            <a:off x="8172450" y="2857500"/>
            <a:ext cx="323850" cy="323850"/>
          </a:xfrm>
          <a:prstGeom prst="ellipse">
            <a:avLst/>
          </a:prstGeom>
          <a:solidFill>
            <a:srgbClr val="24496D"/>
          </a:solidFill>
          <a:ln w="0">
            <a:solidFill>
              <a:srgbClr val="24496D"/>
            </a:solidFill>
            <a:prstDash val="solid"/>
          </a:ln>
        </p:spPr>
      </p:sp>
      <p:sp>
        <p:nvSpPr>
          <p:cNvPr id="13" name="base-point-2-number">
            <a:extLst>
              <a:ext uri="{FF2B5EF4-FFF2-40B4-BE49-F238E27FC236}">
                <a16:creationId xmlns:a16="http://schemas.microsoft.com/office/drawing/2014/main" id="{0422BDA6-4A12-4B93-8560-B59FD4D3B64A}"/>
              </a:ext>
            </a:extLst>
          </p:cNvPr>
          <p:cNvSpPr>
            <a:spLocks noGrp="1"/>
          </p:cNvSpPr>
          <p:nvPr/>
        </p:nvSpPr>
        <p:spPr>
          <a:xfrm>
            <a:off x="8172450" y="2886075"/>
            <a:ext cx="323850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buNone/>
              <a:defRPr sz="1200" b="1">
                <a:solidFill>
                  <a:srgbClr val="FFFFFF"/>
                </a:solidFill>
              </a:defRPr>
            </a:pPr>
            <a:r>
              <a:rPr sz="1200" b="1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4" name="base-point-2-heading">
            <a:extLst>
              <a:ext uri="{FF2B5EF4-FFF2-40B4-BE49-F238E27FC236}">
                <a16:creationId xmlns:a16="http://schemas.microsoft.com/office/drawing/2014/main" id="{FB704E89-A166-487D-8AC2-B7F8EC0E363C}"/>
              </a:ext>
            </a:extLst>
          </p:cNvPr>
          <p:cNvSpPr>
            <a:spLocks noGrp="1"/>
          </p:cNvSpPr>
          <p:nvPr/>
        </p:nvSpPr>
        <p:spPr>
          <a:xfrm>
            <a:off x="8648700" y="2838450"/>
            <a:ext cx="276225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buNone/>
              <a:defRPr sz="1500" b="1">
                <a:solidFill>
                  <a:srgbClr val="24496D"/>
                </a:solidFill>
              </a:defRPr>
            </a:pPr>
            <a:r>
              <a:rPr sz="1500" b="1">
                <a:solidFill>
                  <a:srgbClr val="24496D"/>
                </a:solidFill>
              </a:rPr>
              <a:t>ブランド別選択</a:t>
            </a:r>
          </a:p>
        </p:txBody>
      </p:sp>
      <p:sp>
        <p:nvSpPr>
          <p:cNvPr id="15" name="base-point-2-body">
            <a:extLst>
              <a:ext uri="{FF2B5EF4-FFF2-40B4-BE49-F238E27FC236}">
                <a16:creationId xmlns:a16="http://schemas.microsoft.com/office/drawing/2014/main" id="{D2506EA6-3886-4DF3-81BF-416C7739D04C}"/>
              </a:ext>
            </a:extLst>
          </p:cNvPr>
          <p:cNvSpPr>
            <a:spLocks noGrp="1"/>
          </p:cNvSpPr>
          <p:nvPr/>
        </p:nvSpPr>
        <p:spPr>
          <a:xfrm>
            <a:off x="8648700" y="3181350"/>
            <a:ext cx="2781300" cy="628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buNone/>
              <a:defRPr sz="1200">
                <a:solidFill>
                  <a:srgbClr val="24272D"/>
                </a:solidFill>
              </a:defRPr>
            </a:pPr>
            <a:r>
              <a:rPr sz="1200">
                <a:solidFill>
                  <a:srgbClr val="24272D"/>
                </a:solidFill>
              </a:rPr>
              <a:t>利用者が目的の店舗名を見て、そのままBASEへ進める。</a:t>
            </a:r>
          </a:p>
        </p:txBody>
      </p:sp>
      <p:sp>
        <p:nvSpPr>
          <p:cNvPr id="16" name="base-point-3-number-circle">
            <a:extLst>
              <a:ext uri="{FF2B5EF4-FFF2-40B4-BE49-F238E27FC236}">
                <a16:creationId xmlns:a16="http://schemas.microsoft.com/office/drawing/2014/main" id="{880F502D-7E36-4EE7-8F93-0F4D868C3D08}"/>
              </a:ext>
            </a:extLst>
          </p:cNvPr>
          <p:cNvSpPr>
            <a:spLocks noGrp="1"/>
          </p:cNvSpPr>
          <p:nvPr/>
        </p:nvSpPr>
        <p:spPr>
          <a:xfrm>
            <a:off x="8172450" y="4095750"/>
            <a:ext cx="323850" cy="323850"/>
          </a:xfrm>
          <a:prstGeom prst="ellipse">
            <a:avLst/>
          </a:prstGeom>
          <a:solidFill>
            <a:srgbClr val="24496D"/>
          </a:solidFill>
          <a:ln w="0">
            <a:solidFill>
              <a:srgbClr val="24496D"/>
            </a:solidFill>
            <a:prstDash val="solid"/>
          </a:ln>
        </p:spPr>
      </p:sp>
      <p:sp>
        <p:nvSpPr>
          <p:cNvPr id="17" name="base-point-3-number">
            <a:extLst>
              <a:ext uri="{FF2B5EF4-FFF2-40B4-BE49-F238E27FC236}">
                <a16:creationId xmlns:a16="http://schemas.microsoft.com/office/drawing/2014/main" id="{F11CBBB9-1D2C-4E3D-9382-400E5C72157D}"/>
              </a:ext>
            </a:extLst>
          </p:cNvPr>
          <p:cNvSpPr>
            <a:spLocks noGrp="1"/>
          </p:cNvSpPr>
          <p:nvPr/>
        </p:nvSpPr>
        <p:spPr>
          <a:xfrm>
            <a:off x="8172450" y="4124325"/>
            <a:ext cx="323850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buNone/>
              <a:defRPr sz="1200" b="1">
                <a:solidFill>
                  <a:srgbClr val="FFFFFF"/>
                </a:solidFill>
              </a:defRPr>
            </a:pPr>
            <a:r>
              <a:rPr sz="1200" b="1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18" name="base-point-3-heading">
            <a:extLst>
              <a:ext uri="{FF2B5EF4-FFF2-40B4-BE49-F238E27FC236}">
                <a16:creationId xmlns:a16="http://schemas.microsoft.com/office/drawing/2014/main" id="{417C0210-C507-448B-8B18-0D327AB441B7}"/>
              </a:ext>
            </a:extLst>
          </p:cNvPr>
          <p:cNvSpPr>
            <a:spLocks noGrp="1"/>
          </p:cNvSpPr>
          <p:nvPr/>
        </p:nvSpPr>
        <p:spPr>
          <a:xfrm>
            <a:off x="8648700" y="4076700"/>
            <a:ext cx="276225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buNone/>
              <a:defRPr sz="1500" b="1">
                <a:solidFill>
                  <a:srgbClr val="24496D"/>
                </a:solidFill>
              </a:defRPr>
            </a:pPr>
            <a:r>
              <a:rPr sz="1500" b="1">
                <a:solidFill>
                  <a:srgbClr val="24496D"/>
                </a:solidFill>
              </a:rPr>
              <a:t>販売機会を拡張</a:t>
            </a:r>
          </a:p>
        </p:txBody>
      </p:sp>
      <p:sp>
        <p:nvSpPr>
          <p:cNvPr id="19" name="base-point-3-body">
            <a:extLst>
              <a:ext uri="{FF2B5EF4-FFF2-40B4-BE49-F238E27FC236}">
                <a16:creationId xmlns:a16="http://schemas.microsoft.com/office/drawing/2014/main" id="{AFCEE2AB-9810-469C-901F-B896A4E25CC8}"/>
              </a:ext>
            </a:extLst>
          </p:cNvPr>
          <p:cNvSpPr>
            <a:spLocks noGrp="1"/>
          </p:cNvSpPr>
          <p:nvPr/>
        </p:nvSpPr>
        <p:spPr>
          <a:xfrm>
            <a:off x="8648700" y="4419600"/>
            <a:ext cx="2781300" cy="628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buNone/>
              <a:defRPr sz="1200">
                <a:solidFill>
                  <a:srgbClr val="24272D"/>
                </a:solidFill>
              </a:defRPr>
            </a:pPr>
            <a:r>
              <a:rPr sz="1200">
                <a:solidFill>
                  <a:srgbClr val="24272D"/>
                </a:solidFill>
              </a:rPr>
              <a:t>通販を知らない来訪者にも、自然な導線で存在を伝える。</a:t>
            </a:r>
          </a:p>
        </p:txBody>
      </p:sp>
    </p:spTree>
    <p:extLst>
      <p:ext uri="{BB962C8B-B14F-4D97-AF65-F5344CB8AC3E}">
        <p14:creationId xmlns:p14="http://schemas.microsoft.com/office/powerpoint/2010/main" val="102484793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09634222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slide-background">
            <a:extLst>
              <a:ext uri="{FF2B5EF4-FFF2-40B4-BE49-F238E27FC236}">
                <a16:creationId xmlns:a16="http://schemas.microsoft.com/office/drawing/2014/main" id="{7CD86DCE-E80D-4A9F-BACB-A0A1B7472919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2" name="deck-label">
            <a:extLst>
              <a:ext uri="{FF2B5EF4-FFF2-40B4-BE49-F238E27FC236}">
                <a16:creationId xmlns:a16="http://schemas.microsoft.com/office/drawing/2014/main" id="{3EB186E6-7516-4995-8681-B361C4F8E62A}"/>
              </a:ext>
            </a:extLst>
          </p:cNvPr>
          <p:cNvSpPr>
            <a:spLocks noGrp="1"/>
          </p:cNvSpPr>
          <p:nvPr/>
        </p:nvSpPr>
        <p:spPr>
          <a:xfrm>
            <a:off x="285750" y="219075"/>
            <a:ext cx="44767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buNone/>
              <a:defRPr sz="1200">
                <a:solidFill>
                  <a:srgbClr val="858585"/>
                </a:solidFill>
              </a:defRPr>
            </a:pPr>
            <a:r>
              <a:rPr sz="1200">
                <a:solidFill>
                  <a:srgbClr val="858585"/>
                </a:solidFill>
              </a:rPr>
              <a:t>milk planet公式サイト アップデート提案</a:t>
            </a:r>
          </a:p>
        </p:txBody>
      </p:sp>
      <p:sp>
        <p:nvSpPr>
          <p:cNvPr id="3" name="slide-title">
            <a:extLst>
              <a:ext uri="{FF2B5EF4-FFF2-40B4-BE49-F238E27FC236}">
                <a16:creationId xmlns:a16="http://schemas.microsoft.com/office/drawing/2014/main" id="{8790A0C5-4196-49D6-AC81-D06D6EC0EE7A}"/>
              </a:ext>
            </a:extLst>
          </p:cNvPr>
          <p:cNvSpPr>
            <a:spLocks noGrp="1"/>
          </p:cNvSpPr>
          <p:nvPr/>
        </p:nvSpPr>
        <p:spPr>
          <a:xfrm>
            <a:off x="742950" y="695325"/>
            <a:ext cx="1028700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buNone/>
              <a:defRPr sz="2700" b="1">
                <a:solidFill>
                  <a:srgbClr val="24272D"/>
                </a:solidFill>
              </a:defRPr>
            </a:pPr>
            <a:r>
              <a:rPr sz="2700" b="1">
                <a:solidFill>
                  <a:srgbClr val="24272D"/>
                </a:solidFill>
              </a:rPr>
              <a:t>実画面：固定メニューで情報階層を一か所に整理</a:t>
            </a:r>
          </a:p>
        </p:txBody>
      </p:sp>
      <p:sp>
        <p:nvSpPr>
          <p:cNvPr id="4" name="confidential">
            <a:extLst>
              <a:ext uri="{FF2B5EF4-FFF2-40B4-BE49-F238E27FC236}">
                <a16:creationId xmlns:a16="http://schemas.microsoft.com/office/drawing/2014/main" id="{73DEEC0E-7D5D-4088-AA86-62CB72A78174}"/>
              </a:ext>
            </a:extLst>
          </p:cNvPr>
          <p:cNvSpPr>
            <a:spLocks noGrp="1"/>
          </p:cNvSpPr>
          <p:nvPr/>
        </p:nvSpPr>
        <p:spPr>
          <a:xfrm>
            <a:off x="285750" y="6448425"/>
            <a:ext cx="15240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buNone/>
              <a:defRPr sz="1050">
                <a:solidFill>
                  <a:srgbClr val="858585"/>
                </a:solidFill>
              </a:defRPr>
            </a:pPr>
            <a:r>
              <a:rPr sz="1050">
                <a:solidFill>
                  <a:srgbClr val="858585"/>
                </a:solidFill>
              </a:rPr>
              <a:t>Confidential</a:t>
            </a:r>
          </a:p>
        </p:txBody>
      </p:sp>
      <p:sp>
        <p:nvSpPr>
          <p:cNvPr id="5" name="supplement-number">
            <a:extLst>
              <a:ext uri="{FF2B5EF4-FFF2-40B4-BE49-F238E27FC236}">
                <a16:creationId xmlns:a16="http://schemas.microsoft.com/office/drawing/2014/main" id="{88AFA4A3-0C61-4CB9-BB62-27ADE3085973}"/>
              </a:ext>
            </a:extLst>
          </p:cNvPr>
          <p:cNvSpPr>
            <a:spLocks noGrp="1"/>
          </p:cNvSpPr>
          <p:nvPr/>
        </p:nvSpPr>
        <p:spPr>
          <a:xfrm>
            <a:off x="10763250" y="6429375"/>
            <a:ext cx="11430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buNone/>
              <a:defRPr sz="1050">
                <a:solidFill>
                  <a:srgbClr val="858585"/>
                </a:solidFill>
              </a:defRPr>
            </a:pPr>
            <a:r>
              <a:rPr sz="1050">
                <a:solidFill>
                  <a:srgbClr val="858585"/>
                </a:solidFill>
              </a:rPr>
              <a:t>補足 4/4</a:t>
            </a:r>
          </a:p>
        </p:txBody>
      </p:sp>
      <p:sp>
        <p:nvSpPr>
          <p:cNvPr id="6" name="closed-label-box">
            <a:extLst>
              <a:ext uri="{FF2B5EF4-FFF2-40B4-BE49-F238E27FC236}">
                <a16:creationId xmlns:a16="http://schemas.microsoft.com/office/drawing/2014/main" id="{AEF5CA2A-05FC-4F34-BBD1-3C71906D6F51}"/>
              </a:ext>
            </a:extLst>
          </p:cNvPr>
          <p:cNvSpPr>
            <a:spLocks noGrp="1"/>
          </p:cNvSpPr>
          <p:nvPr/>
        </p:nvSpPr>
        <p:spPr>
          <a:xfrm>
            <a:off x="742950" y="1362075"/>
            <a:ext cx="4857750" cy="323850"/>
          </a:xfrm>
          <a:prstGeom prst="roundRect">
            <a:avLst>
              <a:gd name="adj" fmla="val 23529"/>
            </a:avLst>
          </a:prstGeom>
          <a:solidFill>
            <a:srgbClr val="EAF6FF"/>
          </a:solidFill>
          <a:ln w="9525">
            <a:solidFill>
              <a:srgbClr val="EAF6FF"/>
            </a:solidFill>
            <a:prstDash val="solid"/>
          </a:ln>
        </p:spPr>
      </p:sp>
      <p:sp>
        <p:nvSpPr>
          <p:cNvPr id="7" name="closed-label">
            <a:extLst>
              <a:ext uri="{FF2B5EF4-FFF2-40B4-BE49-F238E27FC236}">
                <a16:creationId xmlns:a16="http://schemas.microsoft.com/office/drawing/2014/main" id="{18AFEC41-E471-467A-B195-8B6B3E1BF168}"/>
              </a:ext>
            </a:extLst>
          </p:cNvPr>
          <p:cNvSpPr>
            <a:spLocks noGrp="1"/>
          </p:cNvSpPr>
          <p:nvPr/>
        </p:nvSpPr>
        <p:spPr>
          <a:xfrm>
            <a:off x="742950" y="1362075"/>
            <a:ext cx="48577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buNone/>
              <a:defRPr sz="1200" b="1">
                <a:solidFill>
                  <a:srgbClr val="24496D"/>
                </a:solidFill>
              </a:defRPr>
            </a:pPr>
            <a:r>
              <a:rPr sz="1200" b="1">
                <a:solidFill>
                  <a:srgbClr val="24496D"/>
                </a:solidFill>
              </a:rPr>
              <a:t>通常表示：写真を主役に</a:t>
            </a:r>
          </a:p>
        </p:txBody>
      </p:sp>
      <p:sp>
        <p:nvSpPr>
          <p:cNvPr id="8" name="open-label-box">
            <a:extLst>
              <a:ext uri="{FF2B5EF4-FFF2-40B4-BE49-F238E27FC236}">
                <a16:creationId xmlns:a16="http://schemas.microsoft.com/office/drawing/2014/main" id="{9B5365EE-E443-4960-989D-E53A8BB84A8A}"/>
              </a:ext>
            </a:extLst>
          </p:cNvPr>
          <p:cNvSpPr>
            <a:spLocks noGrp="1"/>
          </p:cNvSpPr>
          <p:nvPr/>
        </p:nvSpPr>
        <p:spPr>
          <a:xfrm>
            <a:off x="6591300" y="1362075"/>
            <a:ext cx="4857750" cy="323850"/>
          </a:xfrm>
          <a:prstGeom prst="roundRect">
            <a:avLst>
              <a:gd name="adj" fmla="val 23529"/>
            </a:avLst>
          </a:prstGeom>
          <a:solidFill>
            <a:srgbClr val="EAF6FF"/>
          </a:solidFill>
          <a:ln w="9525">
            <a:solidFill>
              <a:srgbClr val="EAF6FF"/>
            </a:solidFill>
            <a:prstDash val="solid"/>
          </a:ln>
        </p:spPr>
      </p:sp>
      <p:sp>
        <p:nvSpPr>
          <p:cNvPr id="9" name="open-label">
            <a:extLst>
              <a:ext uri="{FF2B5EF4-FFF2-40B4-BE49-F238E27FC236}">
                <a16:creationId xmlns:a16="http://schemas.microsoft.com/office/drawing/2014/main" id="{E71F2B90-FEDA-47D5-9191-CEF2BD668E16}"/>
              </a:ext>
            </a:extLst>
          </p:cNvPr>
          <p:cNvSpPr>
            <a:spLocks noGrp="1"/>
          </p:cNvSpPr>
          <p:nvPr/>
        </p:nvSpPr>
        <p:spPr>
          <a:xfrm>
            <a:off x="6591300" y="1362075"/>
            <a:ext cx="48577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buNone/>
              <a:defRPr sz="1200" b="1">
                <a:solidFill>
                  <a:srgbClr val="24496D"/>
                </a:solidFill>
              </a:defRPr>
            </a:pPr>
            <a:r>
              <a:rPr sz="1200" b="1">
                <a:solidFill>
                  <a:srgbClr val="24496D"/>
                </a:solidFill>
              </a:rPr>
              <a:t>操作時：必要な項目だけ展開</a:t>
            </a:r>
          </a:p>
        </p:txBody>
      </p:sp>
      <p:pic>
        <p:nvPicPr>
          <p:cNvPr id="26" name="図 25"/>
          <p:cNvPicPr>
            <a:picLocks noChangeAspect="1"/>
          </p:cNvPicPr>
          <p:nvPr/>
        </p:nvPicPr>
        <p:blipFill>
          <a:blip r:embed="rId3"/>
          <a:srcRect l="39" r="39"/>
          <a:stretch>
            <a:fillRect/>
          </a:stretch>
        </p:blipFill>
        <p:spPr>
          <a:xfrm>
            <a:off x="742950" y="1819275"/>
            <a:ext cx="4857750" cy="3038475"/>
          </a:xfrm>
          <a:prstGeom prst="roundRect">
            <a:avLst>
              <a:gd name="adj" fmla="val 3762"/>
            </a:avLst>
          </a:prstGeom>
        </p:spPr>
      </p:pic>
      <p:pic>
        <p:nvPicPr>
          <p:cNvPr id="27" name="図 26"/>
          <p:cNvPicPr>
            <a:picLocks noChangeAspect="1"/>
          </p:cNvPicPr>
          <p:nvPr/>
        </p:nvPicPr>
        <p:blipFill>
          <a:blip r:embed="rId4"/>
          <a:srcRect l="39" r="39"/>
          <a:stretch>
            <a:fillRect/>
          </a:stretch>
        </p:blipFill>
        <p:spPr>
          <a:xfrm>
            <a:off x="6591300" y="1819275"/>
            <a:ext cx="4857750" cy="3038475"/>
          </a:xfrm>
          <a:prstGeom prst="roundRect">
            <a:avLst>
              <a:gd name="adj" fmla="val 3762"/>
            </a:avLst>
          </a:prstGeom>
        </p:spPr>
      </p:pic>
      <p:sp>
        <p:nvSpPr>
          <p:cNvPr id="12" name="ui-summary-band">
            <a:extLst>
              <a:ext uri="{FF2B5EF4-FFF2-40B4-BE49-F238E27FC236}">
                <a16:creationId xmlns:a16="http://schemas.microsoft.com/office/drawing/2014/main" id="{3CCA955B-4AC2-4ABC-A289-1861C21BF9E1}"/>
              </a:ext>
            </a:extLst>
          </p:cNvPr>
          <p:cNvSpPr>
            <a:spLocks noGrp="1"/>
          </p:cNvSpPr>
          <p:nvPr/>
        </p:nvSpPr>
        <p:spPr>
          <a:xfrm>
            <a:off x="742950" y="5095875"/>
            <a:ext cx="10706100" cy="933450"/>
          </a:xfrm>
          <a:prstGeom prst="roundRect">
            <a:avLst>
              <a:gd name="adj" fmla="val 12245"/>
            </a:avLst>
          </a:prstGeom>
          <a:solidFill>
            <a:srgbClr val="EAF6FF"/>
          </a:solidFill>
          <a:ln w="9525">
            <a:solidFill>
              <a:srgbClr val="EAF6FF"/>
            </a:solidFill>
            <a:prstDash val="solid"/>
          </a:ln>
        </p:spPr>
      </p:sp>
      <p:sp>
        <p:nvSpPr>
          <p:cNvPr id="13" name="ui-summary">
            <a:extLst>
              <a:ext uri="{FF2B5EF4-FFF2-40B4-BE49-F238E27FC236}">
                <a16:creationId xmlns:a16="http://schemas.microsoft.com/office/drawing/2014/main" id="{FAA4C9BE-E987-40F7-83F6-33ABF6B47680}"/>
              </a:ext>
            </a:extLst>
          </p:cNvPr>
          <p:cNvSpPr>
            <a:spLocks noGrp="1"/>
          </p:cNvSpPr>
          <p:nvPr/>
        </p:nvSpPr>
        <p:spPr>
          <a:xfrm>
            <a:off x="1028700" y="5286375"/>
            <a:ext cx="10134600" cy="571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buNone/>
              <a:defRPr sz="1500" b="1">
                <a:solidFill>
                  <a:srgbClr val="24496D"/>
                </a:solidFill>
              </a:defRPr>
            </a:pPr>
            <a:r>
              <a:rPr sz="1500" b="1">
                <a:solidFill>
                  <a:srgbClr val="24496D"/>
                </a:solidFill>
              </a:rPr>
              <a:t>通常時はブランド写真を妨げず、必要なときだけ情報階層を表示。</a:t>
            </a:r>
          </a:p>
          <a:p>
            <a:pPr algn="ctr">
              <a:buNone/>
              <a:defRPr sz="1500" b="1">
                <a:solidFill>
                  <a:srgbClr val="24496D"/>
                </a:solidFill>
              </a:defRPr>
            </a:pPr>
            <a:r>
              <a:rPr sz="1500" b="1">
                <a:solidFill>
                  <a:srgbClr val="24496D"/>
                </a:solidFill>
              </a:rPr>
              <a:t>「今見ているページ」と「次に進める場所」を同じメニュー内で理解できる。</a:t>
            </a:r>
          </a:p>
        </p:txBody>
      </p:sp>
    </p:spTree>
    <p:extLst>
      <p:ext uri="{BB962C8B-B14F-4D97-AF65-F5344CB8AC3E}">
        <p14:creationId xmlns:p14="http://schemas.microsoft.com/office/powerpoint/2010/main" val="108873216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slide-background">
            <a:extLst>
              <a:ext uri="{FF2B5EF4-FFF2-40B4-BE49-F238E27FC236}">
                <a16:creationId xmlns:a16="http://schemas.microsoft.com/office/drawing/2014/main" id="{1273C8BE-C6F9-4146-819D-9E882AED5012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2" name="deck-label">
            <a:extLst>
              <a:ext uri="{FF2B5EF4-FFF2-40B4-BE49-F238E27FC236}">
                <a16:creationId xmlns:a16="http://schemas.microsoft.com/office/drawing/2014/main" id="{62F7847F-A3B0-4CB1-A48D-9A2D3ABA8F5A}"/>
              </a:ext>
            </a:extLst>
          </p:cNvPr>
          <p:cNvSpPr>
            <a:spLocks noGrp="1"/>
          </p:cNvSpPr>
          <p:nvPr/>
        </p:nvSpPr>
        <p:spPr>
          <a:xfrm>
            <a:off x="285750" y="219075"/>
            <a:ext cx="5334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200">
                <a:solidFill>
                  <a:srgbClr val="858585"/>
                </a:solidFill>
              </a:defRPr>
            </a:pPr>
            <a:r>
              <a:rPr sz="1200">
                <a:solidFill>
                  <a:srgbClr val="858585"/>
                </a:solidFill>
              </a:rPr>
              <a:t>milk planet公式サイト アップデート提案</a:t>
            </a:r>
          </a:p>
        </p:txBody>
      </p:sp>
      <p:sp>
        <p:nvSpPr>
          <p:cNvPr id="3" name="slide-title">
            <a:extLst>
              <a:ext uri="{FF2B5EF4-FFF2-40B4-BE49-F238E27FC236}">
                <a16:creationId xmlns:a16="http://schemas.microsoft.com/office/drawing/2014/main" id="{F9D1E533-7EAF-430E-A4B3-21649C10FB0D}"/>
              </a:ext>
            </a:extLst>
          </p:cNvPr>
          <p:cNvSpPr>
            <a:spLocks noGrp="1"/>
          </p:cNvSpPr>
          <p:nvPr/>
        </p:nvSpPr>
        <p:spPr>
          <a:xfrm>
            <a:off x="742950" y="695325"/>
            <a:ext cx="1066800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2700" b="1">
                <a:solidFill>
                  <a:srgbClr val="24272D"/>
                </a:solidFill>
              </a:defRPr>
            </a:pPr>
            <a:r>
              <a:rPr sz="2700" b="1">
                <a:solidFill>
                  <a:srgbClr val="24272D"/>
                </a:solidFill>
              </a:rPr>
              <a:t>SP実画面比較：入口を常に見つけられる</a:t>
            </a:r>
          </a:p>
        </p:txBody>
      </p:sp>
      <p:sp>
        <p:nvSpPr>
          <p:cNvPr id="4" name="confidential">
            <a:extLst>
              <a:ext uri="{FF2B5EF4-FFF2-40B4-BE49-F238E27FC236}">
                <a16:creationId xmlns:a16="http://schemas.microsoft.com/office/drawing/2014/main" id="{04A00C01-4B47-40CE-8CCE-FE0C00B1372D}"/>
              </a:ext>
            </a:extLst>
          </p:cNvPr>
          <p:cNvSpPr>
            <a:spLocks noGrp="1"/>
          </p:cNvSpPr>
          <p:nvPr/>
        </p:nvSpPr>
        <p:spPr>
          <a:xfrm>
            <a:off x="285750" y="6448425"/>
            <a:ext cx="15240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050">
                <a:solidFill>
                  <a:srgbClr val="858585"/>
                </a:solidFill>
              </a:defRPr>
            </a:pPr>
            <a:r>
              <a:rPr sz="1050">
                <a:solidFill>
                  <a:srgbClr val="858585"/>
                </a:solidFill>
              </a:rPr>
              <a:t>Confidential</a:t>
            </a:r>
          </a:p>
        </p:txBody>
      </p:sp>
      <p:sp>
        <p:nvSpPr>
          <p:cNvPr id="5" name="page-marker">
            <a:extLst>
              <a:ext uri="{FF2B5EF4-FFF2-40B4-BE49-F238E27FC236}">
                <a16:creationId xmlns:a16="http://schemas.microsoft.com/office/drawing/2014/main" id="{6468D34D-3043-4769-A2BB-F48E2067D3B7}"/>
              </a:ext>
            </a:extLst>
          </p:cNvPr>
          <p:cNvSpPr>
            <a:spLocks noGrp="1"/>
          </p:cNvSpPr>
          <p:nvPr/>
        </p:nvSpPr>
        <p:spPr>
          <a:xfrm>
            <a:off x="10477500" y="6429375"/>
            <a:ext cx="14287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1050">
                <a:solidFill>
                  <a:srgbClr val="858585"/>
                </a:solidFill>
              </a:defRPr>
            </a:pPr>
            <a:r>
              <a:rPr sz="1050">
                <a:solidFill>
                  <a:srgbClr val="858585"/>
                </a:solidFill>
              </a:rPr>
              <a:t>SP補足 1/3</a:t>
            </a:r>
          </a:p>
        </p:txBody>
      </p:sp>
      <p:sp>
        <p:nvSpPr>
          <p:cNvPr id="6" name="sp-current-label-bg">
            <a:extLst>
              <a:ext uri="{FF2B5EF4-FFF2-40B4-BE49-F238E27FC236}">
                <a16:creationId xmlns:a16="http://schemas.microsoft.com/office/drawing/2014/main" id="{6A6F5E7B-8A9E-49B3-87D8-C212484C9188}"/>
              </a:ext>
            </a:extLst>
          </p:cNvPr>
          <p:cNvSpPr>
            <a:spLocks noGrp="1"/>
          </p:cNvSpPr>
          <p:nvPr/>
        </p:nvSpPr>
        <p:spPr>
          <a:xfrm>
            <a:off x="742950" y="1362075"/>
            <a:ext cx="2381250" cy="323850"/>
          </a:xfrm>
          <a:prstGeom prst="roundRect">
            <a:avLst>
              <a:gd name="adj" fmla="val 23529"/>
            </a:avLst>
          </a:prstGeom>
          <a:solidFill>
            <a:srgbClr val="F4F5F7"/>
          </a:solidFill>
          <a:ln w="9525">
            <a:solidFill>
              <a:srgbClr val="F4F5F7"/>
            </a:solidFill>
            <a:prstDash val="solid"/>
          </a:ln>
        </p:spPr>
      </p:sp>
      <p:sp>
        <p:nvSpPr>
          <p:cNvPr id="7" name="sp-current-label">
            <a:extLst>
              <a:ext uri="{FF2B5EF4-FFF2-40B4-BE49-F238E27FC236}">
                <a16:creationId xmlns:a16="http://schemas.microsoft.com/office/drawing/2014/main" id="{8E24AA80-444E-47BA-8993-8D6AEC2BFCA9}"/>
              </a:ext>
            </a:extLst>
          </p:cNvPr>
          <p:cNvSpPr>
            <a:spLocks noGrp="1"/>
          </p:cNvSpPr>
          <p:nvPr/>
        </p:nvSpPr>
        <p:spPr>
          <a:xfrm>
            <a:off x="742950" y="1362075"/>
            <a:ext cx="23812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200" b="1">
                <a:solidFill>
                  <a:srgbClr val="555555"/>
                </a:solidFill>
              </a:defRPr>
            </a:pPr>
            <a:r>
              <a:rPr sz="1200" b="1">
                <a:solidFill>
                  <a:srgbClr val="555555"/>
                </a:solidFill>
              </a:rPr>
              <a:t>現行サイト</a:t>
            </a:r>
          </a:p>
        </p:txBody>
      </p:sp>
      <p:sp>
        <p:nvSpPr>
          <p:cNvPr id="8" name="sp-proposal-label-bg">
            <a:extLst>
              <a:ext uri="{FF2B5EF4-FFF2-40B4-BE49-F238E27FC236}">
                <a16:creationId xmlns:a16="http://schemas.microsoft.com/office/drawing/2014/main" id="{3C66D46F-F75D-4D52-9870-6200C60112CF}"/>
              </a:ext>
            </a:extLst>
          </p:cNvPr>
          <p:cNvSpPr>
            <a:spLocks noGrp="1"/>
          </p:cNvSpPr>
          <p:nvPr/>
        </p:nvSpPr>
        <p:spPr>
          <a:xfrm>
            <a:off x="3600450" y="1362075"/>
            <a:ext cx="2381250" cy="323850"/>
          </a:xfrm>
          <a:prstGeom prst="roundRect">
            <a:avLst>
              <a:gd name="adj" fmla="val 23529"/>
            </a:avLst>
          </a:prstGeom>
          <a:solidFill>
            <a:srgbClr val="EAF6FF"/>
          </a:solidFill>
          <a:ln w="9525">
            <a:solidFill>
              <a:srgbClr val="EAF6FF"/>
            </a:solidFill>
            <a:prstDash val="solid"/>
          </a:ln>
        </p:spPr>
      </p:sp>
      <p:sp>
        <p:nvSpPr>
          <p:cNvPr id="9" name="sp-proposal-label">
            <a:extLst>
              <a:ext uri="{FF2B5EF4-FFF2-40B4-BE49-F238E27FC236}">
                <a16:creationId xmlns:a16="http://schemas.microsoft.com/office/drawing/2014/main" id="{A6AFA844-3168-40F3-A83A-2CC6EE06DD60}"/>
              </a:ext>
            </a:extLst>
          </p:cNvPr>
          <p:cNvSpPr>
            <a:spLocks noGrp="1"/>
          </p:cNvSpPr>
          <p:nvPr/>
        </p:nvSpPr>
        <p:spPr>
          <a:xfrm>
            <a:off x="3600450" y="1362075"/>
            <a:ext cx="23812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200" b="1">
                <a:solidFill>
                  <a:srgbClr val="24496D"/>
                </a:solidFill>
              </a:defRPr>
            </a:pPr>
            <a:r>
              <a:rPr sz="1200" b="1">
                <a:solidFill>
                  <a:srgbClr val="24496D"/>
                </a:solidFill>
              </a:rPr>
              <a:t>branch5 改修案</a:t>
            </a:r>
          </a:p>
        </p:txBody>
      </p:sp>
      <p:pic>
        <p:nvPicPr>
          <p:cNvPr id="33" name="図 32"/>
          <p:cNvPicPr>
            <a:picLocks noChangeAspect="1"/>
          </p:cNvPicPr>
          <p:nvPr/>
        </p:nvPicPr>
        <p:blipFill>
          <a:blip r:embed="rId3"/>
          <a:srcRect t="3266" b="3266"/>
          <a:stretch>
            <a:fillRect/>
          </a:stretch>
        </p:blipFill>
        <p:spPr>
          <a:xfrm>
            <a:off x="885825" y="1809750"/>
            <a:ext cx="2095500" cy="4238625"/>
          </a:xfrm>
          <a:prstGeom prst="roundRect">
            <a:avLst>
              <a:gd name="adj" fmla="val 5455"/>
            </a:avLst>
          </a:prstGeom>
        </p:spPr>
      </p:pic>
      <p:pic>
        <p:nvPicPr>
          <p:cNvPr id="34" name="図 33"/>
          <p:cNvPicPr>
            <a:picLocks noChangeAspect="1"/>
          </p:cNvPicPr>
          <p:nvPr/>
        </p:nvPicPr>
        <p:blipFill>
          <a:blip r:embed="rId4"/>
          <a:srcRect t="3266" b="3266"/>
          <a:stretch>
            <a:fillRect/>
          </a:stretch>
        </p:blipFill>
        <p:spPr>
          <a:xfrm>
            <a:off x="3743325" y="1809750"/>
            <a:ext cx="2095500" cy="4238625"/>
          </a:xfrm>
          <a:prstGeom prst="roundRect">
            <a:avLst>
              <a:gd name="adj" fmla="val 5455"/>
            </a:avLst>
          </a:prstGeom>
        </p:spPr>
      </p:pic>
      <p:sp>
        <p:nvSpPr>
          <p:cNvPr id="12" name="sp-top-1-circle">
            <a:extLst>
              <a:ext uri="{FF2B5EF4-FFF2-40B4-BE49-F238E27FC236}">
                <a16:creationId xmlns:a16="http://schemas.microsoft.com/office/drawing/2014/main" id="{FB915550-B1AE-468E-9B4B-91D340406BF8}"/>
              </a:ext>
            </a:extLst>
          </p:cNvPr>
          <p:cNvSpPr>
            <a:spLocks noGrp="1"/>
          </p:cNvSpPr>
          <p:nvPr/>
        </p:nvSpPr>
        <p:spPr>
          <a:xfrm>
            <a:off x="6667500" y="1666875"/>
            <a:ext cx="323850" cy="323850"/>
          </a:xfrm>
          <a:prstGeom prst="ellipse">
            <a:avLst/>
          </a:prstGeom>
          <a:solidFill>
            <a:srgbClr val="24496D"/>
          </a:solidFill>
          <a:ln w="0">
            <a:solidFill>
              <a:srgbClr val="24496D"/>
            </a:solidFill>
            <a:prstDash val="solid"/>
          </a:ln>
        </p:spPr>
      </p:sp>
      <p:sp>
        <p:nvSpPr>
          <p:cNvPr id="13" name="sp-top-1-number">
            <a:extLst>
              <a:ext uri="{FF2B5EF4-FFF2-40B4-BE49-F238E27FC236}">
                <a16:creationId xmlns:a16="http://schemas.microsoft.com/office/drawing/2014/main" id="{DE158AF4-99DD-48EA-9E24-C21F51BA5D04}"/>
              </a:ext>
            </a:extLst>
          </p:cNvPr>
          <p:cNvSpPr>
            <a:spLocks noGrp="1"/>
          </p:cNvSpPr>
          <p:nvPr/>
        </p:nvSpPr>
        <p:spPr>
          <a:xfrm>
            <a:off x="6667500" y="1695450"/>
            <a:ext cx="323850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rPr sz="1200" b="1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14" name="sp-top-1-heading">
            <a:extLst>
              <a:ext uri="{FF2B5EF4-FFF2-40B4-BE49-F238E27FC236}">
                <a16:creationId xmlns:a16="http://schemas.microsoft.com/office/drawing/2014/main" id="{2FD418D1-376B-4227-9BD3-B4C91EF33901}"/>
              </a:ext>
            </a:extLst>
          </p:cNvPr>
          <p:cNvSpPr>
            <a:spLocks noGrp="1"/>
          </p:cNvSpPr>
          <p:nvPr/>
        </p:nvSpPr>
        <p:spPr>
          <a:xfrm>
            <a:off x="7143750" y="1647825"/>
            <a:ext cx="40957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500" b="1">
                <a:solidFill>
                  <a:srgbClr val="24496D"/>
                </a:solidFill>
              </a:defRPr>
            </a:pPr>
            <a:r>
              <a:rPr sz="1500" b="1">
                <a:solidFill>
                  <a:srgbClr val="24496D"/>
                </a:solidFill>
              </a:rPr>
              <a:t>操作入口を強調</a:t>
            </a:r>
          </a:p>
        </p:txBody>
      </p:sp>
      <p:sp>
        <p:nvSpPr>
          <p:cNvPr id="15" name="sp-top-1-body">
            <a:extLst>
              <a:ext uri="{FF2B5EF4-FFF2-40B4-BE49-F238E27FC236}">
                <a16:creationId xmlns:a16="http://schemas.microsoft.com/office/drawing/2014/main" id="{925FCBBE-A2E6-4719-9509-0E6258F92419}"/>
              </a:ext>
            </a:extLst>
          </p:cNvPr>
          <p:cNvSpPr>
            <a:spLocks noGrp="1"/>
          </p:cNvSpPr>
          <p:nvPr/>
        </p:nvSpPr>
        <p:spPr>
          <a:xfrm>
            <a:off x="7143750" y="1971675"/>
            <a:ext cx="4095750" cy="609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200">
                <a:solidFill>
                  <a:srgbClr val="24272D"/>
                </a:solidFill>
              </a:defRPr>
            </a:pPr>
            <a:r>
              <a:rPr sz="1200">
                <a:solidFill>
                  <a:srgbClr val="24272D"/>
                </a:solidFill>
              </a:rPr>
              <a:t>改修案では白い円形ボタンとして表示し、背景写真から分離。</a:t>
            </a:r>
          </a:p>
        </p:txBody>
      </p:sp>
      <p:sp>
        <p:nvSpPr>
          <p:cNvPr id="16" name="sp-top-2-circle">
            <a:extLst>
              <a:ext uri="{FF2B5EF4-FFF2-40B4-BE49-F238E27FC236}">
                <a16:creationId xmlns:a16="http://schemas.microsoft.com/office/drawing/2014/main" id="{3BFF2A94-02B0-474C-940A-6CC3F10B812D}"/>
              </a:ext>
            </a:extLst>
          </p:cNvPr>
          <p:cNvSpPr>
            <a:spLocks noGrp="1"/>
          </p:cNvSpPr>
          <p:nvPr/>
        </p:nvSpPr>
        <p:spPr>
          <a:xfrm>
            <a:off x="6667500" y="3000375"/>
            <a:ext cx="323850" cy="323850"/>
          </a:xfrm>
          <a:prstGeom prst="ellipse">
            <a:avLst/>
          </a:prstGeom>
          <a:solidFill>
            <a:srgbClr val="24496D"/>
          </a:solidFill>
          <a:ln w="0">
            <a:solidFill>
              <a:srgbClr val="24496D"/>
            </a:solidFill>
            <a:prstDash val="solid"/>
          </a:ln>
        </p:spPr>
      </p:sp>
      <p:sp>
        <p:nvSpPr>
          <p:cNvPr id="17" name="sp-top-2-number">
            <a:extLst>
              <a:ext uri="{FF2B5EF4-FFF2-40B4-BE49-F238E27FC236}">
                <a16:creationId xmlns:a16="http://schemas.microsoft.com/office/drawing/2014/main" id="{E27BAA7C-C145-4012-ABD2-D5F4A824BE1E}"/>
              </a:ext>
            </a:extLst>
          </p:cNvPr>
          <p:cNvSpPr>
            <a:spLocks noGrp="1"/>
          </p:cNvSpPr>
          <p:nvPr/>
        </p:nvSpPr>
        <p:spPr>
          <a:xfrm>
            <a:off x="6667500" y="3028950"/>
            <a:ext cx="323850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rPr sz="1200" b="1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8" name="sp-top-2-heading">
            <a:extLst>
              <a:ext uri="{FF2B5EF4-FFF2-40B4-BE49-F238E27FC236}">
                <a16:creationId xmlns:a16="http://schemas.microsoft.com/office/drawing/2014/main" id="{D3516B41-307E-4FA3-AC1A-78973BD74E5C}"/>
              </a:ext>
            </a:extLst>
          </p:cNvPr>
          <p:cNvSpPr>
            <a:spLocks noGrp="1"/>
          </p:cNvSpPr>
          <p:nvPr/>
        </p:nvSpPr>
        <p:spPr>
          <a:xfrm>
            <a:off x="7143750" y="2981325"/>
            <a:ext cx="40957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500" b="1">
                <a:solidFill>
                  <a:srgbClr val="24496D"/>
                </a:solidFill>
              </a:defRPr>
            </a:pPr>
            <a:r>
              <a:rPr sz="1500" b="1">
                <a:solidFill>
                  <a:srgbClr val="24496D"/>
                </a:solidFill>
              </a:rPr>
              <a:t>カルーセルを示唆</a:t>
            </a:r>
          </a:p>
        </p:txBody>
      </p:sp>
      <p:sp>
        <p:nvSpPr>
          <p:cNvPr id="19" name="sp-top-2-body">
            <a:extLst>
              <a:ext uri="{FF2B5EF4-FFF2-40B4-BE49-F238E27FC236}">
                <a16:creationId xmlns:a16="http://schemas.microsoft.com/office/drawing/2014/main" id="{A3267B53-6020-4B61-A5AC-4C0F9A050E39}"/>
              </a:ext>
            </a:extLst>
          </p:cNvPr>
          <p:cNvSpPr>
            <a:spLocks noGrp="1"/>
          </p:cNvSpPr>
          <p:nvPr/>
        </p:nvSpPr>
        <p:spPr>
          <a:xfrm>
            <a:off x="7143750" y="3305175"/>
            <a:ext cx="4095750" cy="609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200">
                <a:solidFill>
                  <a:srgbClr val="24272D"/>
                </a:solidFill>
              </a:defRPr>
            </a:pPr>
            <a:r>
              <a:rPr sz="1200">
                <a:solidFill>
                  <a:srgbClr val="24272D"/>
                </a:solidFill>
              </a:rPr>
              <a:t>隣接写真を見せ、横方向に続くコンテンツだと伝える。</a:t>
            </a:r>
          </a:p>
        </p:txBody>
      </p:sp>
      <p:sp>
        <p:nvSpPr>
          <p:cNvPr id="20" name="sp-top-3-circle">
            <a:extLst>
              <a:ext uri="{FF2B5EF4-FFF2-40B4-BE49-F238E27FC236}">
                <a16:creationId xmlns:a16="http://schemas.microsoft.com/office/drawing/2014/main" id="{D0B1CCE5-73F7-46C0-AFDD-C1D560498B76}"/>
              </a:ext>
            </a:extLst>
          </p:cNvPr>
          <p:cNvSpPr>
            <a:spLocks noGrp="1"/>
          </p:cNvSpPr>
          <p:nvPr/>
        </p:nvSpPr>
        <p:spPr>
          <a:xfrm>
            <a:off x="6667500" y="4333875"/>
            <a:ext cx="323850" cy="323850"/>
          </a:xfrm>
          <a:prstGeom prst="ellipse">
            <a:avLst/>
          </a:prstGeom>
          <a:solidFill>
            <a:srgbClr val="24496D"/>
          </a:solidFill>
          <a:ln w="0">
            <a:solidFill>
              <a:srgbClr val="24496D"/>
            </a:solidFill>
            <a:prstDash val="solid"/>
          </a:ln>
        </p:spPr>
      </p:sp>
      <p:sp>
        <p:nvSpPr>
          <p:cNvPr id="21" name="sp-top-3-number">
            <a:extLst>
              <a:ext uri="{FF2B5EF4-FFF2-40B4-BE49-F238E27FC236}">
                <a16:creationId xmlns:a16="http://schemas.microsoft.com/office/drawing/2014/main" id="{749308D9-5863-47F0-9C87-B90C21814669}"/>
              </a:ext>
            </a:extLst>
          </p:cNvPr>
          <p:cNvSpPr>
            <a:spLocks noGrp="1"/>
          </p:cNvSpPr>
          <p:nvPr/>
        </p:nvSpPr>
        <p:spPr>
          <a:xfrm>
            <a:off x="6667500" y="4362450"/>
            <a:ext cx="323850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rPr sz="1200" b="1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22" name="sp-top-3-heading">
            <a:extLst>
              <a:ext uri="{FF2B5EF4-FFF2-40B4-BE49-F238E27FC236}">
                <a16:creationId xmlns:a16="http://schemas.microsoft.com/office/drawing/2014/main" id="{DE283B2F-D137-4301-B5C8-6DBD83EFE5EF}"/>
              </a:ext>
            </a:extLst>
          </p:cNvPr>
          <p:cNvSpPr>
            <a:spLocks noGrp="1"/>
          </p:cNvSpPr>
          <p:nvPr/>
        </p:nvSpPr>
        <p:spPr>
          <a:xfrm>
            <a:off x="7143750" y="4314825"/>
            <a:ext cx="40957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500" b="1">
                <a:solidFill>
                  <a:srgbClr val="24496D"/>
                </a:solidFill>
              </a:defRPr>
            </a:pPr>
            <a:r>
              <a:rPr sz="1500" b="1">
                <a:solidFill>
                  <a:srgbClr val="24496D"/>
                </a:solidFill>
              </a:rPr>
              <a:t>本文の可読性を維持</a:t>
            </a:r>
          </a:p>
        </p:txBody>
      </p:sp>
      <p:sp>
        <p:nvSpPr>
          <p:cNvPr id="23" name="sp-top-3-body">
            <a:extLst>
              <a:ext uri="{FF2B5EF4-FFF2-40B4-BE49-F238E27FC236}">
                <a16:creationId xmlns:a16="http://schemas.microsoft.com/office/drawing/2014/main" id="{C3E5BBB0-11C7-4542-BCBF-2EE49A38754B}"/>
              </a:ext>
            </a:extLst>
          </p:cNvPr>
          <p:cNvSpPr>
            <a:spLocks noGrp="1"/>
          </p:cNvSpPr>
          <p:nvPr/>
        </p:nvSpPr>
        <p:spPr>
          <a:xfrm>
            <a:off x="7143750" y="4638675"/>
            <a:ext cx="4095750" cy="609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200">
                <a:solidFill>
                  <a:srgbClr val="24272D"/>
                </a:solidFill>
              </a:defRPr>
            </a:pPr>
            <a:r>
              <a:rPr sz="1200">
                <a:solidFill>
                  <a:srgbClr val="24272D"/>
                </a:solidFill>
              </a:rPr>
              <a:t>ブランドの淡い背景と写真を保ちつつ、操作部の視認性を上げる。</a:t>
            </a:r>
          </a:p>
        </p:txBody>
      </p:sp>
    </p:spTree>
    <p:extLst>
      <p:ext uri="{BB962C8B-B14F-4D97-AF65-F5344CB8AC3E}">
        <p14:creationId xmlns:p14="http://schemas.microsoft.com/office/powerpoint/2010/main" val="65218127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slide-background">
            <a:extLst>
              <a:ext uri="{FF2B5EF4-FFF2-40B4-BE49-F238E27FC236}">
                <a16:creationId xmlns:a16="http://schemas.microsoft.com/office/drawing/2014/main" id="{99067B44-B2C7-4B73-BF1D-EAE04EBE5C33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2" name="deck-label">
            <a:extLst>
              <a:ext uri="{FF2B5EF4-FFF2-40B4-BE49-F238E27FC236}">
                <a16:creationId xmlns:a16="http://schemas.microsoft.com/office/drawing/2014/main" id="{A696DE27-FA97-4225-8DE3-032E72AE7E0E}"/>
              </a:ext>
            </a:extLst>
          </p:cNvPr>
          <p:cNvSpPr>
            <a:spLocks noGrp="1"/>
          </p:cNvSpPr>
          <p:nvPr/>
        </p:nvSpPr>
        <p:spPr>
          <a:xfrm>
            <a:off x="285750" y="219075"/>
            <a:ext cx="5334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200">
                <a:solidFill>
                  <a:srgbClr val="858585"/>
                </a:solidFill>
              </a:defRPr>
            </a:pPr>
            <a:r>
              <a:rPr sz="1200">
                <a:solidFill>
                  <a:srgbClr val="858585"/>
                </a:solidFill>
              </a:rPr>
              <a:t>milk planet公式サイト アップデート提案</a:t>
            </a:r>
          </a:p>
        </p:txBody>
      </p:sp>
      <p:sp>
        <p:nvSpPr>
          <p:cNvPr id="3" name="slide-title">
            <a:extLst>
              <a:ext uri="{FF2B5EF4-FFF2-40B4-BE49-F238E27FC236}">
                <a16:creationId xmlns:a16="http://schemas.microsoft.com/office/drawing/2014/main" id="{ADF2AC78-7AC5-4430-9694-E7B7D383F2C7}"/>
              </a:ext>
            </a:extLst>
          </p:cNvPr>
          <p:cNvSpPr>
            <a:spLocks noGrp="1"/>
          </p:cNvSpPr>
          <p:nvPr/>
        </p:nvSpPr>
        <p:spPr>
          <a:xfrm>
            <a:off x="742950" y="695325"/>
            <a:ext cx="1066800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2700" b="1">
                <a:solidFill>
                  <a:srgbClr val="24272D"/>
                </a:solidFill>
              </a:defRPr>
            </a:pPr>
            <a:r>
              <a:rPr sz="2700" b="1">
                <a:solidFill>
                  <a:srgbClr val="24272D"/>
                </a:solidFill>
              </a:rPr>
              <a:t>SP実画面比較：メニューの構造と操作状態</a:t>
            </a:r>
          </a:p>
        </p:txBody>
      </p:sp>
      <p:sp>
        <p:nvSpPr>
          <p:cNvPr id="4" name="confidential">
            <a:extLst>
              <a:ext uri="{FF2B5EF4-FFF2-40B4-BE49-F238E27FC236}">
                <a16:creationId xmlns:a16="http://schemas.microsoft.com/office/drawing/2014/main" id="{CA4E08DF-CED6-4A6D-A8B9-ADF60EEC0D3D}"/>
              </a:ext>
            </a:extLst>
          </p:cNvPr>
          <p:cNvSpPr>
            <a:spLocks noGrp="1"/>
          </p:cNvSpPr>
          <p:nvPr/>
        </p:nvSpPr>
        <p:spPr>
          <a:xfrm>
            <a:off x="285750" y="6448425"/>
            <a:ext cx="15240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050">
                <a:solidFill>
                  <a:srgbClr val="858585"/>
                </a:solidFill>
              </a:defRPr>
            </a:pPr>
            <a:r>
              <a:rPr sz="1050">
                <a:solidFill>
                  <a:srgbClr val="858585"/>
                </a:solidFill>
              </a:rPr>
              <a:t>Confidential</a:t>
            </a:r>
          </a:p>
        </p:txBody>
      </p:sp>
      <p:sp>
        <p:nvSpPr>
          <p:cNvPr id="5" name="page-marker">
            <a:extLst>
              <a:ext uri="{FF2B5EF4-FFF2-40B4-BE49-F238E27FC236}">
                <a16:creationId xmlns:a16="http://schemas.microsoft.com/office/drawing/2014/main" id="{3901041B-45E6-4AE2-803C-47B9A05E489B}"/>
              </a:ext>
            </a:extLst>
          </p:cNvPr>
          <p:cNvSpPr>
            <a:spLocks noGrp="1"/>
          </p:cNvSpPr>
          <p:nvPr/>
        </p:nvSpPr>
        <p:spPr>
          <a:xfrm>
            <a:off x="10477500" y="6429375"/>
            <a:ext cx="14287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1050">
                <a:solidFill>
                  <a:srgbClr val="858585"/>
                </a:solidFill>
              </a:defRPr>
            </a:pPr>
            <a:r>
              <a:rPr sz="1050">
                <a:solidFill>
                  <a:srgbClr val="858585"/>
                </a:solidFill>
              </a:rPr>
              <a:t>SP補足 2/3</a:t>
            </a:r>
          </a:p>
        </p:txBody>
      </p:sp>
      <p:sp>
        <p:nvSpPr>
          <p:cNvPr id="6" name="sp-menu-current-label-bg">
            <a:extLst>
              <a:ext uri="{FF2B5EF4-FFF2-40B4-BE49-F238E27FC236}">
                <a16:creationId xmlns:a16="http://schemas.microsoft.com/office/drawing/2014/main" id="{C3112C88-55AE-41BE-8813-4046578FC06E}"/>
              </a:ext>
            </a:extLst>
          </p:cNvPr>
          <p:cNvSpPr>
            <a:spLocks noGrp="1"/>
          </p:cNvSpPr>
          <p:nvPr/>
        </p:nvSpPr>
        <p:spPr>
          <a:xfrm>
            <a:off x="742950" y="1362075"/>
            <a:ext cx="2381250" cy="323850"/>
          </a:xfrm>
          <a:prstGeom prst="roundRect">
            <a:avLst>
              <a:gd name="adj" fmla="val 23529"/>
            </a:avLst>
          </a:prstGeom>
          <a:solidFill>
            <a:srgbClr val="F4F5F7"/>
          </a:solidFill>
          <a:ln w="9525">
            <a:solidFill>
              <a:srgbClr val="F4F5F7"/>
            </a:solidFill>
            <a:prstDash val="solid"/>
          </a:ln>
        </p:spPr>
      </p:sp>
      <p:sp>
        <p:nvSpPr>
          <p:cNvPr id="7" name="sp-menu-current-label">
            <a:extLst>
              <a:ext uri="{FF2B5EF4-FFF2-40B4-BE49-F238E27FC236}">
                <a16:creationId xmlns:a16="http://schemas.microsoft.com/office/drawing/2014/main" id="{04D70F93-ABD1-40EC-93C3-E0F81134C2C5}"/>
              </a:ext>
            </a:extLst>
          </p:cNvPr>
          <p:cNvSpPr>
            <a:spLocks noGrp="1"/>
          </p:cNvSpPr>
          <p:nvPr/>
        </p:nvSpPr>
        <p:spPr>
          <a:xfrm>
            <a:off x="742950" y="1362075"/>
            <a:ext cx="23812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200" b="1">
                <a:solidFill>
                  <a:srgbClr val="555555"/>
                </a:solidFill>
              </a:defRPr>
            </a:pPr>
            <a:r>
              <a:rPr sz="1200" b="1">
                <a:solidFill>
                  <a:srgbClr val="555555"/>
                </a:solidFill>
              </a:rPr>
              <a:t>現行：全画面メニュー</a:t>
            </a:r>
          </a:p>
        </p:txBody>
      </p:sp>
      <p:sp>
        <p:nvSpPr>
          <p:cNvPr id="8" name="sp-menu-proposal-label-bg">
            <a:extLst>
              <a:ext uri="{FF2B5EF4-FFF2-40B4-BE49-F238E27FC236}">
                <a16:creationId xmlns:a16="http://schemas.microsoft.com/office/drawing/2014/main" id="{AA785088-0213-41F3-96AE-928BF98C1EC3}"/>
              </a:ext>
            </a:extLst>
          </p:cNvPr>
          <p:cNvSpPr>
            <a:spLocks noGrp="1"/>
          </p:cNvSpPr>
          <p:nvPr/>
        </p:nvSpPr>
        <p:spPr>
          <a:xfrm>
            <a:off x="3600450" y="1362075"/>
            <a:ext cx="2381250" cy="323850"/>
          </a:xfrm>
          <a:prstGeom prst="roundRect">
            <a:avLst>
              <a:gd name="adj" fmla="val 23529"/>
            </a:avLst>
          </a:prstGeom>
          <a:solidFill>
            <a:srgbClr val="EAF6FF"/>
          </a:solidFill>
          <a:ln w="9525">
            <a:solidFill>
              <a:srgbClr val="EAF6FF"/>
            </a:solidFill>
            <a:prstDash val="solid"/>
          </a:ln>
        </p:spPr>
      </p:sp>
      <p:sp>
        <p:nvSpPr>
          <p:cNvPr id="9" name="sp-menu-proposal-label">
            <a:extLst>
              <a:ext uri="{FF2B5EF4-FFF2-40B4-BE49-F238E27FC236}">
                <a16:creationId xmlns:a16="http://schemas.microsoft.com/office/drawing/2014/main" id="{4F460D71-6ED2-48DE-B879-5E4D99F82B34}"/>
              </a:ext>
            </a:extLst>
          </p:cNvPr>
          <p:cNvSpPr>
            <a:spLocks noGrp="1"/>
          </p:cNvSpPr>
          <p:nvPr/>
        </p:nvSpPr>
        <p:spPr>
          <a:xfrm>
            <a:off x="3600450" y="1362075"/>
            <a:ext cx="23812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200" b="1">
                <a:solidFill>
                  <a:srgbClr val="24496D"/>
                </a:solidFill>
              </a:defRPr>
            </a:pPr>
            <a:r>
              <a:rPr sz="1200" b="1">
                <a:solidFill>
                  <a:srgbClr val="24496D"/>
                </a:solidFill>
              </a:rPr>
              <a:t>branch5：カード型メニュー</a:t>
            </a:r>
          </a:p>
        </p:txBody>
      </p:sp>
      <p:pic>
        <p:nvPicPr>
          <p:cNvPr id="33" name="図 32"/>
          <p:cNvPicPr>
            <a:picLocks noChangeAspect="1"/>
          </p:cNvPicPr>
          <p:nvPr/>
        </p:nvPicPr>
        <p:blipFill>
          <a:blip r:embed="rId3"/>
          <a:srcRect t="3266" b="3266"/>
          <a:stretch>
            <a:fillRect/>
          </a:stretch>
        </p:blipFill>
        <p:spPr>
          <a:xfrm>
            <a:off x="885825" y="1809750"/>
            <a:ext cx="2095500" cy="4238625"/>
          </a:xfrm>
          <a:prstGeom prst="roundRect">
            <a:avLst>
              <a:gd name="adj" fmla="val 5455"/>
            </a:avLst>
          </a:prstGeom>
        </p:spPr>
      </p:pic>
      <p:pic>
        <p:nvPicPr>
          <p:cNvPr id="34" name="図 33"/>
          <p:cNvPicPr>
            <a:picLocks noChangeAspect="1"/>
          </p:cNvPicPr>
          <p:nvPr/>
        </p:nvPicPr>
        <p:blipFill>
          <a:blip r:embed="rId4"/>
          <a:srcRect t="3266" b="3266"/>
          <a:stretch>
            <a:fillRect/>
          </a:stretch>
        </p:blipFill>
        <p:spPr>
          <a:xfrm>
            <a:off x="3743325" y="1809750"/>
            <a:ext cx="2095500" cy="4238625"/>
          </a:xfrm>
          <a:prstGeom prst="roundRect">
            <a:avLst>
              <a:gd name="adj" fmla="val 5455"/>
            </a:avLst>
          </a:prstGeom>
        </p:spPr>
      </p:pic>
      <p:sp>
        <p:nvSpPr>
          <p:cNvPr id="12" name="sp-menu-1-circle">
            <a:extLst>
              <a:ext uri="{FF2B5EF4-FFF2-40B4-BE49-F238E27FC236}">
                <a16:creationId xmlns:a16="http://schemas.microsoft.com/office/drawing/2014/main" id="{17E4BF93-23B4-47D6-B4A1-1ED7A6B0F883}"/>
              </a:ext>
            </a:extLst>
          </p:cNvPr>
          <p:cNvSpPr>
            <a:spLocks noGrp="1"/>
          </p:cNvSpPr>
          <p:nvPr/>
        </p:nvSpPr>
        <p:spPr>
          <a:xfrm>
            <a:off x="6667500" y="1666875"/>
            <a:ext cx="323850" cy="323850"/>
          </a:xfrm>
          <a:prstGeom prst="ellipse">
            <a:avLst/>
          </a:prstGeom>
          <a:solidFill>
            <a:srgbClr val="24496D"/>
          </a:solidFill>
          <a:ln w="0">
            <a:solidFill>
              <a:srgbClr val="24496D"/>
            </a:solidFill>
            <a:prstDash val="solid"/>
          </a:ln>
        </p:spPr>
      </p:sp>
      <p:sp>
        <p:nvSpPr>
          <p:cNvPr id="13" name="sp-menu-1-number">
            <a:extLst>
              <a:ext uri="{FF2B5EF4-FFF2-40B4-BE49-F238E27FC236}">
                <a16:creationId xmlns:a16="http://schemas.microsoft.com/office/drawing/2014/main" id="{42233FE4-E977-480E-8513-F24FED451E36}"/>
              </a:ext>
            </a:extLst>
          </p:cNvPr>
          <p:cNvSpPr>
            <a:spLocks noGrp="1"/>
          </p:cNvSpPr>
          <p:nvPr/>
        </p:nvSpPr>
        <p:spPr>
          <a:xfrm>
            <a:off x="6667500" y="1695450"/>
            <a:ext cx="323850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rPr sz="1200" b="1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14" name="sp-menu-1-heading">
            <a:extLst>
              <a:ext uri="{FF2B5EF4-FFF2-40B4-BE49-F238E27FC236}">
                <a16:creationId xmlns:a16="http://schemas.microsoft.com/office/drawing/2014/main" id="{B7C99D57-43A4-476F-A506-B364C4633087}"/>
              </a:ext>
            </a:extLst>
          </p:cNvPr>
          <p:cNvSpPr>
            <a:spLocks noGrp="1"/>
          </p:cNvSpPr>
          <p:nvPr/>
        </p:nvSpPr>
        <p:spPr>
          <a:xfrm>
            <a:off x="7143750" y="1647825"/>
            <a:ext cx="40957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500" b="1">
                <a:solidFill>
                  <a:srgbClr val="24496D"/>
                </a:solidFill>
              </a:defRPr>
            </a:pPr>
            <a:r>
              <a:rPr sz="1500" b="1">
                <a:solidFill>
                  <a:srgbClr val="24496D"/>
                </a:solidFill>
              </a:rPr>
              <a:t>背景を残す</a:t>
            </a:r>
          </a:p>
        </p:txBody>
      </p:sp>
      <p:sp>
        <p:nvSpPr>
          <p:cNvPr id="15" name="sp-menu-1-body">
            <a:extLst>
              <a:ext uri="{FF2B5EF4-FFF2-40B4-BE49-F238E27FC236}">
                <a16:creationId xmlns:a16="http://schemas.microsoft.com/office/drawing/2014/main" id="{E2196B3B-D254-4B4B-BD92-37E96FDBC6DA}"/>
              </a:ext>
            </a:extLst>
          </p:cNvPr>
          <p:cNvSpPr>
            <a:spLocks noGrp="1"/>
          </p:cNvSpPr>
          <p:nvPr/>
        </p:nvSpPr>
        <p:spPr>
          <a:xfrm>
            <a:off x="7143750" y="1971675"/>
            <a:ext cx="4095750" cy="609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200">
                <a:solidFill>
                  <a:srgbClr val="24272D"/>
                </a:solidFill>
              </a:defRPr>
            </a:pPr>
            <a:r>
              <a:rPr sz="1200">
                <a:solidFill>
                  <a:srgbClr val="24272D"/>
                </a:solidFill>
              </a:rPr>
              <a:t>現在位置の画面を残したまま、必要な操作だけを重ねて表示。</a:t>
            </a:r>
          </a:p>
        </p:txBody>
      </p:sp>
      <p:sp>
        <p:nvSpPr>
          <p:cNvPr id="16" name="sp-menu-2-circle">
            <a:extLst>
              <a:ext uri="{FF2B5EF4-FFF2-40B4-BE49-F238E27FC236}">
                <a16:creationId xmlns:a16="http://schemas.microsoft.com/office/drawing/2014/main" id="{12AD0ECC-99A0-444F-9618-3F85EB864B3C}"/>
              </a:ext>
            </a:extLst>
          </p:cNvPr>
          <p:cNvSpPr>
            <a:spLocks noGrp="1"/>
          </p:cNvSpPr>
          <p:nvPr/>
        </p:nvSpPr>
        <p:spPr>
          <a:xfrm>
            <a:off x="6667500" y="3000375"/>
            <a:ext cx="323850" cy="323850"/>
          </a:xfrm>
          <a:prstGeom prst="ellipse">
            <a:avLst/>
          </a:prstGeom>
          <a:solidFill>
            <a:srgbClr val="24496D"/>
          </a:solidFill>
          <a:ln w="0">
            <a:solidFill>
              <a:srgbClr val="24496D"/>
            </a:solidFill>
            <a:prstDash val="solid"/>
          </a:ln>
        </p:spPr>
      </p:sp>
      <p:sp>
        <p:nvSpPr>
          <p:cNvPr id="17" name="sp-menu-2-number">
            <a:extLst>
              <a:ext uri="{FF2B5EF4-FFF2-40B4-BE49-F238E27FC236}">
                <a16:creationId xmlns:a16="http://schemas.microsoft.com/office/drawing/2014/main" id="{F55665E0-35F3-45FE-B6E2-D9210147BDA7}"/>
              </a:ext>
            </a:extLst>
          </p:cNvPr>
          <p:cNvSpPr>
            <a:spLocks noGrp="1"/>
          </p:cNvSpPr>
          <p:nvPr/>
        </p:nvSpPr>
        <p:spPr>
          <a:xfrm>
            <a:off x="6667500" y="3028950"/>
            <a:ext cx="323850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rPr sz="1200" b="1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8" name="sp-menu-2-heading">
            <a:extLst>
              <a:ext uri="{FF2B5EF4-FFF2-40B4-BE49-F238E27FC236}">
                <a16:creationId xmlns:a16="http://schemas.microsoft.com/office/drawing/2014/main" id="{12A1B6A7-5E46-4F46-AA48-2A6E5F989E7F}"/>
              </a:ext>
            </a:extLst>
          </p:cNvPr>
          <p:cNvSpPr>
            <a:spLocks noGrp="1"/>
          </p:cNvSpPr>
          <p:nvPr/>
        </p:nvSpPr>
        <p:spPr>
          <a:xfrm>
            <a:off x="7143750" y="2981325"/>
            <a:ext cx="40957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500" b="1">
                <a:solidFill>
                  <a:srgbClr val="24496D"/>
                </a:solidFill>
              </a:defRPr>
            </a:pPr>
            <a:r>
              <a:rPr sz="1500" b="1">
                <a:solidFill>
                  <a:srgbClr val="24496D"/>
                </a:solidFill>
              </a:rPr>
              <a:t>項目名を具体化</a:t>
            </a:r>
          </a:p>
        </p:txBody>
      </p:sp>
      <p:sp>
        <p:nvSpPr>
          <p:cNvPr id="19" name="sp-menu-2-body">
            <a:extLst>
              <a:ext uri="{FF2B5EF4-FFF2-40B4-BE49-F238E27FC236}">
                <a16:creationId xmlns:a16="http://schemas.microsoft.com/office/drawing/2014/main" id="{BF0DA118-1C0C-4440-A9D9-130824871C5B}"/>
              </a:ext>
            </a:extLst>
          </p:cNvPr>
          <p:cNvSpPr>
            <a:spLocks noGrp="1"/>
          </p:cNvSpPr>
          <p:nvPr/>
        </p:nvSpPr>
        <p:spPr>
          <a:xfrm>
            <a:off x="7143750" y="3305175"/>
            <a:ext cx="4095750" cy="609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200">
                <a:solidFill>
                  <a:srgbClr val="24272D"/>
                </a:solidFill>
              </a:defRPr>
            </a:pPr>
            <a:r>
              <a:rPr sz="1200">
                <a:solidFill>
                  <a:srgbClr val="24272D"/>
                </a:solidFill>
              </a:rPr>
              <a:t>「店舗一覧」「キャスト一覧」を追記し、移動先を予測しやすくする。</a:t>
            </a:r>
          </a:p>
        </p:txBody>
      </p:sp>
      <p:sp>
        <p:nvSpPr>
          <p:cNvPr id="20" name="sp-menu-3-circle">
            <a:extLst>
              <a:ext uri="{FF2B5EF4-FFF2-40B4-BE49-F238E27FC236}">
                <a16:creationId xmlns:a16="http://schemas.microsoft.com/office/drawing/2014/main" id="{0656D20A-4633-4C88-9F92-A5BF9ED04E2F}"/>
              </a:ext>
            </a:extLst>
          </p:cNvPr>
          <p:cNvSpPr>
            <a:spLocks noGrp="1"/>
          </p:cNvSpPr>
          <p:nvPr/>
        </p:nvSpPr>
        <p:spPr>
          <a:xfrm>
            <a:off x="6667500" y="4333875"/>
            <a:ext cx="323850" cy="323850"/>
          </a:xfrm>
          <a:prstGeom prst="ellipse">
            <a:avLst/>
          </a:prstGeom>
          <a:solidFill>
            <a:srgbClr val="24496D"/>
          </a:solidFill>
          <a:ln w="0">
            <a:solidFill>
              <a:srgbClr val="24496D"/>
            </a:solidFill>
            <a:prstDash val="solid"/>
          </a:ln>
        </p:spPr>
      </p:sp>
      <p:sp>
        <p:nvSpPr>
          <p:cNvPr id="21" name="sp-menu-3-number">
            <a:extLst>
              <a:ext uri="{FF2B5EF4-FFF2-40B4-BE49-F238E27FC236}">
                <a16:creationId xmlns:a16="http://schemas.microsoft.com/office/drawing/2014/main" id="{1DAEB396-A153-4E1D-8ED0-C846BA6C0465}"/>
              </a:ext>
            </a:extLst>
          </p:cNvPr>
          <p:cNvSpPr>
            <a:spLocks noGrp="1"/>
          </p:cNvSpPr>
          <p:nvPr/>
        </p:nvSpPr>
        <p:spPr>
          <a:xfrm>
            <a:off x="6667500" y="4362450"/>
            <a:ext cx="323850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rPr sz="1200" b="1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22" name="sp-menu-3-heading">
            <a:extLst>
              <a:ext uri="{FF2B5EF4-FFF2-40B4-BE49-F238E27FC236}">
                <a16:creationId xmlns:a16="http://schemas.microsoft.com/office/drawing/2014/main" id="{84A7D8F5-3343-4197-BAD0-BBA45EB3F6C8}"/>
              </a:ext>
            </a:extLst>
          </p:cNvPr>
          <p:cNvSpPr>
            <a:spLocks noGrp="1"/>
          </p:cNvSpPr>
          <p:nvPr/>
        </p:nvSpPr>
        <p:spPr>
          <a:xfrm>
            <a:off x="7143750" y="4314825"/>
            <a:ext cx="40957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500" b="1">
                <a:solidFill>
                  <a:srgbClr val="24496D"/>
                </a:solidFill>
              </a:defRPr>
            </a:pPr>
            <a:r>
              <a:rPr sz="1500" b="1">
                <a:solidFill>
                  <a:srgbClr val="24496D"/>
                </a:solidFill>
              </a:rPr>
              <a:t>階層を一か所へ</a:t>
            </a:r>
          </a:p>
        </p:txBody>
      </p:sp>
      <p:sp>
        <p:nvSpPr>
          <p:cNvPr id="23" name="sp-menu-3-body">
            <a:extLst>
              <a:ext uri="{FF2B5EF4-FFF2-40B4-BE49-F238E27FC236}">
                <a16:creationId xmlns:a16="http://schemas.microsoft.com/office/drawing/2014/main" id="{E4B91D16-6B91-41CB-846A-997CE2B11136}"/>
              </a:ext>
            </a:extLst>
          </p:cNvPr>
          <p:cNvSpPr>
            <a:spLocks noGrp="1"/>
          </p:cNvSpPr>
          <p:nvPr/>
        </p:nvSpPr>
        <p:spPr>
          <a:xfrm>
            <a:off x="7143750" y="4638675"/>
            <a:ext cx="4095750" cy="609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200">
                <a:solidFill>
                  <a:srgbClr val="24272D"/>
                </a:solidFill>
              </a:defRPr>
            </a:pPr>
            <a:r>
              <a:rPr sz="1200">
                <a:solidFill>
                  <a:srgbClr val="24272D"/>
                </a:solidFill>
              </a:rPr>
              <a:t>給仕予定と通販サブメニューを同じ操作領域に統合。</a:t>
            </a:r>
          </a:p>
        </p:txBody>
      </p:sp>
    </p:spTree>
    <p:extLst>
      <p:ext uri="{BB962C8B-B14F-4D97-AF65-F5344CB8AC3E}">
        <p14:creationId xmlns:p14="http://schemas.microsoft.com/office/powerpoint/2010/main" val="209570893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slide-background">
            <a:extLst>
              <a:ext uri="{FF2B5EF4-FFF2-40B4-BE49-F238E27FC236}">
                <a16:creationId xmlns:a16="http://schemas.microsoft.com/office/drawing/2014/main" id="{406E5CE6-5FCC-49DE-881C-C6AC690E0750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2" name="deck-label">
            <a:extLst>
              <a:ext uri="{FF2B5EF4-FFF2-40B4-BE49-F238E27FC236}">
                <a16:creationId xmlns:a16="http://schemas.microsoft.com/office/drawing/2014/main" id="{4104F458-BA14-428B-AF0D-04BFE09DB142}"/>
              </a:ext>
            </a:extLst>
          </p:cNvPr>
          <p:cNvSpPr>
            <a:spLocks noGrp="1"/>
          </p:cNvSpPr>
          <p:nvPr/>
        </p:nvSpPr>
        <p:spPr>
          <a:xfrm>
            <a:off x="285750" y="219075"/>
            <a:ext cx="5334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200">
                <a:solidFill>
                  <a:srgbClr val="858585"/>
                </a:solidFill>
              </a:defRPr>
            </a:pPr>
            <a:r>
              <a:rPr sz="1200">
                <a:solidFill>
                  <a:srgbClr val="858585"/>
                </a:solidFill>
              </a:rPr>
              <a:t>milk planet公式サイト アップデート提案</a:t>
            </a:r>
          </a:p>
        </p:txBody>
      </p:sp>
      <p:sp>
        <p:nvSpPr>
          <p:cNvPr id="3" name="slide-title">
            <a:extLst>
              <a:ext uri="{FF2B5EF4-FFF2-40B4-BE49-F238E27FC236}">
                <a16:creationId xmlns:a16="http://schemas.microsoft.com/office/drawing/2014/main" id="{0F61CA28-D4B3-42A3-AEEC-28BF1AD920DF}"/>
              </a:ext>
            </a:extLst>
          </p:cNvPr>
          <p:cNvSpPr>
            <a:spLocks noGrp="1"/>
          </p:cNvSpPr>
          <p:nvPr/>
        </p:nvSpPr>
        <p:spPr>
          <a:xfrm>
            <a:off x="742950" y="695325"/>
            <a:ext cx="1066800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2700" b="1">
                <a:solidFill>
                  <a:srgbClr val="24272D"/>
                </a:solidFill>
              </a:defRPr>
            </a:pPr>
            <a:r>
              <a:rPr sz="2700" b="1">
                <a:solidFill>
                  <a:srgbClr val="24272D"/>
                </a:solidFill>
              </a:rPr>
              <a:t>SP実画面：給仕予定と通販を縦画面で完結</a:t>
            </a:r>
          </a:p>
        </p:txBody>
      </p:sp>
      <p:sp>
        <p:nvSpPr>
          <p:cNvPr id="4" name="confidential">
            <a:extLst>
              <a:ext uri="{FF2B5EF4-FFF2-40B4-BE49-F238E27FC236}">
                <a16:creationId xmlns:a16="http://schemas.microsoft.com/office/drawing/2014/main" id="{FB01D83C-D2F2-4503-96DC-9FD500086A47}"/>
              </a:ext>
            </a:extLst>
          </p:cNvPr>
          <p:cNvSpPr>
            <a:spLocks noGrp="1"/>
          </p:cNvSpPr>
          <p:nvPr/>
        </p:nvSpPr>
        <p:spPr>
          <a:xfrm>
            <a:off x="285750" y="6448425"/>
            <a:ext cx="15240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050">
                <a:solidFill>
                  <a:srgbClr val="858585"/>
                </a:solidFill>
              </a:defRPr>
            </a:pPr>
            <a:r>
              <a:rPr sz="1050">
                <a:solidFill>
                  <a:srgbClr val="858585"/>
                </a:solidFill>
              </a:rPr>
              <a:t>Confidential</a:t>
            </a:r>
          </a:p>
        </p:txBody>
      </p:sp>
      <p:sp>
        <p:nvSpPr>
          <p:cNvPr id="5" name="page-marker">
            <a:extLst>
              <a:ext uri="{FF2B5EF4-FFF2-40B4-BE49-F238E27FC236}">
                <a16:creationId xmlns:a16="http://schemas.microsoft.com/office/drawing/2014/main" id="{4FB5688C-7B0F-4B87-A0C9-81B11777DDD9}"/>
              </a:ext>
            </a:extLst>
          </p:cNvPr>
          <p:cNvSpPr>
            <a:spLocks noGrp="1"/>
          </p:cNvSpPr>
          <p:nvPr/>
        </p:nvSpPr>
        <p:spPr>
          <a:xfrm>
            <a:off x="10477500" y="6429375"/>
            <a:ext cx="14287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1050">
                <a:solidFill>
                  <a:srgbClr val="858585"/>
                </a:solidFill>
              </a:defRPr>
            </a:pPr>
            <a:r>
              <a:rPr sz="1050">
                <a:solidFill>
                  <a:srgbClr val="858585"/>
                </a:solidFill>
              </a:rPr>
              <a:t>SP補足 3/3</a:t>
            </a:r>
          </a:p>
        </p:txBody>
      </p:sp>
      <p:sp>
        <p:nvSpPr>
          <p:cNvPr id="6" name="sp-schedule-label-bg">
            <a:extLst>
              <a:ext uri="{FF2B5EF4-FFF2-40B4-BE49-F238E27FC236}">
                <a16:creationId xmlns:a16="http://schemas.microsoft.com/office/drawing/2014/main" id="{B14ADE2B-090F-426B-BCA9-498E8F6986B0}"/>
              </a:ext>
            </a:extLst>
          </p:cNvPr>
          <p:cNvSpPr>
            <a:spLocks noGrp="1"/>
          </p:cNvSpPr>
          <p:nvPr/>
        </p:nvSpPr>
        <p:spPr>
          <a:xfrm>
            <a:off x="742950" y="1362075"/>
            <a:ext cx="2381250" cy="323850"/>
          </a:xfrm>
          <a:prstGeom prst="roundRect">
            <a:avLst>
              <a:gd name="adj" fmla="val 23529"/>
            </a:avLst>
          </a:prstGeom>
          <a:solidFill>
            <a:srgbClr val="EAF6FF"/>
          </a:solidFill>
          <a:ln w="9525">
            <a:solidFill>
              <a:srgbClr val="EAF6FF"/>
            </a:solidFill>
            <a:prstDash val="solid"/>
          </a:ln>
        </p:spPr>
      </p:sp>
      <p:sp>
        <p:nvSpPr>
          <p:cNvPr id="7" name="sp-schedule-label">
            <a:extLst>
              <a:ext uri="{FF2B5EF4-FFF2-40B4-BE49-F238E27FC236}">
                <a16:creationId xmlns:a16="http://schemas.microsoft.com/office/drawing/2014/main" id="{E7DADCBD-7C3F-41C4-875A-A89F7C7FC72D}"/>
              </a:ext>
            </a:extLst>
          </p:cNvPr>
          <p:cNvSpPr>
            <a:spLocks noGrp="1"/>
          </p:cNvSpPr>
          <p:nvPr/>
        </p:nvSpPr>
        <p:spPr>
          <a:xfrm>
            <a:off x="742950" y="1362075"/>
            <a:ext cx="23812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200" b="1">
                <a:solidFill>
                  <a:srgbClr val="24496D"/>
                </a:solidFill>
              </a:defRPr>
            </a:pPr>
            <a:r>
              <a:rPr sz="1200" b="1">
                <a:solidFill>
                  <a:srgbClr val="24496D"/>
                </a:solidFill>
              </a:rPr>
              <a:t>おきゅうじ よてい</a:t>
            </a:r>
          </a:p>
        </p:txBody>
      </p:sp>
      <p:sp>
        <p:nvSpPr>
          <p:cNvPr id="8" name="sp-base-label-bg">
            <a:extLst>
              <a:ext uri="{FF2B5EF4-FFF2-40B4-BE49-F238E27FC236}">
                <a16:creationId xmlns:a16="http://schemas.microsoft.com/office/drawing/2014/main" id="{00E3005B-C329-4C05-9D65-795DAE167B38}"/>
              </a:ext>
            </a:extLst>
          </p:cNvPr>
          <p:cNvSpPr>
            <a:spLocks noGrp="1"/>
          </p:cNvSpPr>
          <p:nvPr/>
        </p:nvSpPr>
        <p:spPr>
          <a:xfrm>
            <a:off x="3600450" y="1362075"/>
            <a:ext cx="2381250" cy="323850"/>
          </a:xfrm>
          <a:prstGeom prst="roundRect">
            <a:avLst>
              <a:gd name="adj" fmla="val 23529"/>
            </a:avLst>
          </a:prstGeom>
          <a:solidFill>
            <a:srgbClr val="EAF6FF"/>
          </a:solidFill>
          <a:ln w="9525">
            <a:solidFill>
              <a:srgbClr val="EAF6FF"/>
            </a:solidFill>
            <a:prstDash val="solid"/>
          </a:ln>
        </p:spPr>
      </p:sp>
      <p:sp>
        <p:nvSpPr>
          <p:cNvPr id="9" name="sp-base-label">
            <a:extLst>
              <a:ext uri="{FF2B5EF4-FFF2-40B4-BE49-F238E27FC236}">
                <a16:creationId xmlns:a16="http://schemas.microsoft.com/office/drawing/2014/main" id="{26550C2C-3210-4AB7-84D5-BA92545E2F66}"/>
              </a:ext>
            </a:extLst>
          </p:cNvPr>
          <p:cNvSpPr>
            <a:spLocks noGrp="1"/>
          </p:cNvSpPr>
          <p:nvPr/>
        </p:nvSpPr>
        <p:spPr>
          <a:xfrm>
            <a:off x="3600450" y="1362075"/>
            <a:ext cx="23812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200" b="1">
                <a:solidFill>
                  <a:srgbClr val="24496D"/>
                </a:solidFill>
              </a:defRPr>
            </a:pPr>
            <a:r>
              <a:rPr sz="1200" b="1">
                <a:solidFill>
                  <a:srgbClr val="24496D"/>
                </a:solidFill>
              </a:rPr>
              <a:t>えんかく つうはん</a:t>
            </a:r>
          </a:p>
        </p:txBody>
      </p:sp>
      <p:pic>
        <p:nvPicPr>
          <p:cNvPr id="33" name="図 32"/>
          <p:cNvPicPr>
            <a:picLocks noChangeAspect="1"/>
          </p:cNvPicPr>
          <p:nvPr/>
        </p:nvPicPr>
        <p:blipFill>
          <a:blip r:embed="rId3"/>
          <a:srcRect t="3266" b="3266"/>
          <a:stretch>
            <a:fillRect/>
          </a:stretch>
        </p:blipFill>
        <p:spPr>
          <a:xfrm>
            <a:off x="885825" y="1809750"/>
            <a:ext cx="2095500" cy="4238625"/>
          </a:xfrm>
          <a:prstGeom prst="roundRect">
            <a:avLst>
              <a:gd name="adj" fmla="val 5455"/>
            </a:avLst>
          </a:prstGeom>
        </p:spPr>
      </p:pic>
      <p:pic>
        <p:nvPicPr>
          <p:cNvPr id="34" name="図 33"/>
          <p:cNvPicPr>
            <a:picLocks noChangeAspect="1"/>
          </p:cNvPicPr>
          <p:nvPr/>
        </p:nvPicPr>
        <p:blipFill>
          <a:blip r:embed="rId4"/>
          <a:srcRect t="3266" b="3266"/>
          <a:stretch>
            <a:fillRect/>
          </a:stretch>
        </p:blipFill>
        <p:spPr>
          <a:xfrm>
            <a:off x="3743325" y="1809750"/>
            <a:ext cx="2095500" cy="4238625"/>
          </a:xfrm>
          <a:prstGeom prst="roundRect">
            <a:avLst>
              <a:gd name="adj" fmla="val 5455"/>
            </a:avLst>
          </a:prstGeom>
        </p:spPr>
      </p:pic>
      <p:sp>
        <p:nvSpPr>
          <p:cNvPr id="12" name="sp-flow-1-circle">
            <a:extLst>
              <a:ext uri="{FF2B5EF4-FFF2-40B4-BE49-F238E27FC236}">
                <a16:creationId xmlns:a16="http://schemas.microsoft.com/office/drawing/2014/main" id="{078B0929-4294-4C9B-973E-972ABA2FA609}"/>
              </a:ext>
            </a:extLst>
          </p:cNvPr>
          <p:cNvSpPr>
            <a:spLocks noGrp="1"/>
          </p:cNvSpPr>
          <p:nvPr/>
        </p:nvSpPr>
        <p:spPr>
          <a:xfrm>
            <a:off x="6667500" y="1666875"/>
            <a:ext cx="323850" cy="323850"/>
          </a:xfrm>
          <a:prstGeom prst="ellipse">
            <a:avLst/>
          </a:prstGeom>
          <a:solidFill>
            <a:srgbClr val="24496D"/>
          </a:solidFill>
          <a:ln w="0">
            <a:solidFill>
              <a:srgbClr val="24496D"/>
            </a:solidFill>
            <a:prstDash val="solid"/>
          </a:ln>
        </p:spPr>
      </p:sp>
      <p:sp>
        <p:nvSpPr>
          <p:cNvPr id="13" name="sp-flow-1-number">
            <a:extLst>
              <a:ext uri="{FF2B5EF4-FFF2-40B4-BE49-F238E27FC236}">
                <a16:creationId xmlns:a16="http://schemas.microsoft.com/office/drawing/2014/main" id="{C6020C77-ACA7-47C7-8BA4-091633FB2FAF}"/>
              </a:ext>
            </a:extLst>
          </p:cNvPr>
          <p:cNvSpPr>
            <a:spLocks noGrp="1"/>
          </p:cNvSpPr>
          <p:nvPr/>
        </p:nvSpPr>
        <p:spPr>
          <a:xfrm>
            <a:off x="6667500" y="1695450"/>
            <a:ext cx="323850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rPr sz="1200" b="1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14" name="sp-flow-1-heading">
            <a:extLst>
              <a:ext uri="{FF2B5EF4-FFF2-40B4-BE49-F238E27FC236}">
                <a16:creationId xmlns:a16="http://schemas.microsoft.com/office/drawing/2014/main" id="{D0C4ADE6-180F-4EF1-B20F-555029A2A945}"/>
              </a:ext>
            </a:extLst>
          </p:cNvPr>
          <p:cNvSpPr>
            <a:spLocks noGrp="1"/>
          </p:cNvSpPr>
          <p:nvPr/>
        </p:nvSpPr>
        <p:spPr>
          <a:xfrm>
            <a:off x="7143750" y="1647825"/>
            <a:ext cx="40957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500" b="1">
                <a:solidFill>
                  <a:srgbClr val="24496D"/>
                </a:solidFill>
              </a:defRPr>
            </a:pPr>
            <a:r>
              <a:rPr sz="1500" b="1">
                <a:solidFill>
                  <a:srgbClr val="24496D"/>
                </a:solidFill>
              </a:rPr>
              <a:t>予定表を一列化</a:t>
            </a:r>
          </a:p>
        </p:txBody>
      </p:sp>
      <p:sp>
        <p:nvSpPr>
          <p:cNvPr id="15" name="sp-flow-1-body">
            <a:extLst>
              <a:ext uri="{FF2B5EF4-FFF2-40B4-BE49-F238E27FC236}">
                <a16:creationId xmlns:a16="http://schemas.microsoft.com/office/drawing/2014/main" id="{A33A3627-4FE4-4F13-9BCC-FD39C31F1D0F}"/>
              </a:ext>
            </a:extLst>
          </p:cNvPr>
          <p:cNvSpPr>
            <a:spLocks noGrp="1"/>
          </p:cNvSpPr>
          <p:nvPr/>
        </p:nvSpPr>
        <p:spPr>
          <a:xfrm>
            <a:off x="7143750" y="1971675"/>
            <a:ext cx="4095750" cy="609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200">
                <a:solidFill>
                  <a:srgbClr val="24272D"/>
                </a:solidFill>
              </a:defRPr>
            </a:pPr>
            <a:r>
              <a:rPr sz="1200">
                <a:solidFill>
                  <a:srgbClr val="24272D"/>
                </a:solidFill>
              </a:rPr>
              <a:t>店舗カードを縦に並べ、狭い画面でも情報量を落とさず確認。</a:t>
            </a:r>
          </a:p>
        </p:txBody>
      </p:sp>
      <p:sp>
        <p:nvSpPr>
          <p:cNvPr id="16" name="sp-flow-2-circle">
            <a:extLst>
              <a:ext uri="{FF2B5EF4-FFF2-40B4-BE49-F238E27FC236}">
                <a16:creationId xmlns:a16="http://schemas.microsoft.com/office/drawing/2014/main" id="{C7B090FF-1DE0-4826-80C2-4426A78962BE}"/>
              </a:ext>
            </a:extLst>
          </p:cNvPr>
          <p:cNvSpPr>
            <a:spLocks noGrp="1"/>
          </p:cNvSpPr>
          <p:nvPr/>
        </p:nvSpPr>
        <p:spPr>
          <a:xfrm>
            <a:off x="6667500" y="3000375"/>
            <a:ext cx="323850" cy="323850"/>
          </a:xfrm>
          <a:prstGeom prst="ellipse">
            <a:avLst/>
          </a:prstGeom>
          <a:solidFill>
            <a:srgbClr val="24496D"/>
          </a:solidFill>
          <a:ln w="0">
            <a:solidFill>
              <a:srgbClr val="24496D"/>
            </a:solidFill>
            <a:prstDash val="solid"/>
          </a:ln>
        </p:spPr>
      </p:sp>
      <p:sp>
        <p:nvSpPr>
          <p:cNvPr id="17" name="sp-flow-2-number">
            <a:extLst>
              <a:ext uri="{FF2B5EF4-FFF2-40B4-BE49-F238E27FC236}">
                <a16:creationId xmlns:a16="http://schemas.microsoft.com/office/drawing/2014/main" id="{E9912570-2347-40F5-845B-816BAF2EF42D}"/>
              </a:ext>
            </a:extLst>
          </p:cNvPr>
          <p:cNvSpPr>
            <a:spLocks noGrp="1"/>
          </p:cNvSpPr>
          <p:nvPr/>
        </p:nvSpPr>
        <p:spPr>
          <a:xfrm>
            <a:off x="6667500" y="3028950"/>
            <a:ext cx="323850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rPr sz="1200" b="1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8" name="sp-flow-2-heading">
            <a:extLst>
              <a:ext uri="{FF2B5EF4-FFF2-40B4-BE49-F238E27FC236}">
                <a16:creationId xmlns:a16="http://schemas.microsoft.com/office/drawing/2014/main" id="{0D936928-EFC9-4223-ABA5-C594F570EAFC}"/>
              </a:ext>
            </a:extLst>
          </p:cNvPr>
          <p:cNvSpPr>
            <a:spLocks noGrp="1"/>
          </p:cNvSpPr>
          <p:nvPr/>
        </p:nvSpPr>
        <p:spPr>
          <a:xfrm>
            <a:off x="7143750" y="2981325"/>
            <a:ext cx="40957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500" b="1">
                <a:solidFill>
                  <a:srgbClr val="24496D"/>
                </a:solidFill>
              </a:defRPr>
            </a:pPr>
            <a:r>
              <a:rPr sz="1500" b="1">
                <a:solidFill>
                  <a:srgbClr val="24496D"/>
                </a:solidFill>
              </a:rPr>
              <a:t>ブランドを直接選択</a:t>
            </a:r>
          </a:p>
        </p:txBody>
      </p:sp>
      <p:sp>
        <p:nvSpPr>
          <p:cNvPr id="19" name="sp-flow-2-body">
            <a:extLst>
              <a:ext uri="{FF2B5EF4-FFF2-40B4-BE49-F238E27FC236}">
                <a16:creationId xmlns:a16="http://schemas.microsoft.com/office/drawing/2014/main" id="{342D1E05-A43A-4F8D-9E8E-DBD79C79C407}"/>
              </a:ext>
            </a:extLst>
          </p:cNvPr>
          <p:cNvSpPr>
            <a:spLocks noGrp="1"/>
          </p:cNvSpPr>
          <p:nvPr/>
        </p:nvSpPr>
        <p:spPr>
          <a:xfrm>
            <a:off x="7143750" y="3305175"/>
            <a:ext cx="4095750" cy="609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200">
                <a:solidFill>
                  <a:srgbClr val="24272D"/>
                </a:solidFill>
              </a:defRPr>
            </a:pPr>
            <a:r>
              <a:rPr sz="1200">
                <a:solidFill>
                  <a:srgbClr val="24272D"/>
                </a:solidFill>
              </a:rPr>
              <a:t>通販先を店舗名から選び、別ページを探索する操作を削減。</a:t>
            </a:r>
          </a:p>
        </p:txBody>
      </p:sp>
      <p:sp>
        <p:nvSpPr>
          <p:cNvPr id="20" name="sp-flow-3-circle">
            <a:extLst>
              <a:ext uri="{FF2B5EF4-FFF2-40B4-BE49-F238E27FC236}">
                <a16:creationId xmlns:a16="http://schemas.microsoft.com/office/drawing/2014/main" id="{769CA1C2-8E31-46DF-9439-7D46CA7EE778}"/>
              </a:ext>
            </a:extLst>
          </p:cNvPr>
          <p:cNvSpPr>
            <a:spLocks noGrp="1"/>
          </p:cNvSpPr>
          <p:nvPr/>
        </p:nvSpPr>
        <p:spPr>
          <a:xfrm>
            <a:off x="6667500" y="4333875"/>
            <a:ext cx="323850" cy="323850"/>
          </a:xfrm>
          <a:prstGeom prst="ellipse">
            <a:avLst/>
          </a:prstGeom>
          <a:solidFill>
            <a:srgbClr val="24496D"/>
          </a:solidFill>
          <a:ln w="0">
            <a:solidFill>
              <a:srgbClr val="24496D"/>
            </a:solidFill>
            <a:prstDash val="solid"/>
          </a:ln>
        </p:spPr>
      </p:sp>
      <p:sp>
        <p:nvSpPr>
          <p:cNvPr id="21" name="sp-flow-3-number">
            <a:extLst>
              <a:ext uri="{FF2B5EF4-FFF2-40B4-BE49-F238E27FC236}">
                <a16:creationId xmlns:a16="http://schemas.microsoft.com/office/drawing/2014/main" id="{8CC1B618-A661-4EAC-9DF2-F2C1F97E0376}"/>
              </a:ext>
            </a:extLst>
          </p:cNvPr>
          <p:cNvSpPr>
            <a:spLocks noGrp="1"/>
          </p:cNvSpPr>
          <p:nvPr/>
        </p:nvSpPr>
        <p:spPr>
          <a:xfrm>
            <a:off x="6667500" y="4362450"/>
            <a:ext cx="323850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rPr sz="1200" b="1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22" name="sp-flow-3-heading">
            <a:extLst>
              <a:ext uri="{FF2B5EF4-FFF2-40B4-BE49-F238E27FC236}">
                <a16:creationId xmlns:a16="http://schemas.microsoft.com/office/drawing/2014/main" id="{29B1E2BE-921F-4872-8965-3ECD335FADEF}"/>
              </a:ext>
            </a:extLst>
          </p:cNvPr>
          <p:cNvSpPr>
            <a:spLocks noGrp="1"/>
          </p:cNvSpPr>
          <p:nvPr/>
        </p:nvSpPr>
        <p:spPr>
          <a:xfrm>
            <a:off x="7143750" y="4314825"/>
            <a:ext cx="40957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500" b="1">
                <a:solidFill>
                  <a:srgbClr val="24496D"/>
                </a:solidFill>
              </a:defRPr>
            </a:pPr>
            <a:r>
              <a:rPr sz="1500" b="1">
                <a:solidFill>
                  <a:srgbClr val="24496D"/>
                </a:solidFill>
              </a:rPr>
              <a:t>同じメニュー操作</a:t>
            </a:r>
          </a:p>
        </p:txBody>
      </p:sp>
      <p:sp>
        <p:nvSpPr>
          <p:cNvPr id="23" name="sp-flow-3-body">
            <a:extLst>
              <a:ext uri="{FF2B5EF4-FFF2-40B4-BE49-F238E27FC236}">
                <a16:creationId xmlns:a16="http://schemas.microsoft.com/office/drawing/2014/main" id="{44EB9DA2-CBD2-4FBA-B5AF-8C434FBD6334}"/>
              </a:ext>
            </a:extLst>
          </p:cNvPr>
          <p:cNvSpPr>
            <a:spLocks noGrp="1"/>
          </p:cNvSpPr>
          <p:nvPr/>
        </p:nvSpPr>
        <p:spPr>
          <a:xfrm>
            <a:off x="7143750" y="4638675"/>
            <a:ext cx="4095750" cy="609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200">
                <a:solidFill>
                  <a:srgbClr val="24272D"/>
                </a:solidFill>
              </a:defRPr>
            </a:pPr>
            <a:r>
              <a:rPr sz="1200">
                <a:solidFill>
                  <a:srgbClr val="24272D"/>
                </a:solidFill>
              </a:rPr>
              <a:t>PCとSPで入口・項目名・階層を共通化し、学習負荷を抑える。</a:t>
            </a:r>
          </a:p>
        </p:txBody>
      </p:sp>
    </p:spTree>
    <p:extLst>
      <p:ext uri="{BB962C8B-B14F-4D97-AF65-F5344CB8AC3E}">
        <p14:creationId xmlns:p14="http://schemas.microsoft.com/office/powerpoint/2010/main" val="204937836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03634246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717063878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542988158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671257162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slide-background">
            <a:extLst>
              <a:ext uri="{FF2B5EF4-FFF2-40B4-BE49-F238E27FC236}">
                <a16:creationId xmlns:a16="http://schemas.microsoft.com/office/drawing/2014/main" id="{ADFD8754-4E7D-4916-9936-2AD3F456B674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2" name="deck-label">
            <a:extLst>
              <a:ext uri="{FF2B5EF4-FFF2-40B4-BE49-F238E27FC236}">
                <a16:creationId xmlns:a16="http://schemas.microsoft.com/office/drawing/2014/main" id="{1C249647-ABD9-4DBE-B09C-67B13AEEF7EE}"/>
              </a:ext>
            </a:extLst>
          </p:cNvPr>
          <p:cNvSpPr>
            <a:spLocks noGrp="1"/>
          </p:cNvSpPr>
          <p:nvPr/>
        </p:nvSpPr>
        <p:spPr>
          <a:xfrm>
            <a:off x="285750" y="219075"/>
            <a:ext cx="5334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200">
                <a:solidFill>
                  <a:srgbClr val="858585"/>
                </a:solidFill>
              </a:defRPr>
            </a:pPr>
            <a:r>
              <a:rPr sz="1200">
                <a:solidFill>
                  <a:srgbClr val="858585"/>
                </a:solidFill>
              </a:rPr>
              <a:t>milk planet公式サイト アップデート提案｜Appendix</a:t>
            </a:r>
          </a:p>
        </p:txBody>
      </p:sp>
      <p:sp>
        <p:nvSpPr>
          <p:cNvPr id="3" name="slide-title">
            <a:extLst>
              <a:ext uri="{FF2B5EF4-FFF2-40B4-BE49-F238E27FC236}">
                <a16:creationId xmlns:a16="http://schemas.microsoft.com/office/drawing/2014/main" id="{17510860-64C4-41A2-BC2D-F4300014DD52}"/>
              </a:ext>
            </a:extLst>
          </p:cNvPr>
          <p:cNvSpPr>
            <a:spLocks noGrp="1"/>
          </p:cNvSpPr>
          <p:nvPr/>
        </p:nvSpPr>
        <p:spPr>
          <a:xfrm>
            <a:off x="742950" y="695325"/>
            <a:ext cx="1066800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2700" b="1">
                <a:solidFill>
                  <a:srgbClr val="24272D"/>
                </a:solidFill>
              </a:defRPr>
            </a:pPr>
            <a:r>
              <a:rPr sz="2700" b="1">
                <a:solidFill>
                  <a:srgbClr val="24272D"/>
                </a:solidFill>
              </a:rPr>
              <a:t>本文外の差分①：ナビゲーション文言と支援情報</a:t>
            </a:r>
          </a:p>
        </p:txBody>
      </p:sp>
      <p:sp>
        <p:nvSpPr>
          <p:cNvPr id="4" name="confidential">
            <a:extLst>
              <a:ext uri="{FF2B5EF4-FFF2-40B4-BE49-F238E27FC236}">
                <a16:creationId xmlns:a16="http://schemas.microsoft.com/office/drawing/2014/main" id="{4BCFFBD9-1D69-43B3-844A-97F91222BDDE}"/>
              </a:ext>
            </a:extLst>
          </p:cNvPr>
          <p:cNvSpPr>
            <a:spLocks noGrp="1"/>
          </p:cNvSpPr>
          <p:nvPr/>
        </p:nvSpPr>
        <p:spPr>
          <a:xfrm>
            <a:off x="285750" y="6448425"/>
            <a:ext cx="15240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050">
                <a:solidFill>
                  <a:srgbClr val="858585"/>
                </a:solidFill>
              </a:defRPr>
            </a:pPr>
            <a:r>
              <a:rPr sz="1050">
                <a:solidFill>
                  <a:srgbClr val="858585"/>
                </a:solidFill>
              </a:rPr>
              <a:t>Confidential</a:t>
            </a:r>
          </a:p>
        </p:txBody>
      </p:sp>
      <p:sp>
        <p:nvSpPr>
          <p:cNvPr id="5" name="page-marker">
            <a:extLst>
              <a:ext uri="{FF2B5EF4-FFF2-40B4-BE49-F238E27FC236}">
                <a16:creationId xmlns:a16="http://schemas.microsoft.com/office/drawing/2014/main" id="{277677C1-9AFB-4F07-B9DC-91E8AB3FC481}"/>
              </a:ext>
            </a:extLst>
          </p:cNvPr>
          <p:cNvSpPr>
            <a:spLocks noGrp="1"/>
          </p:cNvSpPr>
          <p:nvPr/>
        </p:nvSpPr>
        <p:spPr>
          <a:xfrm>
            <a:off x="10477500" y="6429375"/>
            <a:ext cx="14287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1050">
                <a:solidFill>
                  <a:srgbClr val="858585"/>
                </a:solidFill>
              </a:defRPr>
            </a:pPr>
            <a:r>
              <a:rPr sz="1050">
                <a:solidFill>
                  <a:srgbClr val="858585"/>
                </a:solidFill>
              </a:rPr>
              <a:t>Appendix 1/2</a:t>
            </a:r>
          </a:p>
        </p:txBody>
      </p:sp>
      <p:sp>
        <p:nvSpPr>
          <p:cNvPr id="6" name="head-0-box">
            <a:extLst>
              <a:ext uri="{FF2B5EF4-FFF2-40B4-BE49-F238E27FC236}">
                <a16:creationId xmlns:a16="http://schemas.microsoft.com/office/drawing/2014/main" id="{5EECEC48-AD2C-45A4-832C-40CA5639B455}"/>
              </a:ext>
            </a:extLst>
          </p:cNvPr>
          <p:cNvSpPr>
            <a:spLocks noGrp="1"/>
          </p:cNvSpPr>
          <p:nvPr/>
        </p:nvSpPr>
        <p:spPr>
          <a:xfrm>
            <a:off x="742950" y="1428750"/>
            <a:ext cx="2381250" cy="400050"/>
          </a:xfrm>
          <a:prstGeom prst="rect">
            <a:avLst/>
          </a:prstGeom>
          <a:solidFill>
            <a:srgbClr val="24496D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7" name="head-0">
            <a:extLst>
              <a:ext uri="{FF2B5EF4-FFF2-40B4-BE49-F238E27FC236}">
                <a16:creationId xmlns:a16="http://schemas.microsoft.com/office/drawing/2014/main" id="{C1E446F3-88C5-45A3-B711-B97357684CF2}"/>
              </a:ext>
            </a:extLst>
          </p:cNvPr>
          <p:cNvSpPr>
            <a:spLocks noGrp="1"/>
          </p:cNvSpPr>
          <p:nvPr/>
        </p:nvSpPr>
        <p:spPr>
          <a:xfrm>
            <a:off x="857250" y="1504950"/>
            <a:ext cx="21526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rPr sz="1200" b="1">
                <a:solidFill>
                  <a:srgbClr val="FFFFFF"/>
                </a:solidFill>
              </a:rPr>
              <a:t>項目</a:t>
            </a:r>
          </a:p>
        </p:txBody>
      </p:sp>
      <p:sp>
        <p:nvSpPr>
          <p:cNvPr id="8" name="head-1-box">
            <a:extLst>
              <a:ext uri="{FF2B5EF4-FFF2-40B4-BE49-F238E27FC236}">
                <a16:creationId xmlns:a16="http://schemas.microsoft.com/office/drawing/2014/main" id="{A047A844-E44A-4AC4-9F59-523C62F62186}"/>
              </a:ext>
            </a:extLst>
          </p:cNvPr>
          <p:cNvSpPr>
            <a:spLocks noGrp="1"/>
          </p:cNvSpPr>
          <p:nvPr/>
        </p:nvSpPr>
        <p:spPr>
          <a:xfrm>
            <a:off x="3124200" y="1428750"/>
            <a:ext cx="3143250" cy="400050"/>
          </a:xfrm>
          <a:prstGeom prst="rect">
            <a:avLst/>
          </a:prstGeom>
          <a:solidFill>
            <a:srgbClr val="24496D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9" name="head-1">
            <a:extLst>
              <a:ext uri="{FF2B5EF4-FFF2-40B4-BE49-F238E27FC236}">
                <a16:creationId xmlns:a16="http://schemas.microsoft.com/office/drawing/2014/main" id="{3467E37D-4F42-4275-8C50-2B99544F4984}"/>
              </a:ext>
            </a:extLst>
          </p:cNvPr>
          <p:cNvSpPr>
            <a:spLocks noGrp="1"/>
          </p:cNvSpPr>
          <p:nvPr/>
        </p:nvSpPr>
        <p:spPr>
          <a:xfrm>
            <a:off x="3238500" y="1504950"/>
            <a:ext cx="29146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rPr sz="1200" b="1">
                <a:solidFill>
                  <a:srgbClr val="FFFFFF"/>
                </a:solidFill>
              </a:rPr>
              <a:t>現行</a:t>
            </a:r>
          </a:p>
        </p:txBody>
      </p:sp>
      <p:sp>
        <p:nvSpPr>
          <p:cNvPr id="10" name="head-2-box">
            <a:extLst>
              <a:ext uri="{FF2B5EF4-FFF2-40B4-BE49-F238E27FC236}">
                <a16:creationId xmlns:a16="http://schemas.microsoft.com/office/drawing/2014/main" id="{7E7E0428-127A-43A4-969A-3DD6F4B8CD5F}"/>
              </a:ext>
            </a:extLst>
          </p:cNvPr>
          <p:cNvSpPr>
            <a:spLocks noGrp="1"/>
          </p:cNvSpPr>
          <p:nvPr/>
        </p:nvSpPr>
        <p:spPr>
          <a:xfrm>
            <a:off x="6267450" y="1428750"/>
            <a:ext cx="3429000" cy="400050"/>
          </a:xfrm>
          <a:prstGeom prst="rect">
            <a:avLst/>
          </a:prstGeom>
          <a:solidFill>
            <a:srgbClr val="24496D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11" name="head-2">
            <a:extLst>
              <a:ext uri="{FF2B5EF4-FFF2-40B4-BE49-F238E27FC236}">
                <a16:creationId xmlns:a16="http://schemas.microsoft.com/office/drawing/2014/main" id="{5872AC00-ED63-40C8-9381-98893DABC873}"/>
              </a:ext>
            </a:extLst>
          </p:cNvPr>
          <p:cNvSpPr>
            <a:spLocks noGrp="1"/>
          </p:cNvSpPr>
          <p:nvPr/>
        </p:nvSpPr>
        <p:spPr>
          <a:xfrm>
            <a:off x="6381750" y="1504950"/>
            <a:ext cx="32004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rPr sz="1200" b="1">
                <a:solidFill>
                  <a:srgbClr val="FFFFFF"/>
                </a:solidFill>
              </a:rPr>
              <a:t>branch5</a:t>
            </a:r>
          </a:p>
        </p:txBody>
      </p:sp>
      <p:sp>
        <p:nvSpPr>
          <p:cNvPr id="12" name="head-3-box">
            <a:extLst>
              <a:ext uri="{FF2B5EF4-FFF2-40B4-BE49-F238E27FC236}">
                <a16:creationId xmlns:a16="http://schemas.microsoft.com/office/drawing/2014/main" id="{71FE5393-6C7E-420B-8E95-51296C19E1ED}"/>
              </a:ext>
            </a:extLst>
          </p:cNvPr>
          <p:cNvSpPr>
            <a:spLocks noGrp="1"/>
          </p:cNvSpPr>
          <p:nvPr/>
        </p:nvSpPr>
        <p:spPr>
          <a:xfrm>
            <a:off x="9696450" y="1428750"/>
            <a:ext cx="1752600" cy="400050"/>
          </a:xfrm>
          <a:prstGeom prst="rect">
            <a:avLst/>
          </a:prstGeom>
          <a:solidFill>
            <a:srgbClr val="24496D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13" name="head-3">
            <a:extLst>
              <a:ext uri="{FF2B5EF4-FFF2-40B4-BE49-F238E27FC236}">
                <a16:creationId xmlns:a16="http://schemas.microsoft.com/office/drawing/2014/main" id="{F0887C14-2675-449A-99FF-5C574674F220}"/>
              </a:ext>
            </a:extLst>
          </p:cNvPr>
          <p:cNvSpPr>
            <a:spLocks noGrp="1"/>
          </p:cNvSpPr>
          <p:nvPr/>
        </p:nvSpPr>
        <p:spPr>
          <a:xfrm>
            <a:off x="9810750" y="1504950"/>
            <a:ext cx="15240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rPr sz="1200" b="1">
                <a:solidFill>
                  <a:srgbClr val="FFFFFF"/>
                </a:solidFill>
              </a:rPr>
              <a:t>差分の意味</a:t>
            </a:r>
          </a:p>
        </p:txBody>
      </p:sp>
      <p:sp>
        <p:nvSpPr>
          <p:cNvPr id="14" name="row-0-0-box">
            <a:extLst>
              <a:ext uri="{FF2B5EF4-FFF2-40B4-BE49-F238E27FC236}">
                <a16:creationId xmlns:a16="http://schemas.microsoft.com/office/drawing/2014/main" id="{B6980F50-108C-4AA9-8303-3FD05231B923}"/>
              </a:ext>
            </a:extLst>
          </p:cNvPr>
          <p:cNvSpPr>
            <a:spLocks noGrp="1"/>
          </p:cNvSpPr>
          <p:nvPr/>
        </p:nvSpPr>
        <p:spPr>
          <a:xfrm>
            <a:off x="742950" y="1828800"/>
            <a:ext cx="2381250" cy="647700"/>
          </a:xfrm>
          <a:prstGeom prst="rect">
            <a:avLst/>
          </a:prstGeom>
          <a:solidFill>
            <a:srgbClr val="EAF6FF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15" name="row-0-0">
            <a:extLst>
              <a:ext uri="{FF2B5EF4-FFF2-40B4-BE49-F238E27FC236}">
                <a16:creationId xmlns:a16="http://schemas.microsoft.com/office/drawing/2014/main" id="{79771ADF-C5E0-4732-B55C-C91F9B9F0B44}"/>
              </a:ext>
            </a:extLst>
          </p:cNvPr>
          <p:cNvSpPr>
            <a:spLocks noGrp="1"/>
          </p:cNvSpPr>
          <p:nvPr/>
        </p:nvSpPr>
        <p:spPr>
          <a:xfrm>
            <a:off x="857250" y="1905000"/>
            <a:ext cx="215265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200" b="0">
                <a:solidFill>
                  <a:srgbClr val="24272D"/>
                </a:solidFill>
              </a:defRPr>
            </a:pPr>
            <a:r>
              <a:rPr sz="1200" b="0">
                <a:solidFill>
                  <a:srgbClr val="24272D"/>
                </a:solidFill>
              </a:rPr>
              <a:t>店舗</a:t>
            </a:r>
          </a:p>
        </p:txBody>
      </p:sp>
      <p:sp>
        <p:nvSpPr>
          <p:cNvPr id="16" name="row-0-1-box">
            <a:extLst>
              <a:ext uri="{FF2B5EF4-FFF2-40B4-BE49-F238E27FC236}">
                <a16:creationId xmlns:a16="http://schemas.microsoft.com/office/drawing/2014/main" id="{EAE2D4C7-2D4E-4012-A4AA-A7C1BEDFC397}"/>
              </a:ext>
            </a:extLst>
          </p:cNvPr>
          <p:cNvSpPr>
            <a:spLocks noGrp="1"/>
          </p:cNvSpPr>
          <p:nvPr/>
        </p:nvSpPr>
        <p:spPr>
          <a:xfrm>
            <a:off x="3124200" y="1828800"/>
            <a:ext cx="3143250" cy="647700"/>
          </a:xfrm>
          <a:prstGeom prst="rect">
            <a:avLst/>
          </a:prstGeom>
          <a:solidFill>
            <a:srgbClr val="EAF6FF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17" name="row-0-1">
            <a:extLst>
              <a:ext uri="{FF2B5EF4-FFF2-40B4-BE49-F238E27FC236}">
                <a16:creationId xmlns:a16="http://schemas.microsoft.com/office/drawing/2014/main" id="{B409B32D-153B-4A29-A04A-99DCE61CBF24}"/>
              </a:ext>
            </a:extLst>
          </p:cNvPr>
          <p:cNvSpPr>
            <a:spLocks noGrp="1"/>
          </p:cNvSpPr>
          <p:nvPr/>
        </p:nvSpPr>
        <p:spPr>
          <a:xfrm>
            <a:off x="3238500" y="1905000"/>
            <a:ext cx="291465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200" b="0">
                <a:solidFill>
                  <a:srgbClr val="24272D"/>
                </a:solidFill>
              </a:defRPr>
            </a:pPr>
            <a:r>
              <a:rPr sz="1200" b="0">
                <a:solidFill>
                  <a:srgbClr val="24272D"/>
                </a:solidFill>
              </a:rPr>
              <a:t>わくせい</a:t>
            </a:r>
          </a:p>
        </p:txBody>
      </p:sp>
      <p:sp>
        <p:nvSpPr>
          <p:cNvPr id="18" name="row-0-2-box">
            <a:extLst>
              <a:ext uri="{FF2B5EF4-FFF2-40B4-BE49-F238E27FC236}">
                <a16:creationId xmlns:a16="http://schemas.microsoft.com/office/drawing/2014/main" id="{2B8D4E22-E0EE-4F23-81C0-45555699AF71}"/>
              </a:ext>
            </a:extLst>
          </p:cNvPr>
          <p:cNvSpPr>
            <a:spLocks noGrp="1"/>
          </p:cNvSpPr>
          <p:nvPr/>
        </p:nvSpPr>
        <p:spPr>
          <a:xfrm>
            <a:off x="6267450" y="1828800"/>
            <a:ext cx="3429000" cy="647700"/>
          </a:xfrm>
          <a:prstGeom prst="rect">
            <a:avLst/>
          </a:prstGeom>
          <a:solidFill>
            <a:srgbClr val="EAF6FF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19" name="row-0-2">
            <a:extLst>
              <a:ext uri="{FF2B5EF4-FFF2-40B4-BE49-F238E27FC236}">
                <a16:creationId xmlns:a16="http://schemas.microsoft.com/office/drawing/2014/main" id="{9A48B3D7-61F4-4EF8-8D4E-D8C3BF1D4A61}"/>
              </a:ext>
            </a:extLst>
          </p:cNvPr>
          <p:cNvSpPr>
            <a:spLocks noGrp="1"/>
          </p:cNvSpPr>
          <p:nvPr/>
        </p:nvSpPr>
        <p:spPr>
          <a:xfrm>
            <a:off x="6381750" y="1905000"/>
            <a:ext cx="320040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200" b="1">
                <a:solidFill>
                  <a:srgbClr val="24496D"/>
                </a:solidFill>
              </a:defRPr>
            </a:pPr>
            <a:r>
              <a:rPr sz="1200" b="1">
                <a:solidFill>
                  <a:srgbClr val="24496D"/>
                </a:solidFill>
              </a:rPr>
              <a:t>わくせい｜店舗一覧</a:t>
            </a:r>
          </a:p>
        </p:txBody>
      </p:sp>
      <p:sp>
        <p:nvSpPr>
          <p:cNvPr id="20" name="row-0-3-box">
            <a:extLst>
              <a:ext uri="{FF2B5EF4-FFF2-40B4-BE49-F238E27FC236}">
                <a16:creationId xmlns:a16="http://schemas.microsoft.com/office/drawing/2014/main" id="{3FC51381-D163-4DA1-8F12-1837A9CE4002}"/>
              </a:ext>
            </a:extLst>
          </p:cNvPr>
          <p:cNvSpPr>
            <a:spLocks noGrp="1"/>
          </p:cNvSpPr>
          <p:nvPr/>
        </p:nvSpPr>
        <p:spPr>
          <a:xfrm>
            <a:off x="9696450" y="1828800"/>
            <a:ext cx="1752600" cy="647700"/>
          </a:xfrm>
          <a:prstGeom prst="rect">
            <a:avLst/>
          </a:prstGeom>
          <a:solidFill>
            <a:srgbClr val="EAF6FF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21" name="row-0-3">
            <a:extLst>
              <a:ext uri="{FF2B5EF4-FFF2-40B4-BE49-F238E27FC236}">
                <a16:creationId xmlns:a16="http://schemas.microsoft.com/office/drawing/2014/main" id="{DB9BADDF-3C91-4975-B352-E3BBD8F92617}"/>
              </a:ext>
            </a:extLst>
          </p:cNvPr>
          <p:cNvSpPr>
            <a:spLocks noGrp="1"/>
          </p:cNvSpPr>
          <p:nvPr/>
        </p:nvSpPr>
        <p:spPr>
          <a:xfrm>
            <a:off x="9810750" y="1905000"/>
            <a:ext cx="152400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125" b="0">
                <a:solidFill>
                  <a:srgbClr val="24272D"/>
                </a:solidFill>
              </a:defRPr>
            </a:pPr>
            <a:r>
              <a:rPr sz="1125" b="0">
                <a:solidFill>
                  <a:srgbClr val="24272D"/>
                </a:solidFill>
              </a:rPr>
              <a:t>遷移先を明示</a:t>
            </a:r>
          </a:p>
        </p:txBody>
      </p:sp>
      <p:sp>
        <p:nvSpPr>
          <p:cNvPr id="22" name="row-1-0-box">
            <a:extLst>
              <a:ext uri="{FF2B5EF4-FFF2-40B4-BE49-F238E27FC236}">
                <a16:creationId xmlns:a16="http://schemas.microsoft.com/office/drawing/2014/main" id="{8B9DFB6E-05E4-461B-B771-96CB7ED683FA}"/>
              </a:ext>
            </a:extLst>
          </p:cNvPr>
          <p:cNvSpPr>
            <a:spLocks noGrp="1"/>
          </p:cNvSpPr>
          <p:nvPr/>
        </p:nvSpPr>
        <p:spPr>
          <a:xfrm>
            <a:off x="742950" y="2476500"/>
            <a:ext cx="2381250" cy="647700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23" name="row-1-0">
            <a:extLst>
              <a:ext uri="{FF2B5EF4-FFF2-40B4-BE49-F238E27FC236}">
                <a16:creationId xmlns:a16="http://schemas.microsoft.com/office/drawing/2014/main" id="{CD21FC35-BA0B-4D0F-B4F4-F39F90774A27}"/>
              </a:ext>
            </a:extLst>
          </p:cNvPr>
          <p:cNvSpPr>
            <a:spLocks noGrp="1"/>
          </p:cNvSpPr>
          <p:nvPr/>
        </p:nvSpPr>
        <p:spPr>
          <a:xfrm>
            <a:off x="857250" y="2552700"/>
            <a:ext cx="215265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200" b="0">
                <a:solidFill>
                  <a:srgbClr val="24272D"/>
                </a:solidFill>
              </a:defRPr>
            </a:pPr>
            <a:r>
              <a:rPr sz="1200" b="0">
                <a:solidFill>
                  <a:srgbClr val="24272D"/>
                </a:solidFill>
              </a:rPr>
              <a:t>キャスト</a:t>
            </a:r>
          </a:p>
        </p:txBody>
      </p:sp>
      <p:sp>
        <p:nvSpPr>
          <p:cNvPr id="24" name="row-1-1-box">
            <a:extLst>
              <a:ext uri="{FF2B5EF4-FFF2-40B4-BE49-F238E27FC236}">
                <a16:creationId xmlns:a16="http://schemas.microsoft.com/office/drawing/2014/main" id="{766D4EAF-8C36-4985-8277-ABE4B846776B}"/>
              </a:ext>
            </a:extLst>
          </p:cNvPr>
          <p:cNvSpPr>
            <a:spLocks noGrp="1"/>
          </p:cNvSpPr>
          <p:nvPr/>
        </p:nvSpPr>
        <p:spPr>
          <a:xfrm>
            <a:off x="3124200" y="2476500"/>
            <a:ext cx="3143250" cy="647700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25" name="row-1-1">
            <a:extLst>
              <a:ext uri="{FF2B5EF4-FFF2-40B4-BE49-F238E27FC236}">
                <a16:creationId xmlns:a16="http://schemas.microsoft.com/office/drawing/2014/main" id="{34E08CB8-9F21-4CBF-8132-0E9368954946}"/>
              </a:ext>
            </a:extLst>
          </p:cNvPr>
          <p:cNvSpPr>
            <a:spLocks noGrp="1"/>
          </p:cNvSpPr>
          <p:nvPr/>
        </p:nvSpPr>
        <p:spPr>
          <a:xfrm>
            <a:off x="3238500" y="2552700"/>
            <a:ext cx="291465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200" b="0">
                <a:solidFill>
                  <a:srgbClr val="24272D"/>
                </a:solidFill>
              </a:defRPr>
            </a:pPr>
            <a:r>
              <a:rPr sz="1200" b="0">
                <a:solidFill>
                  <a:srgbClr val="24272D"/>
                </a:solidFill>
              </a:rPr>
              <a:t>きゃすと</a:t>
            </a:r>
          </a:p>
        </p:txBody>
      </p:sp>
      <p:sp>
        <p:nvSpPr>
          <p:cNvPr id="26" name="row-1-2-box">
            <a:extLst>
              <a:ext uri="{FF2B5EF4-FFF2-40B4-BE49-F238E27FC236}">
                <a16:creationId xmlns:a16="http://schemas.microsoft.com/office/drawing/2014/main" id="{880095AF-B88E-43F1-8C38-8789623F35D1}"/>
              </a:ext>
            </a:extLst>
          </p:cNvPr>
          <p:cNvSpPr>
            <a:spLocks noGrp="1"/>
          </p:cNvSpPr>
          <p:nvPr/>
        </p:nvSpPr>
        <p:spPr>
          <a:xfrm>
            <a:off x="6267450" y="2476500"/>
            <a:ext cx="3429000" cy="647700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27" name="row-1-2">
            <a:extLst>
              <a:ext uri="{FF2B5EF4-FFF2-40B4-BE49-F238E27FC236}">
                <a16:creationId xmlns:a16="http://schemas.microsoft.com/office/drawing/2014/main" id="{B4B94E84-2DA5-4840-BAAE-6D72ACD5302C}"/>
              </a:ext>
            </a:extLst>
          </p:cNvPr>
          <p:cNvSpPr>
            <a:spLocks noGrp="1"/>
          </p:cNvSpPr>
          <p:nvPr/>
        </p:nvSpPr>
        <p:spPr>
          <a:xfrm>
            <a:off x="6381750" y="2552700"/>
            <a:ext cx="320040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200" b="1">
                <a:solidFill>
                  <a:srgbClr val="24496D"/>
                </a:solidFill>
              </a:defRPr>
            </a:pPr>
            <a:r>
              <a:rPr sz="1200" b="1">
                <a:solidFill>
                  <a:srgbClr val="24496D"/>
                </a:solidFill>
              </a:rPr>
              <a:t>きゃすと｜キャスト一覧</a:t>
            </a:r>
          </a:p>
        </p:txBody>
      </p:sp>
      <p:sp>
        <p:nvSpPr>
          <p:cNvPr id="28" name="row-1-3-box">
            <a:extLst>
              <a:ext uri="{FF2B5EF4-FFF2-40B4-BE49-F238E27FC236}">
                <a16:creationId xmlns:a16="http://schemas.microsoft.com/office/drawing/2014/main" id="{6AF6D686-810E-46D2-8A1B-D5D06EBE9A4A}"/>
              </a:ext>
            </a:extLst>
          </p:cNvPr>
          <p:cNvSpPr>
            <a:spLocks noGrp="1"/>
          </p:cNvSpPr>
          <p:nvPr/>
        </p:nvSpPr>
        <p:spPr>
          <a:xfrm>
            <a:off x="9696450" y="2476500"/>
            <a:ext cx="1752600" cy="647700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29" name="row-1-3">
            <a:extLst>
              <a:ext uri="{FF2B5EF4-FFF2-40B4-BE49-F238E27FC236}">
                <a16:creationId xmlns:a16="http://schemas.microsoft.com/office/drawing/2014/main" id="{84F378D2-C8A7-4E51-8C28-9BDD530879C8}"/>
              </a:ext>
            </a:extLst>
          </p:cNvPr>
          <p:cNvSpPr>
            <a:spLocks noGrp="1"/>
          </p:cNvSpPr>
          <p:nvPr/>
        </p:nvSpPr>
        <p:spPr>
          <a:xfrm>
            <a:off x="9810750" y="2552700"/>
            <a:ext cx="152400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125" b="0">
                <a:solidFill>
                  <a:srgbClr val="24272D"/>
                </a:solidFill>
              </a:defRPr>
            </a:pPr>
            <a:r>
              <a:rPr sz="1125" b="0">
                <a:solidFill>
                  <a:srgbClr val="24272D"/>
                </a:solidFill>
              </a:rPr>
              <a:t>遷移先を明示</a:t>
            </a:r>
          </a:p>
        </p:txBody>
      </p:sp>
      <p:sp>
        <p:nvSpPr>
          <p:cNvPr id="30" name="row-2-0-box">
            <a:extLst>
              <a:ext uri="{FF2B5EF4-FFF2-40B4-BE49-F238E27FC236}">
                <a16:creationId xmlns:a16="http://schemas.microsoft.com/office/drawing/2014/main" id="{40E48E53-1296-446D-B741-1C2002DFD7FD}"/>
              </a:ext>
            </a:extLst>
          </p:cNvPr>
          <p:cNvSpPr>
            <a:spLocks noGrp="1"/>
          </p:cNvSpPr>
          <p:nvPr/>
        </p:nvSpPr>
        <p:spPr>
          <a:xfrm>
            <a:off x="742950" y="3124200"/>
            <a:ext cx="2381250" cy="647700"/>
          </a:xfrm>
          <a:prstGeom prst="rect">
            <a:avLst/>
          </a:prstGeom>
          <a:solidFill>
            <a:srgbClr val="EAF6FF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31" name="row-2-0">
            <a:extLst>
              <a:ext uri="{FF2B5EF4-FFF2-40B4-BE49-F238E27FC236}">
                <a16:creationId xmlns:a16="http://schemas.microsoft.com/office/drawing/2014/main" id="{9B452857-CB35-4E95-9C2B-482869A58FE8}"/>
              </a:ext>
            </a:extLst>
          </p:cNvPr>
          <p:cNvSpPr>
            <a:spLocks noGrp="1"/>
          </p:cNvSpPr>
          <p:nvPr/>
        </p:nvSpPr>
        <p:spPr>
          <a:xfrm>
            <a:off x="857250" y="3200400"/>
            <a:ext cx="215265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200" b="0">
                <a:solidFill>
                  <a:srgbClr val="24272D"/>
                </a:solidFill>
              </a:defRPr>
            </a:pPr>
            <a:r>
              <a:rPr lang="ja-JP" altLang="en-US" sz="1200">
                <a:solidFill>
                  <a:srgbClr val="24272D"/>
                </a:solidFill>
              </a:rPr>
              <a:t>出勤</a:t>
            </a:r>
            <a:r>
              <a:rPr sz="1200" b="0" dirty="0" err="1">
                <a:solidFill>
                  <a:srgbClr val="24272D"/>
                </a:solidFill>
              </a:rPr>
              <a:t>予定</a:t>
            </a:r>
            <a:endParaRPr sz="1200" b="0" dirty="0">
              <a:solidFill>
                <a:srgbClr val="24272D"/>
              </a:solidFill>
            </a:endParaRPr>
          </a:p>
        </p:txBody>
      </p:sp>
      <p:sp>
        <p:nvSpPr>
          <p:cNvPr id="32" name="row-2-1-box">
            <a:extLst>
              <a:ext uri="{FF2B5EF4-FFF2-40B4-BE49-F238E27FC236}">
                <a16:creationId xmlns:a16="http://schemas.microsoft.com/office/drawing/2014/main" id="{F3478343-4836-4AC2-9F4C-6C27C65E38CF}"/>
              </a:ext>
            </a:extLst>
          </p:cNvPr>
          <p:cNvSpPr>
            <a:spLocks noGrp="1"/>
          </p:cNvSpPr>
          <p:nvPr/>
        </p:nvSpPr>
        <p:spPr>
          <a:xfrm>
            <a:off x="3124200" y="3124200"/>
            <a:ext cx="3143250" cy="647700"/>
          </a:xfrm>
          <a:prstGeom prst="rect">
            <a:avLst/>
          </a:prstGeom>
          <a:solidFill>
            <a:srgbClr val="EAF6FF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33" name="row-2-1">
            <a:extLst>
              <a:ext uri="{FF2B5EF4-FFF2-40B4-BE49-F238E27FC236}">
                <a16:creationId xmlns:a16="http://schemas.microsoft.com/office/drawing/2014/main" id="{6C7D271D-D6B3-42C0-A270-DBFBE0852B1E}"/>
              </a:ext>
            </a:extLst>
          </p:cNvPr>
          <p:cNvSpPr>
            <a:spLocks noGrp="1"/>
          </p:cNvSpPr>
          <p:nvPr/>
        </p:nvSpPr>
        <p:spPr>
          <a:xfrm>
            <a:off x="3238500" y="3200400"/>
            <a:ext cx="291465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200" b="0">
                <a:solidFill>
                  <a:srgbClr val="24272D"/>
                </a:solidFill>
              </a:defRPr>
            </a:pPr>
            <a:r>
              <a:rPr sz="1200" b="0">
                <a:solidFill>
                  <a:srgbClr val="24272D"/>
                </a:solidFill>
              </a:rPr>
              <a:t>ナビ項目なし</a:t>
            </a:r>
          </a:p>
        </p:txBody>
      </p:sp>
      <p:sp>
        <p:nvSpPr>
          <p:cNvPr id="34" name="row-2-2-box">
            <a:extLst>
              <a:ext uri="{FF2B5EF4-FFF2-40B4-BE49-F238E27FC236}">
                <a16:creationId xmlns:a16="http://schemas.microsoft.com/office/drawing/2014/main" id="{4E0E747C-B945-47E8-AEE1-C72C0DD535B3}"/>
              </a:ext>
            </a:extLst>
          </p:cNvPr>
          <p:cNvSpPr>
            <a:spLocks noGrp="1"/>
          </p:cNvSpPr>
          <p:nvPr/>
        </p:nvSpPr>
        <p:spPr>
          <a:xfrm>
            <a:off x="6267450" y="3124200"/>
            <a:ext cx="3429000" cy="647700"/>
          </a:xfrm>
          <a:prstGeom prst="rect">
            <a:avLst/>
          </a:prstGeom>
          <a:solidFill>
            <a:srgbClr val="EAF6FF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35" name="row-2-2">
            <a:extLst>
              <a:ext uri="{FF2B5EF4-FFF2-40B4-BE49-F238E27FC236}">
                <a16:creationId xmlns:a16="http://schemas.microsoft.com/office/drawing/2014/main" id="{20E770A2-4700-44BB-B222-DEDF6451261D}"/>
              </a:ext>
            </a:extLst>
          </p:cNvPr>
          <p:cNvSpPr>
            <a:spLocks noGrp="1"/>
          </p:cNvSpPr>
          <p:nvPr/>
        </p:nvSpPr>
        <p:spPr>
          <a:xfrm>
            <a:off x="6381750" y="3200400"/>
            <a:ext cx="320040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200" b="1">
                <a:solidFill>
                  <a:srgbClr val="24496D"/>
                </a:solidFill>
              </a:defRPr>
            </a:pPr>
            <a:r>
              <a:rPr sz="1200" b="1">
                <a:solidFill>
                  <a:srgbClr val="24496D"/>
                </a:solidFill>
              </a:rPr>
              <a:t>おきゅうじ よてい</a:t>
            </a:r>
          </a:p>
        </p:txBody>
      </p:sp>
      <p:sp>
        <p:nvSpPr>
          <p:cNvPr id="36" name="row-2-3-box">
            <a:extLst>
              <a:ext uri="{FF2B5EF4-FFF2-40B4-BE49-F238E27FC236}">
                <a16:creationId xmlns:a16="http://schemas.microsoft.com/office/drawing/2014/main" id="{FBCE3584-5CB7-48F9-83E2-D86DB2AB7351}"/>
              </a:ext>
            </a:extLst>
          </p:cNvPr>
          <p:cNvSpPr>
            <a:spLocks noGrp="1"/>
          </p:cNvSpPr>
          <p:nvPr/>
        </p:nvSpPr>
        <p:spPr>
          <a:xfrm>
            <a:off x="9696450" y="3124200"/>
            <a:ext cx="1752600" cy="647700"/>
          </a:xfrm>
          <a:prstGeom prst="rect">
            <a:avLst/>
          </a:prstGeom>
          <a:solidFill>
            <a:srgbClr val="EAF6FF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37" name="row-2-3">
            <a:extLst>
              <a:ext uri="{FF2B5EF4-FFF2-40B4-BE49-F238E27FC236}">
                <a16:creationId xmlns:a16="http://schemas.microsoft.com/office/drawing/2014/main" id="{6DBE742C-13DB-4BDC-A844-B7EA55CE2A32}"/>
              </a:ext>
            </a:extLst>
          </p:cNvPr>
          <p:cNvSpPr>
            <a:spLocks noGrp="1"/>
          </p:cNvSpPr>
          <p:nvPr/>
        </p:nvSpPr>
        <p:spPr>
          <a:xfrm>
            <a:off x="9810750" y="3200400"/>
            <a:ext cx="152400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125" b="0">
                <a:solidFill>
                  <a:srgbClr val="24272D"/>
                </a:solidFill>
              </a:defRPr>
            </a:pPr>
            <a:r>
              <a:rPr sz="1125" b="0">
                <a:solidFill>
                  <a:srgbClr val="24272D"/>
                </a:solidFill>
              </a:rPr>
              <a:t>独立入口を追加</a:t>
            </a:r>
          </a:p>
        </p:txBody>
      </p:sp>
      <p:sp>
        <p:nvSpPr>
          <p:cNvPr id="38" name="row-3-0-box">
            <a:extLst>
              <a:ext uri="{FF2B5EF4-FFF2-40B4-BE49-F238E27FC236}">
                <a16:creationId xmlns:a16="http://schemas.microsoft.com/office/drawing/2014/main" id="{315D8B88-509B-4937-9320-B0CC8F082BC5}"/>
              </a:ext>
            </a:extLst>
          </p:cNvPr>
          <p:cNvSpPr>
            <a:spLocks noGrp="1"/>
          </p:cNvSpPr>
          <p:nvPr/>
        </p:nvSpPr>
        <p:spPr>
          <a:xfrm>
            <a:off x="742950" y="3771900"/>
            <a:ext cx="2381250" cy="647700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39" name="row-3-0">
            <a:extLst>
              <a:ext uri="{FF2B5EF4-FFF2-40B4-BE49-F238E27FC236}">
                <a16:creationId xmlns:a16="http://schemas.microsoft.com/office/drawing/2014/main" id="{59F5040C-440A-4458-978C-25C48FEEFA2C}"/>
              </a:ext>
            </a:extLst>
          </p:cNvPr>
          <p:cNvSpPr>
            <a:spLocks noGrp="1"/>
          </p:cNvSpPr>
          <p:nvPr/>
        </p:nvSpPr>
        <p:spPr>
          <a:xfrm>
            <a:off x="857250" y="3848100"/>
            <a:ext cx="215265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200" b="0">
                <a:solidFill>
                  <a:srgbClr val="24272D"/>
                </a:solidFill>
              </a:defRPr>
            </a:pPr>
            <a:r>
              <a:rPr lang="ja-JP" altLang="en-US" sz="1200" b="0">
                <a:solidFill>
                  <a:srgbClr val="24272D"/>
                </a:solidFill>
              </a:rPr>
              <a:t>遠隔</a:t>
            </a:r>
            <a:endParaRPr sz="1200" b="0" dirty="0">
              <a:solidFill>
                <a:srgbClr val="24272D"/>
              </a:solidFill>
            </a:endParaRPr>
          </a:p>
        </p:txBody>
      </p:sp>
      <p:sp>
        <p:nvSpPr>
          <p:cNvPr id="40" name="row-3-1-box">
            <a:extLst>
              <a:ext uri="{FF2B5EF4-FFF2-40B4-BE49-F238E27FC236}">
                <a16:creationId xmlns:a16="http://schemas.microsoft.com/office/drawing/2014/main" id="{1AEF4DE6-9A3C-492B-A14A-29E885DE737F}"/>
              </a:ext>
            </a:extLst>
          </p:cNvPr>
          <p:cNvSpPr>
            <a:spLocks noGrp="1"/>
          </p:cNvSpPr>
          <p:nvPr/>
        </p:nvSpPr>
        <p:spPr>
          <a:xfrm>
            <a:off x="3124200" y="3771900"/>
            <a:ext cx="3143250" cy="647700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41" name="row-3-1">
            <a:extLst>
              <a:ext uri="{FF2B5EF4-FFF2-40B4-BE49-F238E27FC236}">
                <a16:creationId xmlns:a16="http://schemas.microsoft.com/office/drawing/2014/main" id="{DD50E296-F8D5-4909-B4B7-EC53F73CB22B}"/>
              </a:ext>
            </a:extLst>
          </p:cNvPr>
          <p:cNvSpPr>
            <a:spLocks noGrp="1"/>
          </p:cNvSpPr>
          <p:nvPr/>
        </p:nvSpPr>
        <p:spPr>
          <a:xfrm>
            <a:off x="3238500" y="3848100"/>
            <a:ext cx="291465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200" b="0">
                <a:solidFill>
                  <a:srgbClr val="24272D"/>
                </a:solidFill>
              </a:defRPr>
            </a:pPr>
            <a:r>
              <a:rPr sz="1200" b="0">
                <a:solidFill>
                  <a:srgbClr val="24272D"/>
                </a:solidFill>
              </a:rPr>
              <a:t>共通ナビなし</a:t>
            </a:r>
          </a:p>
        </p:txBody>
      </p:sp>
      <p:sp>
        <p:nvSpPr>
          <p:cNvPr id="42" name="row-3-2-box">
            <a:extLst>
              <a:ext uri="{FF2B5EF4-FFF2-40B4-BE49-F238E27FC236}">
                <a16:creationId xmlns:a16="http://schemas.microsoft.com/office/drawing/2014/main" id="{53B86EFA-41D1-4D2D-B6E3-2687429CB8FA}"/>
              </a:ext>
            </a:extLst>
          </p:cNvPr>
          <p:cNvSpPr>
            <a:spLocks noGrp="1"/>
          </p:cNvSpPr>
          <p:nvPr/>
        </p:nvSpPr>
        <p:spPr>
          <a:xfrm>
            <a:off x="6267450" y="3771900"/>
            <a:ext cx="3429000" cy="647700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43" name="row-3-2">
            <a:extLst>
              <a:ext uri="{FF2B5EF4-FFF2-40B4-BE49-F238E27FC236}">
                <a16:creationId xmlns:a16="http://schemas.microsoft.com/office/drawing/2014/main" id="{D14EC6FE-59DD-4BD7-8092-BC093E8284A9}"/>
              </a:ext>
            </a:extLst>
          </p:cNvPr>
          <p:cNvSpPr>
            <a:spLocks noGrp="1"/>
          </p:cNvSpPr>
          <p:nvPr/>
        </p:nvSpPr>
        <p:spPr>
          <a:xfrm>
            <a:off x="6381750" y="3848100"/>
            <a:ext cx="320040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200" b="1">
                <a:solidFill>
                  <a:srgbClr val="24496D"/>
                </a:solidFill>
              </a:defRPr>
            </a:pPr>
            <a:r>
              <a:rPr sz="1200" b="1" dirty="0" err="1">
                <a:solidFill>
                  <a:srgbClr val="24496D"/>
                </a:solidFill>
              </a:rPr>
              <a:t>えんかく</a:t>
            </a:r>
            <a:r>
              <a:rPr sz="1200" b="1" dirty="0">
                <a:solidFill>
                  <a:srgbClr val="24496D"/>
                </a:solidFill>
              </a:rPr>
              <a:t> つうはん＋7ブランド</a:t>
            </a:r>
          </a:p>
        </p:txBody>
      </p:sp>
      <p:sp>
        <p:nvSpPr>
          <p:cNvPr id="44" name="row-3-3-box">
            <a:extLst>
              <a:ext uri="{FF2B5EF4-FFF2-40B4-BE49-F238E27FC236}">
                <a16:creationId xmlns:a16="http://schemas.microsoft.com/office/drawing/2014/main" id="{0D39A84B-C146-4DF7-A16F-C395832FC779}"/>
              </a:ext>
            </a:extLst>
          </p:cNvPr>
          <p:cNvSpPr>
            <a:spLocks noGrp="1"/>
          </p:cNvSpPr>
          <p:nvPr/>
        </p:nvSpPr>
        <p:spPr>
          <a:xfrm>
            <a:off x="9696450" y="3771900"/>
            <a:ext cx="1752600" cy="647700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45" name="row-3-3">
            <a:extLst>
              <a:ext uri="{FF2B5EF4-FFF2-40B4-BE49-F238E27FC236}">
                <a16:creationId xmlns:a16="http://schemas.microsoft.com/office/drawing/2014/main" id="{C2B2E62D-A486-413A-A11B-7C2DE0F2EBF9}"/>
              </a:ext>
            </a:extLst>
          </p:cNvPr>
          <p:cNvSpPr>
            <a:spLocks noGrp="1"/>
          </p:cNvSpPr>
          <p:nvPr/>
        </p:nvSpPr>
        <p:spPr>
          <a:xfrm>
            <a:off x="9810750" y="3848100"/>
            <a:ext cx="152400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125" b="0">
                <a:solidFill>
                  <a:srgbClr val="24272D"/>
                </a:solidFill>
              </a:defRPr>
            </a:pPr>
            <a:r>
              <a:rPr sz="1125" b="0">
                <a:solidFill>
                  <a:srgbClr val="24272D"/>
                </a:solidFill>
              </a:rPr>
              <a:t>階層選択を追加</a:t>
            </a:r>
          </a:p>
        </p:txBody>
      </p:sp>
      <p:sp>
        <p:nvSpPr>
          <p:cNvPr id="46" name="row-4-0-box">
            <a:extLst>
              <a:ext uri="{FF2B5EF4-FFF2-40B4-BE49-F238E27FC236}">
                <a16:creationId xmlns:a16="http://schemas.microsoft.com/office/drawing/2014/main" id="{F8EFBA77-B854-487E-9FBF-49873F8D532E}"/>
              </a:ext>
            </a:extLst>
          </p:cNvPr>
          <p:cNvSpPr>
            <a:spLocks noGrp="1"/>
          </p:cNvSpPr>
          <p:nvPr/>
        </p:nvSpPr>
        <p:spPr>
          <a:xfrm>
            <a:off x="742950" y="4419600"/>
            <a:ext cx="2381250" cy="647700"/>
          </a:xfrm>
          <a:prstGeom prst="rect">
            <a:avLst/>
          </a:prstGeom>
          <a:solidFill>
            <a:srgbClr val="EAF6FF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47" name="row-4-0">
            <a:extLst>
              <a:ext uri="{FF2B5EF4-FFF2-40B4-BE49-F238E27FC236}">
                <a16:creationId xmlns:a16="http://schemas.microsoft.com/office/drawing/2014/main" id="{7FB40EB2-A0EB-4ECA-928D-39152A6CB787}"/>
              </a:ext>
            </a:extLst>
          </p:cNvPr>
          <p:cNvSpPr>
            <a:spLocks noGrp="1"/>
          </p:cNvSpPr>
          <p:nvPr/>
        </p:nvSpPr>
        <p:spPr>
          <a:xfrm>
            <a:off x="857250" y="4495800"/>
            <a:ext cx="215265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200" b="0">
                <a:solidFill>
                  <a:srgbClr val="24272D"/>
                </a:solidFill>
              </a:defRPr>
            </a:pPr>
            <a:r>
              <a:rPr sz="1200" b="0" dirty="0" err="1">
                <a:solidFill>
                  <a:srgbClr val="24272D"/>
                </a:solidFill>
              </a:rPr>
              <a:t>メニューボタン</a:t>
            </a:r>
            <a:endParaRPr sz="1200" b="0" dirty="0">
              <a:solidFill>
                <a:srgbClr val="24272D"/>
              </a:solidFill>
            </a:endParaRPr>
          </a:p>
        </p:txBody>
      </p:sp>
      <p:sp>
        <p:nvSpPr>
          <p:cNvPr id="48" name="row-4-1-box">
            <a:extLst>
              <a:ext uri="{FF2B5EF4-FFF2-40B4-BE49-F238E27FC236}">
                <a16:creationId xmlns:a16="http://schemas.microsoft.com/office/drawing/2014/main" id="{44D494D0-BD51-4048-882F-D809F19EF870}"/>
              </a:ext>
            </a:extLst>
          </p:cNvPr>
          <p:cNvSpPr>
            <a:spLocks noGrp="1"/>
          </p:cNvSpPr>
          <p:nvPr/>
        </p:nvSpPr>
        <p:spPr>
          <a:xfrm>
            <a:off x="3124200" y="4419600"/>
            <a:ext cx="3143250" cy="647700"/>
          </a:xfrm>
          <a:prstGeom prst="rect">
            <a:avLst/>
          </a:prstGeom>
          <a:solidFill>
            <a:srgbClr val="EAF6FF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49" name="row-4-1">
            <a:extLst>
              <a:ext uri="{FF2B5EF4-FFF2-40B4-BE49-F238E27FC236}">
                <a16:creationId xmlns:a16="http://schemas.microsoft.com/office/drawing/2014/main" id="{53B8088A-5491-4C9C-B894-2269A4121893}"/>
              </a:ext>
            </a:extLst>
          </p:cNvPr>
          <p:cNvSpPr>
            <a:spLocks noGrp="1"/>
          </p:cNvSpPr>
          <p:nvPr/>
        </p:nvSpPr>
        <p:spPr>
          <a:xfrm>
            <a:off x="3238500" y="4495800"/>
            <a:ext cx="291465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200" b="0">
                <a:solidFill>
                  <a:srgbClr val="24272D"/>
                </a:solidFill>
              </a:defRPr>
            </a:pPr>
            <a:r>
              <a:rPr sz="1200" b="0">
                <a:solidFill>
                  <a:srgbClr val="24272D"/>
                </a:solidFill>
              </a:rPr>
              <a:t>視覚アイコンのみ</a:t>
            </a:r>
          </a:p>
        </p:txBody>
      </p:sp>
      <p:sp>
        <p:nvSpPr>
          <p:cNvPr id="50" name="row-4-2-box">
            <a:extLst>
              <a:ext uri="{FF2B5EF4-FFF2-40B4-BE49-F238E27FC236}">
                <a16:creationId xmlns:a16="http://schemas.microsoft.com/office/drawing/2014/main" id="{757B0544-E6A2-476E-95D7-9EFC9EDCE024}"/>
              </a:ext>
            </a:extLst>
          </p:cNvPr>
          <p:cNvSpPr>
            <a:spLocks noGrp="1"/>
          </p:cNvSpPr>
          <p:nvPr/>
        </p:nvSpPr>
        <p:spPr>
          <a:xfrm>
            <a:off x="6267450" y="4419600"/>
            <a:ext cx="3429000" cy="647700"/>
          </a:xfrm>
          <a:prstGeom prst="rect">
            <a:avLst/>
          </a:prstGeom>
          <a:solidFill>
            <a:srgbClr val="EAF6FF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51" name="row-4-2">
            <a:extLst>
              <a:ext uri="{FF2B5EF4-FFF2-40B4-BE49-F238E27FC236}">
                <a16:creationId xmlns:a16="http://schemas.microsoft.com/office/drawing/2014/main" id="{26938F40-2A52-491D-A3E9-3B06C9414CFF}"/>
              </a:ext>
            </a:extLst>
          </p:cNvPr>
          <p:cNvSpPr>
            <a:spLocks noGrp="1"/>
          </p:cNvSpPr>
          <p:nvPr/>
        </p:nvSpPr>
        <p:spPr>
          <a:xfrm>
            <a:off x="6381750" y="4495800"/>
            <a:ext cx="320040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200" b="1">
                <a:solidFill>
                  <a:srgbClr val="24496D"/>
                </a:solidFill>
              </a:defRPr>
            </a:pPr>
            <a:r>
              <a:rPr sz="1200" b="1">
                <a:solidFill>
                  <a:srgbClr val="24496D"/>
                </a:solidFill>
              </a:rPr>
              <a:t>aria-label「めにゅうを開く」</a:t>
            </a:r>
          </a:p>
        </p:txBody>
      </p:sp>
      <p:sp>
        <p:nvSpPr>
          <p:cNvPr id="52" name="row-4-3-box">
            <a:extLst>
              <a:ext uri="{FF2B5EF4-FFF2-40B4-BE49-F238E27FC236}">
                <a16:creationId xmlns:a16="http://schemas.microsoft.com/office/drawing/2014/main" id="{0823929C-C1D0-46FF-8ED4-C1C91BB05A7B}"/>
              </a:ext>
            </a:extLst>
          </p:cNvPr>
          <p:cNvSpPr>
            <a:spLocks noGrp="1"/>
          </p:cNvSpPr>
          <p:nvPr/>
        </p:nvSpPr>
        <p:spPr>
          <a:xfrm>
            <a:off x="9696450" y="4419600"/>
            <a:ext cx="1752600" cy="647700"/>
          </a:xfrm>
          <a:prstGeom prst="rect">
            <a:avLst/>
          </a:prstGeom>
          <a:solidFill>
            <a:srgbClr val="EAF6FF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53" name="row-4-3">
            <a:extLst>
              <a:ext uri="{FF2B5EF4-FFF2-40B4-BE49-F238E27FC236}">
                <a16:creationId xmlns:a16="http://schemas.microsoft.com/office/drawing/2014/main" id="{4DF52789-6E5B-4A34-8243-895B9D69B256}"/>
              </a:ext>
            </a:extLst>
          </p:cNvPr>
          <p:cNvSpPr>
            <a:spLocks noGrp="1"/>
          </p:cNvSpPr>
          <p:nvPr/>
        </p:nvSpPr>
        <p:spPr>
          <a:xfrm>
            <a:off x="9810750" y="4495800"/>
            <a:ext cx="152400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125" b="0">
                <a:solidFill>
                  <a:srgbClr val="24272D"/>
                </a:solidFill>
              </a:defRPr>
            </a:pPr>
            <a:r>
              <a:rPr sz="1125" b="0">
                <a:solidFill>
                  <a:srgbClr val="24272D"/>
                </a:solidFill>
              </a:rPr>
              <a:t>読み上げ情報を追加</a:t>
            </a:r>
          </a:p>
        </p:txBody>
      </p:sp>
      <p:sp>
        <p:nvSpPr>
          <p:cNvPr id="54" name="row-5-0-box">
            <a:extLst>
              <a:ext uri="{FF2B5EF4-FFF2-40B4-BE49-F238E27FC236}">
                <a16:creationId xmlns:a16="http://schemas.microsoft.com/office/drawing/2014/main" id="{8CA21884-16F0-44AF-9FA1-952D7C7771F6}"/>
              </a:ext>
            </a:extLst>
          </p:cNvPr>
          <p:cNvSpPr>
            <a:spLocks noGrp="1"/>
          </p:cNvSpPr>
          <p:nvPr/>
        </p:nvSpPr>
        <p:spPr>
          <a:xfrm>
            <a:off x="742950" y="5067300"/>
            <a:ext cx="2381250" cy="647700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55" name="row-5-0">
            <a:extLst>
              <a:ext uri="{FF2B5EF4-FFF2-40B4-BE49-F238E27FC236}">
                <a16:creationId xmlns:a16="http://schemas.microsoft.com/office/drawing/2014/main" id="{99EA1BA1-2068-4A27-A336-6ED046ECCC50}"/>
              </a:ext>
            </a:extLst>
          </p:cNvPr>
          <p:cNvSpPr>
            <a:spLocks noGrp="1"/>
          </p:cNvSpPr>
          <p:nvPr/>
        </p:nvSpPr>
        <p:spPr>
          <a:xfrm>
            <a:off x="857250" y="5143500"/>
            <a:ext cx="215265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200" b="0">
                <a:solidFill>
                  <a:srgbClr val="24272D"/>
                </a:solidFill>
              </a:defRPr>
            </a:pPr>
            <a:r>
              <a:rPr sz="1200" b="0">
                <a:solidFill>
                  <a:srgbClr val="24272D"/>
                </a:solidFill>
              </a:rPr>
              <a:t>開閉状態</a:t>
            </a:r>
          </a:p>
        </p:txBody>
      </p:sp>
      <p:sp>
        <p:nvSpPr>
          <p:cNvPr id="56" name="row-5-1-box">
            <a:extLst>
              <a:ext uri="{FF2B5EF4-FFF2-40B4-BE49-F238E27FC236}">
                <a16:creationId xmlns:a16="http://schemas.microsoft.com/office/drawing/2014/main" id="{68A0A512-D974-44DA-8E77-754733F037DE}"/>
              </a:ext>
            </a:extLst>
          </p:cNvPr>
          <p:cNvSpPr>
            <a:spLocks noGrp="1"/>
          </p:cNvSpPr>
          <p:nvPr/>
        </p:nvSpPr>
        <p:spPr>
          <a:xfrm>
            <a:off x="3124200" y="5067300"/>
            <a:ext cx="3143250" cy="647700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57" name="row-5-1">
            <a:extLst>
              <a:ext uri="{FF2B5EF4-FFF2-40B4-BE49-F238E27FC236}">
                <a16:creationId xmlns:a16="http://schemas.microsoft.com/office/drawing/2014/main" id="{BF6016F1-7A05-4D26-8592-50AE461BB008}"/>
              </a:ext>
            </a:extLst>
          </p:cNvPr>
          <p:cNvSpPr>
            <a:spLocks noGrp="1"/>
          </p:cNvSpPr>
          <p:nvPr/>
        </p:nvSpPr>
        <p:spPr>
          <a:xfrm>
            <a:off x="3238500" y="5143500"/>
            <a:ext cx="291465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200" b="0">
                <a:solidFill>
                  <a:srgbClr val="24272D"/>
                </a:solidFill>
              </a:defRPr>
            </a:pPr>
            <a:r>
              <a:rPr sz="1200" b="0">
                <a:solidFill>
                  <a:srgbClr val="24272D"/>
                </a:solidFill>
              </a:rPr>
              <a:t>×アイコンへ変化</a:t>
            </a:r>
          </a:p>
        </p:txBody>
      </p:sp>
      <p:sp>
        <p:nvSpPr>
          <p:cNvPr id="58" name="row-5-2-box">
            <a:extLst>
              <a:ext uri="{FF2B5EF4-FFF2-40B4-BE49-F238E27FC236}">
                <a16:creationId xmlns:a16="http://schemas.microsoft.com/office/drawing/2014/main" id="{9CCFAAB5-3300-4E93-AF0F-130EDB24EF26}"/>
              </a:ext>
            </a:extLst>
          </p:cNvPr>
          <p:cNvSpPr>
            <a:spLocks noGrp="1"/>
          </p:cNvSpPr>
          <p:nvPr/>
        </p:nvSpPr>
        <p:spPr>
          <a:xfrm>
            <a:off x="6267450" y="5067300"/>
            <a:ext cx="3429000" cy="647700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59" name="row-5-2">
            <a:extLst>
              <a:ext uri="{FF2B5EF4-FFF2-40B4-BE49-F238E27FC236}">
                <a16:creationId xmlns:a16="http://schemas.microsoft.com/office/drawing/2014/main" id="{A16243C3-2F19-4530-B347-FD058DEE6F7C}"/>
              </a:ext>
            </a:extLst>
          </p:cNvPr>
          <p:cNvSpPr>
            <a:spLocks noGrp="1"/>
          </p:cNvSpPr>
          <p:nvPr/>
        </p:nvSpPr>
        <p:spPr>
          <a:xfrm>
            <a:off x="6381750" y="5143500"/>
            <a:ext cx="320040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200" b="1">
                <a:solidFill>
                  <a:srgbClr val="24496D"/>
                </a:solidFill>
              </a:defRPr>
            </a:pPr>
            <a:r>
              <a:rPr sz="1200" b="1">
                <a:solidFill>
                  <a:srgbClr val="24496D"/>
                </a:solidFill>
              </a:rPr>
              <a:t>円形ボタン＋カード表示</a:t>
            </a:r>
          </a:p>
        </p:txBody>
      </p:sp>
      <p:sp>
        <p:nvSpPr>
          <p:cNvPr id="60" name="row-5-3-box">
            <a:extLst>
              <a:ext uri="{FF2B5EF4-FFF2-40B4-BE49-F238E27FC236}">
                <a16:creationId xmlns:a16="http://schemas.microsoft.com/office/drawing/2014/main" id="{229C81EF-6207-446E-B129-40FFE74B01D4}"/>
              </a:ext>
            </a:extLst>
          </p:cNvPr>
          <p:cNvSpPr>
            <a:spLocks noGrp="1"/>
          </p:cNvSpPr>
          <p:nvPr/>
        </p:nvSpPr>
        <p:spPr>
          <a:xfrm>
            <a:off x="9696450" y="5067300"/>
            <a:ext cx="1752600" cy="647700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61" name="row-5-3">
            <a:extLst>
              <a:ext uri="{FF2B5EF4-FFF2-40B4-BE49-F238E27FC236}">
                <a16:creationId xmlns:a16="http://schemas.microsoft.com/office/drawing/2014/main" id="{4E51DA54-E108-4DD0-9F16-320274599D73}"/>
              </a:ext>
            </a:extLst>
          </p:cNvPr>
          <p:cNvSpPr>
            <a:spLocks noGrp="1"/>
          </p:cNvSpPr>
          <p:nvPr/>
        </p:nvSpPr>
        <p:spPr>
          <a:xfrm>
            <a:off x="9810750" y="5143500"/>
            <a:ext cx="152400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125" b="0">
                <a:solidFill>
                  <a:srgbClr val="24272D"/>
                </a:solidFill>
              </a:defRPr>
            </a:pPr>
            <a:r>
              <a:rPr sz="1125" b="0">
                <a:solidFill>
                  <a:srgbClr val="24272D"/>
                </a:solidFill>
              </a:rPr>
              <a:t>状態と領域を分離</a:t>
            </a:r>
          </a:p>
        </p:txBody>
      </p:sp>
    </p:spTree>
    <p:extLst>
      <p:ext uri="{BB962C8B-B14F-4D97-AF65-F5344CB8AC3E}">
        <p14:creationId xmlns:p14="http://schemas.microsoft.com/office/powerpoint/2010/main" val="81106954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98</TotalTime>
  <Words>624</Words>
  <Application>Microsoft Macintosh PowerPoint</Application>
  <DocSecurity>0</DocSecurity>
  <PresentationFormat>ワイド画面</PresentationFormat>
  <Paragraphs>140</Paragraphs>
  <Slides>20</Slides>
  <Notes>20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2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20</vt:i4>
      </vt:variant>
    </vt:vector>
  </HeadingPairs>
  <TitlesOfParts>
    <vt:vector size="23" baseType="lpstr">
      <vt:lpstr>Arial</vt:lpstr>
      <vt:lpstr>Calibri</vt:lpstr>
      <vt:lpstr>Office Theme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し め</cp:lastModifiedBy>
  <cp:revision>2</cp:revision>
  <dcterms:created xsi:type="dcterms:W3CDTF">2026-08-07T12:55:07Z</dcterms:created>
  <dcterms:modified xsi:type="dcterms:W3CDTF">2026-08-07T14:41:02Z</dcterms:modified>
</cp:coreProperties>
</file>
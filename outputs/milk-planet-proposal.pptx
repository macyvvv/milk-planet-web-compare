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CEB7644D-353B-4A37-A3FE-1F0B6C521C68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0858500" cy="5524500"/>
          </a:xfrm>
          <a:prstGeom prst="roundRect">
            <a:avLst>
              <a:gd name="adj" fmla="val 413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5D1CD3-B8CC-46C0-AFA9-0753B00F073D}"/>
              </a:ext>
            </a:extLst>
          </p:cNvPr>
          <p:cNvSpPr>
            <a:spLocks noGrp="1"/>
          </p:cNvSpPr>
          <p:nvPr/>
        </p:nvSpPr>
        <p:spPr>
          <a:xfrm>
            <a:off x="1047750" y="11239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milk-planet</a:t>
            </a:r>
          </a:p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web 改修提案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672169-6C1A-4B0E-9B38-87AE459FB727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8191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7F0FF"/>
                </a:solidFill>
              </a:defRPr>
            </a:pPr>
            <a:r>
              <a:rPr sz="1800" b="0">
                <a:solidFill>
                  <a:srgbClr val="E7F0FF"/>
                </a:solidFill>
              </a:rPr>
              <a:t>目的: 既存素材を使い回しながら、新旧比較しやすいプレゼン用モックに整える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616AD0DC-FDB3-47E9-B8BF-942286BF695E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4476750" cy="1428750"/>
          </a:xfrm>
          <a:prstGeom prst="roundRect">
            <a:avLst>
              <a:gd name="adj" fmla="val 1066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C91818-E4CF-4924-BA8E-3487E5CC9DB9}"/>
              </a:ext>
            </a:extLst>
          </p:cNvPr>
          <p:cNvSpPr>
            <a:spLocks noGrp="1"/>
          </p:cNvSpPr>
          <p:nvPr/>
        </p:nvSpPr>
        <p:spPr>
          <a:xfrm>
            <a:off x="1333500" y="42481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D7EF"/>
                </a:solidFill>
              </a:defRPr>
            </a:pPr>
            <a:r>
              <a:rPr sz="1800" b="1">
                <a:solidFill>
                  <a:srgbClr val="FFD7EF"/>
                </a:solidFill>
              </a:rPr>
              <a:t>対象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B77F52-B472-4220-BB8F-37C6B161C001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381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proposal/branch1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トップ / 店舗 / キャスト / 採用 / 補助ページ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E0A6B38C-694F-4908-B4FF-1D12AD014C00}"/>
              </a:ext>
            </a:extLst>
          </p:cNvPr>
          <p:cNvSpPr>
            <a:spLocks noGrp="1"/>
          </p:cNvSpPr>
          <p:nvPr/>
        </p:nvSpPr>
        <p:spPr>
          <a:xfrm>
            <a:off x="6000750" y="400050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9E71171-5394-4F9B-A5A5-8C81CB7782F9}"/>
              </a:ext>
            </a:extLst>
          </p:cNvPr>
          <p:cNvSpPr>
            <a:spLocks noGrp="1"/>
          </p:cNvSpPr>
          <p:nvPr/>
        </p:nvSpPr>
        <p:spPr>
          <a:xfrm>
            <a:off x="6286500" y="42481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FFE5"/>
                </a:solidFill>
              </a:defRPr>
            </a:pPr>
            <a:r>
              <a:rPr sz="1800" b="1">
                <a:solidFill>
                  <a:srgbClr val="D8FFE5"/>
                </a:solidFill>
              </a:rPr>
              <a:t>方針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407991-865E-4E45-BC96-7FCEECB5B20B}"/>
              </a:ext>
            </a:extLst>
          </p:cNvPr>
          <p:cNvSpPr>
            <a:spLocks noGrp="1"/>
          </p:cNvSpPr>
          <p:nvPr/>
        </p:nvSpPr>
        <p:spPr>
          <a:xfrm>
            <a:off x="6286500" y="4648200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PCは固定、以後はSPを主に調整。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見た目と導線だけを、元サイトに寄せて再構成。</a:t>
            </a:r>
          </a:p>
        </p:txBody>
      </p:sp>
    </p:spTree>
    <p:extLst>
      <p:ext uri="{BB962C8B-B14F-4D97-AF65-F5344CB8AC3E}">
        <p14:creationId xmlns:p14="http://schemas.microsoft.com/office/powerpoint/2010/main" val="101019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AB13A8-96E6-4765-B817-2D9CF40A7659}"/>
              </a:ext>
            </a:extLst>
          </p:cNvPr>
          <p:cNvSpPr>
            <a:spLocks noGrp="1"/>
          </p:cNvSpPr>
          <p:nvPr/>
        </p:nvSpPr>
        <p:spPr>
          <a:xfrm>
            <a:off x="762000" y="495300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D2440"/>
                </a:solidFill>
              </a:defRPr>
            </a:pPr>
            <a:r>
              <a:rPr sz="4050" b="1">
                <a:solidFill>
                  <a:srgbClr val="1D2440"/>
                </a:solidFill>
              </a:rPr>
              <a:t>大きな修正</a:t>
            </a:r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9AAC7B13-E674-4128-A01B-437D3AFEE45B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668000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7DFD4"/>
            </a:solidFill>
            <a:prstDash val="solid"/>
          </a:ln>
        </p:spPr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BFC617C-D1C8-430C-9B3D-9A42144DB4A9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FFF8FB"/>
          </a:solidFill>
          <a:ln w="9525">
            <a:solidFill>
              <a:srgbClr val="EADFE8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A4E446-C44D-4DD7-B07B-7E1538D5C6C6}"/>
              </a:ext>
            </a:extLst>
          </p:cNvPr>
          <p:cNvSpPr>
            <a:spLocks noGrp="1"/>
          </p:cNvSpPr>
          <p:nvPr/>
        </p:nvSpPr>
        <p:spPr>
          <a:xfrm>
            <a:off x="1371600" y="19812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3304D"/>
                </a:solidFill>
              </a:defRPr>
            </a:pPr>
            <a:r>
              <a:rPr sz="1950" b="1">
                <a:solidFill>
                  <a:srgbClr val="23304D"/>
                </a:solidFill>
              </a:rPr>
              <a:t>トップ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1F207AD-D3E7-425C-8241-AFEF07EC789B}"/>
              </a:ext>
            </a:extLst>
          </p:cNvPr>
          <p:cNvSpPr>
            <a:spLocks noGrp="1"/>
          </p:cNvSpPr>
          <p:nvPr/>
        </p:nvSpPr>
        <p:spPr>
          <a:xfrm>
            <a:off x="1371600" y="2362200"/>
            <a:ext cx="3886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カルーセルを元画像を切らずに最大表示。</a:t>
            </a:r>
          </a:p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中央を主役にしつつ、周辺画像との関係を整理。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4B328E13-A055-4838-823E-90CAEADC4DBC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F4FBFF"/>
          </a:solidFill>
          <a:ln w="9525">
            <a:solidFill>
              <a:srgbClr val="EADFE8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7E6E803-9F0C-40BA-ACE9-31F4C15336D1}"/>
              </a:ext>
            </a:extLst>
          </p:cNvPr>
          <p:cNvSpPr>
            <a:spLocks noGrp="1"/>
          </p:cNvSpPr>
          <p:nvPr/>
        </p:nvSpPr>
        <p:spPr>
          <a:xfrm>
            <a:off x="6134100" y="19812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3304D"/>
                </a:solidFill>
              </a:defRPr>
            </a:pPr>
            <a:r>
              <a:rPr sz="1950" b="1">
                <a:solidFill>
                  <a:srgbClr val="23304D"/>
                </a:solidFill>
              </a:rPr>
              <a:t>導線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1EA5A4-854E-4A6F-B8F4-7B84E98B6321}"/>
              </a:ext>
            </a:extLst>
          </p:cNvPr>
          <p:cNvSpPr>
            <a:spLocks noGrp="1"/>
          </p:cNvSpPr>
          <p:nvPr/>
        </p:nvSpPr>
        <p:spPr>
          <a:xfrm>
            <a:off x="6134100" y="2362200"/>
            <a:ext cx="3886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ハンバーガーを全ページで統一。</a:t>
            </a:r>
          </a:p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`しすてむ＆めにゅう` の遷移先を安定化。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DB5C6829-6350-4D93-A9B7-70888B20563D}"/>
              </a:ext>
            </a:extLst>
          </p:cNvPr>
          <p:cNvSpPr>
            <a:spLocks noGrp="1"/>
          </p:cNvSpPr>
          <p:nvPr/>
        </p:nvSpPr>
        <p:spPr>
          <a:xfrm>
            <a:off x="1143000" y="381000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FFF8FB"/>
          </a:solidFill>
          <a:ln w="9525">
            <a:solidFill>
              <a:srgbClr val="EADFE8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2BFEC3-3D0E-4C2E-B354-59431A416F39}"/>
              </a:ext>
            </a:extLst>
          </p:cNvPr>
          <p:cNvSpPr>
            <a:spLocks noGrp="1"/>
          </p:cNvSpPr>
          <p:nvPr/>
        </p:nvSpPr>
        <p:spPr>
          <a:xfrm>
            <a:off x="1371600" y="39814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3304D"/>
                </a:solidFill>
              </a:defRPr>
            </a:pPr>
            <a:r>
              <a:rPr sz="1950" b="1">
                <a:solidFill>
                  <a:srgbClr val="23304D"/>
                </a:solidFill>
              </a:rPr>
              <a:t>店舗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F0E0B33-837C-4B4D-B621-AE787C854780}"/>
              </a:ext>
            </a:extLst>
          </p:cNvPr>
          <p:cNvSpPr>
            <a:spLocks noGrp="1"/>
          </p:cNvSpPr>
          <p:nvPr/>
        </p:nvSpPr>
        <p:spPr>
          <a:xfrm>
            <a:off x="1371600" y="4362450"/>
            <a:ext cx="4152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 dirty="0" err="1">
                <a:solidFill>
                  <a:srgbClr val="42506D"/>
                </a:solidFill>
              </a:rPr>
              <a:t>店舗一覧・個別店舗ページの見え方を統一</a:t>
            </a:r>
            <a:r>
              <a:rPr sz="1500" b="0" dirty="0">
                <a:solidFill>
                  <a:srgbClr val="42506D"/>
                </a:solidFill>
              </a:rPr>
              <a:t>。</a:t>
            </a:r>
          </a:p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 dirty="0" err="1">
                <a:solidFill>
                  <a:srgbClr val="42506D"/>
                </a:solidFill>
              </a:rPr>
              <a:t>バナ</a:t>
            </a:r>
            <a:r>
              <a:rPr sz="1500" b="0" dirty="0">
                <a:solidFill>
                  <a:srgbClr val="42506D"/>
                </a:solidFill>
              </a:rPr>
              <a:t>ー、</a:t>
            </a:r>
            <a:r>
              <a:rPr sz="1500" b="0" dirty="0" err="1">
                <a:solidFill>
                  <a:srgbClr val="42506D"/>
                </a:solidFill>
              </a:rPr>
              <a:t>アクセス、ロゴのサイズ感を修正</a:t>
            </a:r>
            <a:r>
              <a:rPr sz="1500" b="0" dirty="0">
                <a:solidFill>
                  <a:srgbClr val="42506D"/>
                </a:solidFill>
              </a:rPr>
              <a:t>。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2F727E26-56A9-4E94-8753-90195B127847}"/>
              </a:ext>
            </a:extLst>
          </p:cNvPr>
          <p:cNvSpPr>
            <a:spLocks noGrp="1"/>
          </p:cNvSpPr>
          <p:nvPr/>
        </p:nvSpPr>
        <p:spPr>
          <a:xfrm>
            <a:off x="5905500" y="381000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F4FBFF"/>
          </a:solidFill>
          <a:ln w="9525">
            <a:solidFill>
              <a:srgbClr val="EADFE8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FBF294-346C-403D-9367-7B3E3B1A64FD}"/>
              </a:ext>
            </a:extLst>
          </p:cNvPr>
          <p:cNvSpPr>
            <a:spLocks noGrp="1"/>
          </p:cNvSpPr>
          <p:nvPr/>
        </p:nvSpPr>
        <p:spPr>
          <a:xfrm>
            <a:off x="6134100" y="3981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3304D"/>
                </a:solidFill>
              </a:defRPr>
            </a:pPr>
            <a:r>
              <a:rPr sz="1950" b="1" dirty="0" err="1">
                <a:solidFill>
                  <a:srgbClr val="23304D"/>
                </a:solidFill>
              </a:rPr>
              <a:t>キャスト</a:t>
            </a:r>
            <a:endParaRPr sz="1950" b="1" dirty="0">
              <a:solidFill>
                <a:srgbClr val="23304D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EC1EA4E-FB1C-4299-9818-8CA10DFA11CA}"/>
              </a:ext>
            </a:extLst>
          </p:cNvPr>
          <p:cNvSpPr>
            <a:spLocks noGrp="1"/>
          </p:cNvSpPr>
          <p:nvPr/>
        </p:nvSpPr>
        <p:spPr>
          <a:xfrm>
            <a:off x="6134100" y="4362450"/>
            <a:ext cx="3886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縦横間隔を詰め、SNSリンクを復元。</a:t>
            </a:r>
          </a:p>
          <a:p>
            <a:pPr algn="l">
              <a:defRPr sz="1500" b="0">
                <a:solidFill>
                  <a:srgbClr val="42506D"/>
                </a:solidFill>
              </a:defRPr>
            </a:pPr>
            <a:r>
              <a:rPr sz="1500" b="0">
                <a:solidFill>
                  <a:srgbClr val="42506D"/>
                </a:solidFill>
              </a:rPr>
              <a:t>店舗切替の見え方も調整。</a:t>
            </a:r>
          </a:p>
        </p:txBody>
      </p:sp>
    </p:spTree>
    <p:extLst>
      <p:ext uri="{BB962C8B-B14F-4D97-AF65-F5344CB8AC3E}">
        <p14:creationId xmlns:p14="http://schemas.microsoft.com/office/powerpoint/2010/main" val="178525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37166B-CA3D-4796-8D36-00891A40EC46}"/>
              </a:ext>
            </a:extLst>
          </p:cNvPr>
          <p:cNvSpPr>
            <a:spLocks noGrp="1"/>
          </p:cNvSpPr>
          <p:nvPr/>
        </p:nvSpPr>
        <p:spPr>
          <a:xfrm>
            <a:off x="762000" y="4953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8324C"/>
                </a:solidFill>
              </a:defRPr>
            </a:pPr>
            <a:r>
              <a:rPr sz="4050" b="1">
                <a:solidFill>
                  <a:srgbClr val="18324C"/>
                </a:solidFill>
              </a:rPr>
              <a:t>実装の考え方</a:t>
            </a:r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065E7B25-0A4D-4CC0-A281-5DFCAE9C5CA6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5143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E6F3"/>
            </a:solidFill>
            <a:prstDash val="solid"/>
          </a:ln>
        </p:spPr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BA9E79DB-A361-4242-9B60-1FDB39E62285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5143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E6F3"/>
            </a:solidFill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F318F1B-4377-4F88-A61F-F91786080384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4965"/>
                </a:solidFill>
              </a:defRPr>
            </a:pPr>
            <a:r>
              <a:rPr sz="2100" b="1">
                <a:solidFill>
                  <a:srgbClr val="2D4965"/>
                </a:solidFill>
              </a:rPr>
              <a:t>守ったこと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7ACEC2-8E02-4366-9C7D-497BFA5141AE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・既存の画像とHTMLを使い回す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・追加素材を前提にしない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・PC版は特別指示があるまで触らない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・SPの変更は CSS/JS 中心で完結させる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・相対パスとアンカー遷移を都度確認する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4E7878-8752-43D4-8578-8ACD6AE73937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4965"/>
                </a:solidFill>
              </a:defRPr>
            </a:pPr>
            <a:r>
              <a:rPr sz="2100" b="1" dirty="0" err="1">
                <a:solidFill>
                  <a:srgbClr val="2D4965"/>
                </a:solidFill>
              </a:rPr>
              <a:t>詰まりやすかった点</a:t>
            </a:r>
            <a:endParaRPr sz="2100" b="1" dirty="0">
              <a:solidFill>
                <a:srgbClr val="2D4965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121B8E-6173-4CF9-8E76-A8C347D54AA8}"/>
              </a:ext>
            </a:extLst>
          </p:cNvPr>
          <p:cNvSpPr>
            <a:spLocks noGrp="1"/>
          </p:cNvSpPr>
          <p:nvPr/>
        </p:nvSpPr>
        <p:spPr>
          <a:xfrm>
            <a:off x="6572250" y="220980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・空アンカーや別ページの hash を誤って横取りする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・要素の見た目ではなく親要素の幅に潰される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・画像がないのではなく、DOM/CSS で隠れている</a:t>
            </a:r>
          </a:p>
          <a:p>
            <a:pPr algn="l">
              <a:defRPr sz="1650" b="0">
                <a:solidFill>
                  <a:srgbClr val="39526B"/>
                </a:solidFill>
              </a:defRPr>
            </a:pPr>
            <a:r>
              <a:rPr sz="1650" b="0">
                <a:solidFill>
                  <a:srgbClr val="39526B"/>
                </a:solidFill>
              </a:rPr>
              <a:t>・1ページ内の塊を、塊内余白と塊間余白に分けて考える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121664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391C56-1877-4725-8D74-EF6C9F689D3C}"/>
              </a:ext>
            </a:extLst>
          </p:cNvPr>
          <p:cNvSpPr>
            <a:spLocks noGrp="1"/>
          </p:cNvSpPr>
          <p:nvPr/>
        </p:nvSpPr>
        <p:spPr>
          <a:xfrm>
            <a:off x="762000" y="4953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3A2632"/>
                </a:solidFill>
              </a:defRPr>
            </a:pPr>
            <a:r>
              <a:rPr sz="4050" b="1">
                <a:solidFill>
                  <a:srgbClr val="3A2632"/>
                </a:solidFill>
              </a:rPr>
              <a:t>最終状態の要点</a:t>
            </a:r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B2F68888-7613-4954-AFF7-1F753E046B6E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6680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ADFDB"/>
            </a:solidFill>
            <a:prstDash val="solid"/>
          </a:ln>
        </p:spPr>
      </p:sp>
      <p:sp>
        <p:nvSpPr>
          <p:cNvPr id="3" name="円/楕円 2">
            <a:extLst>
              <a:ext uri="{FF2B5EF4-FFF2-40B4-BE49-F238E27FC236}">
                <a16:creationId xmlns:a16="http://schemas.microsoft.com/office/drawing/2014/main" id="{CDDF10EB-2DA9-4B08-A88B-5D0916EC6ABA}"/>
              </a:ext>
            </a:extLst>
          </p:cNvPr>
          <p:cNvSpPr>
            <a:spLocks noGrp="1"/>
          </p:cNvSpPr>
          <p:nvPr/>
        </p:nvSpPr>
        <p:spPr>
          <a:xfrm>
            <a:off x="1143000" y="1819275"/>
            <a:ext cx="152400" cy="152400"/>
          </a:xfrm>
          <a:prstGeom prst="ellipse">
            <a:avLst/>
          </a:prstGeom>
          <a:solidFill>
            <a:srgbClr val="82B3FF"/>
          </a:solidFill>
          <a:ln w="0">
            <a:noFill/>
            <a:prstDash val="solid"/>
          </a:ln>
        </p:spPr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B81DC58-5FD9-4398-8A1D-C98AA88069D6}"/>
              </a:ext>
            </a:extLst>
          </p:cNvPr>
          <p:cNvSpPr>
            <a:spLocks noGrp="1"/>
          </p:cNvSpPr>
          <p:nvPr/>
        </p:nvSpPr>
        <p:spPr>
          <a:xfrm>
            <a:off x="1428750" y="1771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F4356"/>
                </a:solidFill>
              </a:defRPr>
            </a:pPr>
            <a:r>
              <a:rPr sz="1800" b="0">
                <a:solidFill>
                  <a:srgbClr val="3F4356"/>
                </a:solidFill>
              </a:rPr>
              <a:t>トップ: カルーセルが自然に回り、中央の画像が主役として見える</a:t>
            </a: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D5CF0522-22AE-4C8F-82CE-B0E681AFE40D}"/>
              </a:ext>
            </a:extLst>
          </p:cNvPr>
          <p:cNvSpPr>
            <a:spLocks noGrp="1"/>
          </p:cNvSpPr>
          <p:nvPr/>
        </p:nvSpPr>
        <p:spPr>
          <a:xfrm>
            <a:off x="1143000" y="2486025"/>
            <a:ext cx="152400" cy="152400"/>
          </a:xfrm>
          <a:prstGeom prst="ellipse">
            <a:avLst/>
          </a:prstGeom>
          <a:solidFill>
            <a:srgbClr val="82B3FF"/>
          </a:solidFill>
          <a:ln w="0">
            <a:noFill/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02E85DB-30C7-4000-A3BA-924201C51D9A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F4356"/>
                </a:solidFill>
              </a:defRPr>
            </a:pPr>
            <a:r>
              <a:rPr sz="1800" b="0">
                <a:solidFill>
                  <a:srgbClr val="3F4356"/>
                </a:solidFill>
              </a:rPr>
              <a:t>導線: ハンバーガーから各ページに迷わず移動できる</a:t>
            </a: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1A0E0EF7-704A-46EF-B23C-B6CA4CF39581}"/>
              </a:ext>
            </a:extLst>
          </p:cNvPr>
          <p:cNvSpPr>
            <a:spLocks noGrp="1"/>
          </p:cNvSpPr>
          <p:nvPr/>
        </p:nvSpPr>
        <p:spPr>
          <a:xfrm>
            <a:off x="1143000" y="3152775"/>
            <a:ext cx="152400" cy="152400"/>
          </a:xfrm>
          <a:prstGeom prst="ellipse">
            <a:avLst/>
          </a:prstGeom>
          <a:solidFill>
            <a:srgbClr val="FF9AC2"/>
          </a:solidFill>
          <a:ln w="0">
            <a:noFill/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3F7A387-3CBB-4391-8460-9FEA2ABC5132}"/>
              </a:ext>
            </a:extLst>
          </p:cNvPr>
          <p:cNvSpPr>
            <a:spLocks noGrp="1"/>
          </p:cNvSpPr>
          <p:nvPr/>
        </p:nvSpPr>
        <p:spPr>
          <a:xfrm>
            <a:off x="1428750" y="31051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F4356"/>
                </a:solidFill>
              </a:defRPr>
            </a:pPr>
            <a:r>
              <a:rPr sz="1800" b="0">
                <a:solidFill>
                  <a:srgbClr val="3F4356"/>
                </a:solidFill>
              </a:rPr>
              <a:t>店舗: 店舗名・ロゴ・アクセスの見え方がオリジナルに近い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D9E0F8E0-22D5-40DF-B93A-4C65E76478F0}"/>
              </a:ext>
            </a:extLst>
          </p:cNvPr>
          <p:cNvSpPr>
            <a:spLocks noGrp="1"/>
          </p:cNvSpPr>
          <p:nvPr/>
        </p:nvSpPr>
        <p:spPr>
          <a:xfrm>
            <a:off x="1143000" y="3819525"/>
            <a:ext cx="152400" cy="152400"/>
          </a:xfrm>
          <a:prstGeom prst="ellipse">
            <a:avLst/>
          </a:prstGeom>
          <a:solidFill>
            <a:srgbClr val="FF9AC2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BE6665-9661-4BAC-98BD-43997982FDDF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F4356"/>
                </a:solidFill>
              </a:defRPr>
            </a:pPr>
            <a:r>
              <a:rPr sz="1800" b="0">
                <a:solidFill>
                  <a:srgbClr val="3F4356"/>
                </a:solidFill>
              </a:rPr>
              <a:t>キャスト: 縦横の余白を整理し、SNSリンクが確認できる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2087B631-F55B-4576-AD83-C254740DD35E}"/>
              </a:ext>
            </a:extLst>
          </p:cNvPr>
          <p:cNvSpPr>
            <a:spLocks noGrp="1"/>
          </p:cNvSpPr>
          <p:nvPr/>
        </p:nvSpPr>
        <p:spPr>
          <a:xfrm>
            <a:off x="1143000" y="4486275"/>
            <a:ext cx="152400" cy="152400"/>
          </a:xfrm>
          <a:prstGeom prst="ellipse">
            <a:avLst/>
          </a:prstGeom>
          <a:solidFill>
            <a:srgbClr val="87D6B1"/>
          </a:solidFill>
          <a:ln w="0">
            <a:noFill/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A5479FB-5AC7-447E-8869-5911C892D3DC}"/>
              </a:ext>
            </a:extLst>
          </p:cNvPr>
          <p:cNvSpPr>
            <a:spLocks noGrp="1"/>
          </p:cNvSpPr>
          <p:nvPr/>
        </p:nvSpPr>
        <p:spPr>
          <a:xfrm>
            <a:off x="1428750" y="4438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F4356"/>
                </a:solidFill>
              </a:defRPr>
            </a:pPr>
            <a:r>
              <a:rPr sz="1800" b="0">
                <a:solidFill>
                  <a:srgbClr val="3F4356"/>
                </a:solidFill>
              </a:rPr>
              <a:t>運用: 既存素材を使い回せるため、更新コストを増やさない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AC2EA77-CDB5-4DCC-B1D8-1B19F4D14FE9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B4B5B"/>
                </a:solidFill>
              </a:defRPr>
            </a:pPr>
            <a:r>
              <a:rPr sz="1800" b="1">
                <a:solidFill>
                  <a:srgbClr val="6B4B5B"/>
                </a:solidFill>
              </a:rPr>
              <a:t>結論: 画面の派手さではなく、比較しやすさと運用しやすさを両立するモックにした。</a:t>
            </a:r>
          </a:p>
        </p:txBody>
      </p:sp>
    </p:spTree>
    <p:extLst>
      <p:ext uri="{BB962C8B-B14F-4D97-AF65-F5344CB8AC3E}">
        <p14:creationId xmlns:p14="http://schemas.microsoft.com/office/powerpoint/2010/main" val="11944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2683484-8C1C-41BB-B1F4-C26AB4E4EF6C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3048000"/>
          </a:xfrm>
          <a:prstGeom prst="roundRect">
            <a:avLst>
              <a:gd name="adj" fmla="val 7500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220023-8E62-4B28-A217-A0D66865C60F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838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E2C44"/>
                </a:solidFill>
              </a:defRPr>
            </a:pPr>
            <a:r>
              <a:rPr sz="3150" b="1">
                <a:solidFill>
                  <a:srgbClr val="1E2C44"/>
                </a:solidFill>
              </a:rPr>
              <a:t>次に使うための実装指示書も更新済み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DFCD2D-C668-4210-B310-30D32C8E0B83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857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4556E"/>
                </a:solidFill>
              </a:defRPr>
            </a:pPr>
            <a:r>
              <a:rPr sz="1800" b="0">
                <a:solidFill>
                  <a:srgbClr val="44556E"/>
                </a:solidFill>
              </a:rPr>
              <a:t>・SPは proposal/branch1 の CSS / JS を中心に変更</a:t>
            </a:r>
          </a:p>
          <a:p>
            <a:pPr algn="l">
              <a:defRPr sz="1800" b="0">
                <a:solidFill>
                  <a:srgbClr val="44556E"/>
                </a:solidFill>
              </a:defRPr>
            </a:pPr>
            <a:r>
              <a:rPr sz="1800" b="0">
                <a:solidFill>
                  <a:srgbClr val="44556E"/>
                </a:solidFill>
              </a:rPr>
              <a:t>・PCは特別指示があるまで触らない</a:t>
            </a:r>
          </a:p>
          <a:p>
            <a:pPr algn="l">
              <a:defRPr sz="1800" b="0">
                <a:solidFill>
                  <a:srgbClr val="44556E"/>
                </a:solidFill>
              </a:defRPr>
            </a:pPr>
            <a:r>
              <a:rPr sz="1800" b="0">
                <a:solidFill>
                  <a:srgbClr val="44556E"/>
                </a:solidFill>
              </a:rPr>
              <a:t>・別ページ hash と同一ページアンカーを分離</a:t>
            </a:r>
          </a:p>
          <a:p>
            <a:pPr algn="l">
              <a:defRPr sz="1800" b="0">
                <a:solidFill>
                  <a:srgbClr val="44556E"/>
                </a:solidFill>
              </a:defRPr>
            </a:pPr>
            <a:r>
              <a:rPr sz="1800" b="0">
                <a:solidFill>
                  <a:srgbClr val="44556E"/>
                </a:solidFill>
              </a:rPr>
              <a:t>・画像は「無い」のではなく「隠れている」可能性を先に疑う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57E9F8-0F1F-4A17-8EAB-29F028403329}"/>
              </a:ext>
            </a:extLst>
          </p:cNvPr>
          <p:cNvSpPr>
            <a:spLocks noGrp="1"/>
          </p:cNvSpPr>
          <p:nvPr/>
        </p:nvSpPr>
        <p:spPr>
          <a:xfrm>
            <a:off x="1333500" y="40957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B4B5B"/>
                </a:solidFill>
              </a:defRPr>
            </a:pPr>
            <a:r>
              <a:rPr sz="1800" b="1">
                <a:solidFill>
                  <a:srgbClr val="6B4B5B"/>
                </a:solidFill>
              </a:rPr>
              <a:t>このまま、比較用のブラウザ確認とプレゼン説明に使える状態。</a:t>
            </a:r>
          </a:p>
        </p:txBody>
      </p:sp>
    </p:spTree>
    <p:extLst>
      <p:ext uri="{BB962C8B-B14F-4D97-AF65-F5344CB8AC3E}">
        <p14:creationId xmlns:p14="http://schemas.microsoft.com/office/powerpoint/2010/main" val="14345505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Macintosh PowerPoint</Application>
  <DocSecurity>0</DocSecurity>
  <PresentationFormat>ワイド画面</PresentationFormat>
  <Paragraphs>47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し め</cp:lastModifiedBy>
  <cp:revision>1</cp:revision>
  <dcterms:created xsi:type="dcterms:W3CDTF">2026-07-09T09:19:51Z</dcterms:created>
  <dcterms:modified xsi:type="dcterms:W3CDTF">2026-07-09T09:29:19Z</dcterms:modified>
</cp:coreProperties>
</file>